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x="18288000" cy="10287000"/>
  <p:notesSz cx="6858000" cy="9144000"/>
  <p:embeddedFontLst>
    <p:embeddedFont>
      <p:font typeface="Press Start 2P" charset="1" panose="00000500000000000000"/>
      <p:regular r:id="rId31"/>
    </p:embeddedFont>
    <p:embeddedFont>
      <p:font typeface="Open Sans Bold" charset="1" panose="00000000000000000000"/>
      <p:regular r:id="rId32"/>
    </p:embeddedFont>
    <p:embeddedFont>
      <p:font typeface="Open Sans" charset="1" panose="00000000000000000000"/>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9.png" Type="http://schemas.openxmlformats.org/officeDocument/2006/relationships/image"/><Relationship Id="rId9" Target="../media/image20.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png" Type="http://schemas.openxmlformats.org/officeDocument/2006/relationships/image"/><Relationship Id="rId11" Target="../media/image22.png" Type="http://schemas.openxmlformats.org/officeDocument/2006/relationships/image"/><Relationship Id="rId12" Target="../media/image23.png" Type="http://schemas.openxmlformats.org/officeDocument/2006/relationships/image"/><Relationship Id="rId13" Target="../media/image24.png" Type="http://schemas.openxmlformats.org/officeDocument/2006/relationships/image"/><Relationship Id="rId2" Target="../media/image15.png" Type="http://schemas.openxmlformats.org/officeDocument/2006/relationships/image"/><Relationship Id="rId3" Target="../media/image16.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25.png" Type="http://schemas.openxmlformats.org/officeDocument/2006/relationships/image"/><Relationship Id="rId3" Target="../media/image26.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27.png" Type="http://schemas.openxmlformats.org/officeDocument/2006/relationships/image"/><Relationship Id="rId7" Target="../media/image28.svg" Type="http://schemas.openxmlformats.org/officeDocument/2006/relationships/image"/><Relationship Id="rId8" Target="../media/image29.png" Type="http://schemas.openxmlformats.org/officeDocument/2006/relationships/image"/><Relationship Id="rId9" Target="../media/image30.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25.png" Type="http://schemas.openxmlformats.org/officeDocument/2006/relationships/image"/><Relationship Id="rId3" Target="../media/image26.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27.png" Type="http://schemas.openxmlformats.org/officeDocument/2006/relationships/image"/><Relationship Id="rId7" Target="../media/image28.svg" Type="http://schemas.openxmlformats.org/officeDocument/2006/relationships/image"/><Relationship Id="rId8" Target="../media/image29.png" Type="http://schemas.openxmlformats.org/officeDocument/2006/relationships/image"/><Relationship Id="rId9" Target="../media/image30.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31.png" Type="http://schemas.openxmlformats.org/officeDocument/2006/relationships/image"/><Relationship Id="rId5" Target="../media/image32.svg" Type="http://schemas.openxmlformats.org/officeDocument/2006/relationships/image"/><Relationship Id="rId6" Target="../media/image33.png" Type="http://schemas.openxmlformats.org/officeDocument/2006/relationships/image"/><Relationship Id="rId7" Target="../media/image34.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5.png" Type="http://schemas.openxmlformats.org/officeDocument/2006/relationships/image"/><Relationship Id="rId3" Target="../media/image16.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svg" Type="http://schemas.openxmlformats.org/officeDocument/2006/relationships/image"/><Relationship Id="rId2" Target="../media/image35.png" Type="http://schemas.openxmlformats.org/officeDocument/2006/relationships/image"/><Relationship Id="rId3" Target="../media/image15.png" Type="http://schemas.openxmlformats.org/officeDocument/2006/relationships/image"/><Relationship Id="rId4" Target="../media/image16.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media/image1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pn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 Id="rId5" Target="../media/image11.png" Type="http://schemas.openxmlformats.org/officeDocument/2006/relationships/image"/><Relationship Id="rId6" Target="../media/image12.svg" Type="http://schemas.openxmlformats.org/officeDocument/2006/relationships/image"/><Relationship Id="rId7" Target="../media/image33.png" Type="http://schemas.openxmlformats.org/officeDocument/2006/relationships/image"/><Relationship Id="rId8" Target="../media/image34.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svg" Type="http://schemas.openxmlformats.org/officeDocument/2006/relationships/image"/><Relationship Id="rId2" Target="../media/image36.pn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 Id="rId5" Target="../media/image25.png" Type="http://schemas.openxmlformats.org/officeDocument/2006/relationships/image"/><Relationship Id="rId6" Target="../media/image26.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media/image1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2" Target="../media/image17.png" Type="http://schemas.openxmlformats.org/officeDocument/2006/relationships/image"/><Relationship Id="rId3" Target="../media/image1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png" Type="http://schemas.openxmlformats.org/officeDocument/2006/relationships/image"/><Relationship Id="rId3" Target="../media/image38.png" Type="http://schemas.openxmlformats.org/officeDocument/2006/relationships/image"/><Relationship Id="rId4" Target="../media/image39.png" Type="http://schemas.openxmlformats.org/officeDocument/2006/relationships/image"/><Relationship Id="rId5" Target="../media/image40.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41.png" Type="http://schemas.openxmlformats.org/officeDocument/2006/relationships/image"/><Relationship Id="rId7" Target="../media/image4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25.png" Type="http://schemas.openxmlformats.org/officeDocument/2006/relationships/image"/><Relationship Id="rId5" Target="../media/image26.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2" Target="../media/image17.png" Type="http://schemas.openxmlformats.org/officeDocument/2006/relationships/image"/><Relationship Id="rId3" Target="../media/image1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3.png" Type="http://schemas.openxmlformats.org/officeDocument/2006/relationships/image"/><Relationship Id="rId3" Target="../media/image44.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45.png" Type="http://schemas.openxmlformats.org/officeDocument/2006/relationships/image"/><Relationship Id="rId7" Target="../media/image46.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7.png" Type="http://schemas.openxmlformats.org/officeDocument/2006/relationships/image"/><Relationship Id="rId3" Target="../media/image48.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9.pn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 Id="rId5" Target="../media/image50.jpe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1.png" Type="http://schemas.openxmlformats.org/officeDocument/2006/relationships/image"/><Relationship Id="rId3" Target="../media/image52.png" Type="http://schemas.openxmlformats.org/officeDocument/2006/relationships/image"/><Relationship Id="rId4" Target="../media/image53.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4.png" Type="http://schemas.openxmlformats.org/officeDocument/2006/relationships/image"/><Relationship Id="rId11" Target="../media/image13.png" Type="http://schemas.openxmlformats.org/officeDocument/2006/relationships/image"/><Relationship Id="rId12" Target="../media/image14.svg" Type="http://schemas.openxmlformats.org/officeDocument/2006/relationships/image"/><Relationship Id="rId13" Target="../media/image11.png" Type="http://schemas.openxmlformats.org/officeDocument/2006/relationships/image"/><Relationship Id="rId14" Target="../media/image12.svg" Type="http://schemas.openxmlformats.org/officeDocument/2006/relationships/image"/><Relationship Id="rId15" Target="../media/image55.png" Type="http://schemas.openxmlformats.org/officeDocument/2006/relationships/image"/><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9.png" Type="http://schemas.openxmlformats.org/officeDocument/2006/relationships/image"/><Relationship Id="rId9" Target="../media/image20.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56.png" Type="http://schemas.openxmlformats.org/officeDocument/2006/relationships/image"/><Relationship Id="rId13" Target="../media/image57.svg" Type="http://schemas.openxmlformats.org/officeDocument/2006/relationships/image"/><Relationship Id="rId14" Target="../media/image29.png" Type="http://schemas.openxmlformats.org/officeDocument/2006/relationships/image"/><Relationship Id="rId15" Target="../media/image30.svg" Type="http://schemas.openxmlformats.org/officeDocument/2006/relationships/image"/><Relationship Id="rId16" Target="../media/image58.png" Type="http://schemas.openxmlformats.org/officeDocument/2006/relationships/image"/><Relationship Id="rId17" Target="../media/image59.svg" Type="http://schemas.openxmlformats.org/officeDocument/2006/relationships/image"/><Relationship Id="rId18" Target="../media/image60.png" Type="http://schemas.openxmlformats.org/officeDocument/2006/relationships/image"/><Relationship Id="rId19" Target="../media/image61.svg" Type="http://schemas.openxmlformats.org/officeDocument/2006/relationships/image"/><Relationship Id="rId2" Target="../media/image17.png" Type="http://schemas.openxmlformats.org/officeDocument/2006/relationships/image"/><Relationship Id="rId20" Target="../media/image62.png" Type="http://schemas.openxmlformats.org/officeDocument/2006/relationships/image"/><Relationship Id="rId21" Target="../media/image63.svg" Type="http://schemas.openxmlformats.org/officeDocument/2006/relationships/image"/><Relationship Id="rId3" Target="../media/image1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33.png" Type="http://schemas.openxmlformats.org/officeDocument/2006/relationships/image"/><Relationship Id="rId7" Target="../media/image34.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27.png" Type="http://schemas.openxmlformats.org/officeDocument/2006/relationships/image"/><Relationship Id="rId5" Target="../media/image28.svg" Type="http://schemas.openxmlformats.org/officeDocument/2006/relationships/image"/><Relationship Id="rId6" Target="../media/image29.png" Type="http://schemas.openxmlformats.org/officeDocument/2006/relationships/image"/><Relationship Id="rId7" Target="../media/image30.svg" Type="http://schemas.openxmlformats.org/officeDocument/2006/relationships/image"/><Relationship Id="rId8" Target="../media/image64.png" Type="http://schemas.openxmlformats.org/officeDocument/2006/relationships/image"/><Relationship Id="rId9" Target="../media/image65.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33.png" Type="http://schemas.openxmlformats.org/officeDocument/2006/relationships/image"/><Relationship Id="rId15" Target="../media/image34.svg" Type="http://schemas.openxmlformats.org/officeDocument/2006/relationships/image"/><Relationship Id="rId16" Target="../media/image68.png" Type="http://schemas.openxmlformats.org/officeDocument/2006/relationships/image"/><Relationship Id="rId17" Target="../media/image69.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66.png" Type="http://schemas.openxmlformats.org/officeDocument/2006/relationships/image"/><Relationship Id="rId7" Target="../media/image67.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A022B"/>
        </a:solidFill>
      </p:bgPr>
    </p:bg>
    <p:spTree>
      <p:nvGrpSpPr>
        <p:cNvPr id="1" name=""/>
        <p:cNvGrpSpPr/>
        <p:nvPr/>
      </p:nvGrpSpPr>
      <p:grpSpPr>
        <a:xfrm>
          <a:off x="0" y="0"/>
          <a:ext cx="0" cy="0"/>
          <a:chOff x="0" y="0"/>
          <a:chExt cx="0" cy="0"/>
        </a:xfrm>
      </p:grpSpPr>
      <p:sp>
        <p:nvSpPr>
          <p:cNvPr name="Freeform 2" id="2"/>
          <p:cNvSpPr/>
          <p:nvPr/>
        </p:nvSpPr>
        <p:spPr>
          <a:xfrm flipH="false" flipV="false" rot="0">
            <a:off x="15433945" y="6887762"/>
            <a:ext cx="2012410" cy="2610438"/>
          </a:xfrm>
          <a:custGeom>
            <a:avLst/>
            <a:gdLst/>
            <a:ahLst/>
            <a:cxnLst/>
            <a:rect r="r" b="b" t="t" l="l"/>
            <a:pathLst>
              <a:path h="2610438" w="2012410">
                <a:moveTo>
                  <a:pt x="0" y="0"/>
                </a:moveTo>
                <a:lnTo>
                  <a:pt x="2012410" y="0"/>
                </a:lnTo>
                <a:lnTo>
                  <a:pt x="2012410" y="2610438"/>
                </a:lnTo>
                <a:lnTo>
                  <a:pt x="0" y="26104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841645" y="6887762"/>
            <a:ext cx="2012410" cy="2610438"/>
          </a:xfrm>
          <a:custGeom>
            <a:avLst/>
            <a:gdLst/>
            <a:ahLst/>
            <a:cxnLst/>
            <a:rect r="r" b="b" t="t" l="l"/>
            <a:pathLst>
              <a:path h="2610438" w="2012410">
                <a:moveTo>
                  <a:pt x="2012410" y="0"/>
                </a:moveTo>
                <a:lnTo>
                  <a:pt x="0" y="0"/>
                </a:lnTo>
                <a:lnTo>
                  <a:pt x="0" y="2610438"/>
                </a:lnTo>
                <a:lnTo>
                  <a:pt x="2012410" y="2610438"/>
                </a:lnTo>
                <a:lnTo>
                  <a:pt x="201241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2854055" y="3236483"/>
            <a:ext cx="13467701" cy="3479828"/>
          </a:xfrm>
          <a:prstGeom prst="rect">
            <a:avLst/>
          </a:prstGeom>
        </p:spPr>
        <p:txBody>
          <a:bodyPr anchor="t" rtlCol="false" tIns="0" lIns="0" bIns="0" rIns="0">
            <a:spAutoFit/>
          </a:bodyPr>
          <a:lstStyle/>
          <a:p>
            <a:pPr algn="ctr">
              <a:lnSpc>
                <a:spcPts val="13999"/>
              </a:lnSpc>
              <a:spcBef>
                <a:spcPct val="0"/>
              </a:spcBef>
            </a:pPr>
            <a:r>
              <a:rPr lang="en-US" sz="9999">
                <a:solidFill>
                  <a:srgbClr val="FFFFFF"/>
                </a:solidFill>
                <a:latin typeface="Press Start 2P"/>
                <a:ea typeface="Press Start 2P"/>
                <a:cs typeface="Press Start 2P"/>
                <a:sym typeface="Press Start 2P"/>
              </a:rPr>
              <a:t>ADA LOVELACE</a:t>
            </a:r>
          </a:p>
        </p:txBody>
      </p:sp>
      <p:sp>
        <p:nvSpPr>
          <p:cNvPr name="Freeform 5" id="5"/>
          <p:cNvSpPr/>
          <p:nvPr/>
        </p:nvSpPr>
        <p:spPr>
          <a:xfrm flipH="false" flipV="false" rot="0">
            <a:off x="7825154" y="1028700"/>
            <a:ext cx="2637692" cy="2057400"/>
          </a:xfrm>
          <a:custGeom>
            <a:avLst/>
            <a:gdLst/>
            <a:ahLst/>
            <a:cxnLst/>
            <a:rect r="r" b="b" t="t" l="l"/>
            <a:pathLst>
              <a:path h="2057400" w="2637692">
                <a:moveTo>
                  <a:pt x="0" y="0"/>
                </a:moveTo>
                <a:lnTo>
                  <a:pt x="2637692" y="0"/>
                </a:lnTo>
                <a:lnTo>
                  <a:pt x="2637692"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5486400" y="7130512"/>
            <a:ext cx="7315200" cy="1330036"/>
          </a:xfrm>
          <a:custGeom>
            <a:avLst/>
            <a:gdLst/>
            <a:ahLst/>
            <a:cxnLst/>
            <a:rect r="r" b="b" t="t" l="l"/>
            <a:pathLst>
              <a:path h="1330036" w="7315200">
                <a:moveTo>
                  <a:pt x="0" y="0"/>
                </a:moveTo>
                <a:lnTo>
                  <a:pt x="7315200" y="0"/>
                </a:lnTo>
                <a:lnTo>
                  <a:pt x="7315200" y="1330036"/>
                </a:lnTo>
                <a:lnTo>
                  <a:pt x="0" y="133003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3570600" y="8634285"/>
            <a:ext cx="1863345" cy="863914"/>
          </a:xfrm>
          <a:custGeom>
            <a:avLst/>
            <a:gdLst/>
            <a:ahLst/>
            <a:cxnLst/>
            <a:rect r="r" b="b" t="t" l="l"/>
            <a:pathLst>
              <a:path h="863914" w="1863345">
                <a:moveTo>
                  <a:pt x="0" y="0"/>
                </a:moveTo>
                <a:lnTo>
                  <a:pt x="1863345" y="0"/>
                </a:lnTo>
                <a:lnTo>
                  <a:pt x="1863345" y="863915"/>
                </a:lnTo>
                <a:lnTo>
                  <a:pt x="0" y="86391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true" flipV="false" rot="0">
            <a:off x="2854055" y="8634285"/>
            <a:ext cx="1863345" cy="863914"/>
          </a:xfrm>
          <a:custGeom>
            <a:avLst/>
            <a:gdLst/>
            <a:ahLst/>
            <a:cxnLst/>
            <a:rect r="r" b="b" t="t" l="l"/>
            <a:pathLst>
              <a:path h="863914" w="1863345">
                <a:moveTo>
                  <a:pt x="1863345" y="0"/>
                </a:moveTo>
                <a:lnTo>
                  <a:pt x="0" y="0"/>
                </a:lnTo>
                <a:lnTo>
                  <a:pt x="0" y="863915"/>
                </a:lnTo>
                <a:lnTo>
                  <a:pt x="1863345" y="863915"/>
                </a:lnTo>
                <a:lnTo>
                  <a:pt x="1863345"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809750" y="9258300"/>
            <a:ext cx="7315200" cy="1103930"/>
          </a:xfrm>
          <a:custGeom>
            <a:avLst/>
            <a:gdLst/>
            <a:ahLst/>
            <a:cxnLst/>
            <a:rect r="r" b="b" t="t" l="l"/>
            <a:pathLst>
              <a:path h="1103930" w="7315200">
                <a:moveTo>
                  <a:pt x="0" y="0"/>
                </a:moveTo>
                <a:lnTo>
                  <a:pt x="7315200" y="0"/>
                </a:lnTo>
                <a:lnTo>
                  <a:pt x="7315200" y="1103930"/>
                </a:lnTo>
                <a:lnTo>
                  <a:pt x="0" y="110393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5486400" y="9258300"/>
            <a:ext cx="7315200" cy="1103930"/>
          </a:xfrm>
          <a:custGeom>
            <a:avLst/>
            <a:gdLst/>
            <a:ahLst/>
            <a:cxnLst/>
            <a:rect r="r" b="b" t="t" l="l"/>
            <a:pathLst>
              <a:path h="1103930" w="7315200">
                <a:moveTo>
                  <a:pt x="0" y="0"/>
                </a:moveTo>
                <a:lnTo>
                  <a:pt x="7315200" y="0"/>
                </a:lnTo>
                <a:lnTo>
                  <a:pt x="7315200" y="1103930"/>
                </a:lnTo>
                <a:lnTo>
                  <a:pt x="0" y="110393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2782550" y="9258300"/>
            <a:ext cx="7315200" cy="1103930"/>
          </a:xfrm>
          <a:custGeom>
            <a:avLst/>
            <a:gdLst/>
            <a:ahLst/>
            <a:cxnLst/>
            <a:rect r="r" b="b" t="t" l="l"/>
            <a:pathLst>
              <a:path h="1103930" w="7315200">
                <a:moveTo>
                  <a:pt x="0" y="0"/>
                </a:moveTo>
                <a:lnTo>
                  <a:pt x="7315200" y="0"/>
                </a:lnTo>
                <a:lnTo>
                  <a:pt x="7315200" y="1103930"/>
                </a:lnTo>
                <a:lnTo>
                  <a:pt x="0" y="110393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807418" y="4731574"/>
            <a:ext cx="2359993" cy="823852"/>
          </a:xfrm>
          <a:custGeom>
            <a:avLst/>
            <a:gdLst/>
            <a:ahLst/>
            <a:cxnLst/>
            <a:rect r="r" b="b" t="t" l="l"/>
            <a:pathLst>
              <a:path h="823852" w="2359993">
                <a:moveTo>
                  <a:pt x="0" y="0"/>
                </a:moveTo>
                <a:lnTo>
                  <a:pt x="2359993" y="0"/>
                </a:lnTo>
                <a:lnTo>
                  <a:pt x="2359993" y="823852"/>
                </a:lnTo>
                <a:lnTo>
                  <a:pt x="0" y="82385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true" flipV="false" rot="0">
            <a:off x="16734472" y="4731574"/>
            <a:ext cx="2359993" cy="823852"/>
          </a:xfrm>
          <a:custGeom>
            <a:avLst/>
            <a:gdLst/>
            <a:ahLst/>
            <a:cxnLst/>
            <a:rect r="r" b="b" t="t" l="l"/>
            <a:pathLst>
              <a:path h="823852" w="2359993">
                <a:moveTo>
                  <a:pt x="2359993" y="0"/>
                </a:moveTo>
                <a:lnTo>
                  <a:pt x="0" y="0"/>
                </a:lnTo>
                <a:lnTo>
                  <a:pt x="0" y="823852"/>
                </a:lnTo>
                <a:lnTo>
                  <a:pt x="2359993" y="823852"/>
                </a:lnTo>
                <a:lnTo>
                  <a:pt x="2359993"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1370596" y="867805"/>
            <a:ext cx="3512396" cy="625845"/>
          </a:xfrm>
          <a:custGeom>
            <a:avLst/>
            <a:gdLst/>
            <a:ahLst/>
            <a:cxnLst/>
            <a:rect r="r" b="b" t="t" l="l"/>
            <a:pathLst>
              <a:path h="625845" w="3512396">
                <a:moveTo>
                  <a:pt x="0" y="0"/>
                </a:moveTo>
                <a:lnTo>
                  <a:pt x="3512396" y="0"/>
                </a:lnTo>
                <a:lnTo>
                  <a:pt x="3512396" y="625845"/>
                </a:lnTo>
                <a:lnTo>
                  <a:pt x="0" y="625845"/>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5" id="15"/>
          <p:cNvSpPr/>
          <p:nvPr/>
        </p:nvSpPr>
        <p:spPr>
          <a:xfrm flipH="true" flipV="false" rot="0">
            <a:off x="13405008" y="867805"/>
            <a:ext cx="3512396" cy="625845"/>
          </a:xfrm>
          <a:custGeom>
            <a:avLst/>
            <a:gdLst/>
            <a:ahLst/>
            <a:cxnLst/>
            <a:rect r="r" b="b" t="t" l="l"/>
            <a:pathLst>
              <a:path h="625845" w="3512396">
                <a:moveTo>
                  <a:pt x="3512396" y="0"/>
                </a:moveTo>
                <a:lnTo>
                  <a:pt x="0" y="0"/>
                </a:lnTo>
                <a:lnTo>
                  <a:pt x="0" y="625845"/>
                </a:lnTo>
                <a:lnTo>
                  <a:pt x="3512396" y="625845"/>
                </a:lnTo>
                <a:lnTo>
                  <a:pt x="3512396"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A022B"/>
        </a:solidFill>
      </p:bgPr>
    </p:bg>
    <p:spTree>
      <p:nvGrpSpPr>
        <p:cNvPr id="1" name=""/>
        <p:cNvGrpSpPr/>
        <p:nvPr/>
      </p:nvGrpSpPr>
      <p:grpSpPr>
        <a:xfrm>
          <a:off x="0" y="0"/>
          <a:ext cx="0" cy="0"/>
          <a:chOff x="0" y="0"/>
          <a:chExt cx="0" cy="0"/>
        </a:xfrm>
      </p:grpSpPr>
      <p:sp>
        <p:nvSpPr>
          <p:cNvPr name="Freeform 2" id="2"/>
          <p:cNvSpPr/>
          <p:nvPr/>
        </p:nvSpPr>
        <p:spPr>
          <a:xfrm flipH="false" flipV="false" rot="0">
            <a:off x="-733031" y="5315832"/>
            <a:ext cx="3882875" cy="4114800"/>
          </a:xfrm>
          <a:custGeom>
            <a:avLst/>
            <a:gdLst/>
            <a:ahLst/>
            <a:cxnLst/>
            <a:rect r="r" b="b" t="t" l="l"/>
            <a:pathLst>
              <a:path h="4114800" w="3882875">
                <a:moveTo>
                  <a:pt x="0" y="0"/>
                </a:moveTo>
                <a:lnTo>
                  <a:pt x="3882875" y="0"/>
                </a:lnTo>
                <a:lnTo>
                  <a:pt x="3882875"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5138156" y="5315832"/>
            <a:ext cx="3882875" cy="4114800"/>
          </a:xfrm>
          <a:custGeom>
            <a:avLst/>
            <a:gdLst/>
            <a:ahLst/>
            <a:cxnLst/>
            <a:rect r="r" b="b" t="t" l="l"/>
            <a:pathLst>
              <a:path h="4114800" w="3882875">
                <a:moveTo>
                  <a:pt x="3882875" y="0"/>
                </a:moveTo>
                <a:lnTo>
                  <a:pt x="0" y="0"/>
                </a:lnTo>
                <a:lnTo>
                  <a:pt x="0" y="4114800"/>
                </a:lnTo>
                <a:lnTo>
                  <a:pt x="3882875" y="4114800"/>
                </a:lnTo>
                <a:lnTo>
                  <a:pt x="388287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4720421" y="7942628"/>
            <a:ext cx="770749" cy="1926872"/>
          </a:xfrm>
          <a:custGeom>
            <a:avLst/>
            <a:gdLst/>
            <a:ahLst/>
            <a:cxnLst/>
            <a:rect r="r" b="b" t="t" l="l"/>
            <a:pathLst>
              <a:path h="1926872" w="770749">
                <a:moveTo>
                  <a:pt x="0" y="0"/>
                </a:moveTo>
                <a:lnTo>
                  <a:pt x="770749" y="0"/>
                </a:lnTo>
                <a:lnTo>
                  <a:pt x="770749" y="1926871"/>
                </a:lnTo>
                <a:lnTo>
                  <a:pt x="0" y="19268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809750" y="9258300"/>
            <a:ext cx="7315200" cy="1103930"/>
          </a:xfrm>
          <a:custGeom>
            <a:avLst/>
            <a:gdLst/>
            <a:ahLst/>
            <a:cxnLst/>
            <a:rect r="r" b="b" t="t" l="l"/>
            <a:pathLst>
              <a:path h="1103930" w="7315200">
                <a:moveTo>
                  <a:pt x="0" y="0"/>
                </a:moveTo>
                <a:lnTo>
                  <a:pt x="7315200" y="0"/>
                </a:lnTo>
                <a:lnTo>
                  <a:pt x="7315200" y="1103930"/>
                </a:lnTo>
                <a:lnTo>
                  <a:pt x="0" y="110393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7576179" y="7942628"/>
            <a:ext cx="3135642" cy="1488005"/>
          </a:xfrm>
          <a:custGeom>
            <a:avLst/>
            <a:gdLst/>
            <a:ahLst/>
            <a:cxnLst/>
            <a:rect r="r" b="b" t="t" l="l"/>
            <a:pathLst>
              <a:path h="1488005" w="3135642">
                <a:moveTo>
                  <a:pt x="0" y="0"/>
                </a:moveTo>
                <a:lnTo>
                  <a:pt x="3135642" y="0"/>
                </a:lnTo>
                <a:lnTo>
                  <a:pt x="3135642" y="1488004"/>
                </a:lnTo>
                <a:lnTo>
                  <a:pt x="0" y="148800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true" flipV="false" rot="0">
            <a:off x="14062379" y="7883393"/>
            <a:ext cx="770749" cy="1926872"/>
          </a:xfrm>
          <a:custGeom>
            <a:avLst/>
            <a:gdLst/>
            <a:ahLst/>
            <a:cxnLst/>
            <a:rect r="r" b="b" t="t" l="l"/>
            <a:pathLst>
              <a:path h="1926872" w="770749">
                <a:moveTo>
                  <a:pt x="770749" y="0"/>
                </a:moveTo>
                <a:lnTo>
                  <a:pt x="0" y="0"/>
                </a:lnTo>
                <a:lnTo>
                  <a:pt x="0" y="1926872"/>
                </a:lnTo>
                <a:lnTo>
                  <a:pt x="770749" y="1926872"/>
                </a:lnTo>
                <a:lnTo>
                  <a:pt x="770749"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true" flipV="false" rot="0">
            <a:off x="11530971" y="7723194"/>
            <a:ext cx="770749" cy="1926872"/>
          </a:xfrm>
          <a:custGeom>
            <a:avLst/>
            <a:gdLst/>
            <a:ahLst/>
            <a:cxnLst/>
            <a:rect r="r" b="b" t="t" l="l"/>
            <a:pathLst>
              <a:path h="1926872" w="770749">
                <a:moveTo>
                  <a:pt x="770749" y="0"/>
                </a:moveTo>
                <a:lnTo>
                  <a:pt x="0" y="0"/>
                </a:lnTo>
                <a:lnTo>
                  <a:pt x="0" y="1926872"/>
                </a:lnTo>
                <a:lnTo>
                  <a:pt x="770749" y="1926872"/>
                </a:lnTo>
                <a:lnTo>
                  <a:pt x="770749"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5486400" y="9258300"/>
            <a:ext cx="7315200" cy="1103930"/>
          </a:xfrm>
          <a:custGeom>
            <a:avLst/>
            <a:gdLst/>
            <a:ahLst/>
            <a:cxnLst/>
            <a:rect r="r" b="b" t="t" l="l"/>
            <a:pathLst>
              <a:path h="1103930" w="7315200">
                <a:moveTo>
                  <a:pt x="0" y="0"/>
                </a:moveTo>
                <a:lnTo>
                  <a:pt x="7315200" y="0"/>
                </a:lnTo>
                <a:lnTo>
                  <a:pt x="7315200" y="1103930"/>
                </a:lnTo>
                <a:lnTo>
                  <a:pt x="0" y="110393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12782550" y="9258300"/>
            <a:ext cx="7315200" cy="1103930"/>
          </a:xfrm>
          <a:custGeom>
            <a:avLst/>
            <a:gdLst/>
            <a:ahLst/>
            <a:cxnLst/>
            <a:rect r="r" b="b" t="t" l="l"/>
            <a:pathLst>
              <a:path h="1103930" w="7315200">
                <a:moveTo>
                  <a:pt x="0" y="0"/>
                </a:moveTo>
                <a:lnTo>
                  <a:pt x="7315200" y="0"/>
                </a:lnTo>
                <a:lnTo>
                  <a:pt x="7315200" y="1103930"/>
                </a:lnTo>
                <a:lnTo>
                  <a:pt x="0" y="110393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553324" y="536978"/>
            <a:ext cx="4381715" cy="780742"/>
          </a:xfrm>
          <a:custGeom>
            <a:avLst/>
            <a:gdLst/>
            <a:ahLst/>
            <a:cxnLst/>
            <a:rect r="r" b="b" t="t" l="l"/>
            <a:pathLst>
              <a:path h="780742" w="4381715">
                <a:moveTo>
                  <a:pt x="0" y="0"/>
                </a:moveTo>
                <a:lnTo>
                  <a:pt x="4381715" y="0"/>
                </a:lnTo>
                <a:lnTo>
                  <a:pt x="4381715" y="780742"/>
                </a:lnTo>
                <a:lnTo>
                  <a:pt x="0" y="78074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true" flipV="false" rot="0">
            <a:off x="14459609" y="536978"/>
            <a:ext cx="4381715" cy="780742"/>
          </a:xfrm>
          <a:custGeom>
            <a:avLst/>
            <a:gdLst/>
            <a:ahLst/>
            <a:cxnLst/>
            <a:rect r="r" b="b" t="t" l="l"/>
            <a:pathLst>
              <a:path h="780742" w="4381715">
                <a:moveTo>
                  <a:pt x="4381715" y="0"/>
                </a:moveTo>
                <a:lnTo>
                  <a:pt x="0" y="0"/>
                </a:lnTo>
                <a:lnTo>
                  <a:pt x="0" y="780742"/>
                </a:lnTo>
                <a:lnTo>
                  <a:pt x="4381715" y="780742"/>
                </a:lnTo>
                <a:lnTo>
                  <a:pt x="4381715"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3" id="13"/>
          <p:cNvGrpSpPr/>
          <p:nvPr/>
        </p:nvGrpSpPr>
        <p:grpSpPr>
          <a:xfrm rot="0">
            <a:off x="7758622" y="5976743"/>
            <a:ext cx="2770756" cy="775869"/>
            <a:chOff x="0" y="0"/>
            <a:chExt cx="2902644" cy="812800"/>
          </a:xfrm>
        </p:grpSpPr>
        <p:sp>
          <p:nvSpPr>
            <p:cNvPr name="Freeform 14" id="14"/>
            <p:cNvSpPr/>
            <p:nvPr/>
          </p:nvSpPr>
          <p:spPr>
            <a:xfrm flipH="false" flipV="false" rot="0">
              <a:off x="0" y="0"/>
              <a:ext cx="2902644" cy="812800"/>
            </a:xfrm>
            <a:custGeom>
              <a:avLst/>
              <a:gdLst/>
              <a:ahLst/>
              <a:cxnLst/>
              <a:rect r="r" b="b" t="t" l="l"/>
              <a:pathLst>
                <a:path h="812800" w="2902644">
                  <a:moveTo>
                    <a:pt x="279415" y="0"/>
                  </a:moveTo>
                  <a:lnTo>
                    <a:pt x="2623229" y="0"/>
                  </a:lnTo>
                  <a:cubicBezTo>
                    <a:pt x="2777546" y="0"/>
                    <a:pt x="2902644" y="125099"/>
                    <a:pt x="2902644" y="279415"/>
                  </a:cubicBezTo>
                  <a:lnTo>
                    <a:pt x="2902644" y="533385"/>
                  </a:lnTo>
                  <a:cubicBezTo>
                    <a:pt x="2902644" y="687701"/>
                    <a:pt x="2777546" y="812800"/>
                    <a:pt x="2623229" y="812800"/>
                  </a:cubicBezTo>
                  <a:lnTo>
                    <a:pt x="279415" y="812800"/>
                  </a:lnTo>
                  <a:cubicBezTo>
                    <a:pt x="125099" y="812800"/>
                    <a:pt x="0" y="687701"/>
                    <a:pt x="0" y="533385"/>
                  </a:cubicBezTo>
                  <a:lnTo>
                    <a:pt x="0" y="279415"/>
                  </a:lnTo>
                  <a:cubicBezTo>
                    <a:pt x="0" y="125099"/>
                    <a:pt x="125099" y="0"/>
                    <a:pt x="279415" y="0"/>
                  </a:cubicBezTo>
                  <a:close/>
                </a:path>
              </a:pathLst>
            </a:custGeom>
            <a:solidFill>
              <a:srgbClr val="007D2A"/>
            </a:solidFill>
          </p:spPr>
        </p:sp>
        <p:sp>
          <p:nvSpPr>
            <p:cNvPr name="TextBox 15" id="15"/>
            <p:cNvSpPr txBox="true"/>
            <p:nvPr/>
          </p:nvSpPr>
          <p:spPr>
            <a:xfrm>
              <a:off x="0" y="-38100"/>
              <a:ext cx="2902644" cy="850900"/>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4178934" y="3284668"/>
            <a:ext cx="9930133" cy="887123"/>
          </a:xfrm>
          <a:prstGeom prst="rect">
            <a:avLst/>
          </a:prstGeom>
        </p:spPr>
        <p:txBody>
          <a:bodyPr anchor="t" rtlCol="false" tIns="0" lIns="0" bIns="0" rIns="0">
            <a:spAutoFit/>
          </a:bodyPr>
          <a:lstStyle/>
          <a:p>
            <a:pPr algn="ctr">
              <a:lnSpc>
                <a:spcPts val="7280"/>
              </a:lnSpc>
              <a:spcBef>
                <a:spcPct val="0"/>
              </a:spcBef>
            </a:pPr>
            <a:r>
              <a:rPr lang="en-US" sz="5200">
                <a:solidFill>
                  <a:srgbClr val="FFFFFF"/>
                </a:solidFill>
                <a:latin typeface="Press Start 2P"/>
                <a:ea typeface="Press Start 2P"/>
                <a:cs typeface="Press Start 2P"/>
                <a:sym typeface="Press Start 2P"/>
              </a:rPr>
              <a:t>MONTE CARLO ?</a:t>
            </a:r>
          </a:p>
        </p:txBody>
      </p:sp>
      <p:sp>
        <p:nvSpPr>
          <p:cNvPr name="TextBox 17" id="17"/>
          <p:cNvSpPr txBox="true"/>
          <p:nvPr/>
        </p:nvSpPr>
        <p:spPr>
          <a:xfrm rot="0">
            <a:off x="7758622" y="6178872"/>
            <a:ext cx="2770756" cy="323986"/>
          </a:xfrm>
          <a:prstGeom prst="rect">
            <a:avLst/>
          </a:prstGeom>
        </p:spPr>
        <p:txBody>
          <a:bodyPr anchor="t" rtlCol="false" tIns="0" lIns="0" bIns="0" rIns="0">
            <a:spAutoFit/>
          </a:bodyPr>
          <a:lstStyle/>
          <a:p>
            <a:pPr algn="ctr">
              <a:lnSpc>
                <a:spcPts val="2617"/>
              </a:lnSpc>
              <a:spcBef>
                <a:spcPct val="0"/>
              </a:spcBef>
            </a:pPr>
            <a:r>
              <a:rPr lang="en-US" b="true" sz="1869">
                <a:solidFill>
                  <a:srgbClr val="FFFFFF"/>
                </a:solidFill>
                <a:latin typeface="Open Sans Bold"/>
                <a:ea typeface="Open Sans Bold"/>
                <a:cs typeface="Open Sans Bold"/>
                <a:sym typeface="Open Sans Bold"/>
              </a:rPr>
              <a:t>More Information</a:t>
            </a:r>
          </a:p>
        </p:txBody>
      </p:sp>
      <p:sp>
        <p:nvSpPr>
          <p:cNvPr name="Freeform 18" id="18"/>
          <p:cNvSpPr/>
          <p:nvPr/>
        </p:nvSpPr>
        <p:spPr>
          <a:xfrm flipH="false" flipV="false" rot="0">
            <a:off x="5986470" y="7503760"/>
            <a:ext cx="770749" cy="1926872"/>
          </a:xfrm>
          <a:custGeom>
            <a:avLst/>
            <a:gdLst/>
            <a:ahLst/>
            <a:cxnLst/>
            <a:rect r="r" b="b" t="t" l="l"/>
            <a:pathLst>
              <a:path h="1926872" w="770749">
                <a:moveTo>
                  <a:pt x="0" y="0"/>
                </a:moveTo>
                <a:lnTo>
                  <a:pt x="770748" y="0"/>
                </a:lnTo>
                <a:lnTo>
                  <a:pt x="770748" y="1926872"/>
                </a:lnTo>
                <a:lnTo>
                  <a:pt x="0" y="19268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9" id="19"/>
          <p:cNvSpPr/>
          <p:nvPr/>
        </p:nvSpPr>
        <p:spPr>
          <a:xfrm flipH="false" flipV="false" rot="0">
            <a:off x="3455372" y="7503760"/>
            <a:ext cx="770749" cy="1926872"/>
          </a:xfrm>
          <a:custGeom>
            <a:avLst/>
            <a:gdLst/>
            <a:ahLst/>
            <a:cxnLst/>
            <a:rect r="r" b="b" t="t" l="l"/>
            <a:pathLst>
              <a:path h="1926872" w="770749">
                <a:moveTo>
                  <a:pt x="0" y="0"/>
                </a:moveTo>
                <a:lnTo>
                  <a:pt x="770748" y="0"/>
                </a:lnTo>
                <a:lnTo>
                  <a:pt x="770748" y="1926872"/>
                </a:lnTo>
                <a:lnTo>
                  <a:pt x="0" y="19268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0" id="20"/>
          <p:cNvSpPr/>
          <p:nvPr/>
        </p:nvSpPr>
        <p:spPr>
          <a:xfrm flipH="true" flipV="false" rot="0">
            <a:off x="12796331" y="7503760"/>
            <a:ext cx="770749" cy="1926872"/>
          </a:xfrm>
          <a:custGeom>
            <a:avLst/>
            <a:gdLst/>
            <a:ahLst/>
            <a:cxnLst/>
            <a:rect r="r" b="b" t="t" l="l"/>
            <a:pathLst>
              <a:path h="1926872" w="770749">
                <a:moveTo>
                  <a:pt x="770748" y="0"/>
                </a:moveTo>
                <a:lnTo>
                  <a:pt x="0" y="0"/>
                </a:lnTo>
                <a:lnTo>
                  <a:pt x="0" y="1926872"/>
                </a:lnTo>
                <a:lnTo>
                  <a:pt x="770748" y="1926872"/>
                </a:lnTo>
                <a:lnTo>
                  <a:pt x="77074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1" id="21"/>
          <p:cNvSpPr/>
          <p:nvPr/>
        </p:nvSpPr>
        <p:spPr>
          <a:xfrm flipH="false" flipV="false" rot="0">
            <a:off x="1027747" y="3103938"/>
            <a:ext cx="1924760" cy="671916"/>
          </a:xfrm>
          <a:custGeom>
            <a:avLst/>
            <a:gdLst/>
            <a:ahLst/>
            <a:cxnLst/>
            <a:rect r="r" b="b" t="t" l="l"/>
            <a:pathLst>
              <a:path h="671916" w="1924760">
                <a:moveTo>
                  <a:pt x="0" y="0"/>
                </a:moveTo>
                <a:lnTo>
                  <a:pt x="1924760" y="0"/>
                </a:lnTo>
                <a:lnTo>
                  <a:pt x="1924760" y="671916"/>
                </a:lnTo>
                <a:lnTo>
                  <a:pt x="0" y="67191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2" id="22"/>
          <p:cNvSpPr/>
          <p:nvPr/>
        </p:nvSpPr>
        <p:spPr>
          <a:xfrm flipH="true" flipV="false" rot="0">
            <a:off x="15334540" y="3103938"/>
            <a:ext cx="1924760" cy="671916"/>
          </a:xfrm>
          <a:custGeom>
            <a:avLst/>
            <a:gdLst/>
            <a:ahLst/>
            <a:cxnLst/>
            <a:rect r="r" b="b" t="t" l="l"/>
            <a:pathLst>
              <a:path h="671916" w="1924760">
                <a:moveTo>
                  <a:pt x="1924760" y="0"/>
                </a:moveTo>
                <a:lnTo>
                  <a:pt x="0" y="0"/>
                </a:lnTo>
                <a:lnTo>
                  <a:pt x="0" y="671916"/>
                </a:lnTo>
                <a:lnTo>
                  <a:pt x="1924760" y="671916"/>
                </a:lnTo>
                <a:lnTo>
                  <a:pt x="192476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A022B"/>
        </a:solidFill>
      </p:bgPr>
    </p:bg>
    <p:spTree>
      <p:nvGrpSpPr>
        <p:cNvPr id="1" name=""/>
        <p:cNvGrpSpPr/>
        <p:nvPr/>
      </p:nvGrpSpPr>
      <p:grpSpPr>
        <a:xfrm>
          <a:off x="0" y="0"/>
          <a:ext cx="0" cy="0"/>
          <a:chOff x="0" y="0"/>
          <a:chExt cx="0" cy="0"/>
        </a:xfrm>
      </p:grpSpPr>
      <p:sp>
        <p:nvSpPr>
          <p:cNvPr name="Freeform 2" id="2"/>
          <p:cNvSpPr/>
          <p:nvPr/>
        </p:nvSpPr>
        <p:spPr>
          <a:xfrm flipH="false" flipV="false" rot="0">
            <a:off x="-93587" y="5856073"/>
            <a:ext cx="3882875" cy="4114800"/>
          </a:xfrm>
          <a:custGeom>
            <a:avLst/>
            <a:gdLst/>
            <a:ahLst/>
            <a:cxnLst/>
            <a:rect r="r" b="b" t="t" l="l"/>
            <a:pathLst>
              <a:path h="4114800" w="3882875">
                <a:moveTo>
                  <a:pt x="0" y="0"/>
                </a:moveTo>
                <a:lnTo>
                  <a:pt x="3882874" y="0"/>
                </a:lnTo>
                <a:lnTo>
                  <a:pt x="388287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809750" y="9258300"/>
            <a:ext cx="7315200" cy="1103930"/>
          </a:xfrm>
          <a:custGeom>
            <a:avLst/>
            <a:gdLst/>
            <a:ahLst/>
            <a:cxnLst/>
            <a:rect r="r" b="b" t="t" l="l"/>
            <a:pathLst>
              <a:path h="1103930" w="7315200">
                <a:moveTo>
                  <a:pt x="0" y="0"/>
                </a:moveTo>
                <a:lnTo>
                  <a:pt x="7315200" y="0"/>
                </a:lnTo>
                <a:lnTo>
                  <a:pt x="7315200" y="1103930"/>
                </a:lnTo>
                <a:lnTo>
                  <a:pt x="0" y="11039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5486400" y="9258300"/>
            <a:ext cx="7315200" cy="1103930"/>
          </a:xfrm>
          <a:custGeom>
            <a:avLst/>
            <a:gdLst/>
            <a:ahLst/>
            <a:cxnLst/>
            <a:rect r="r" b="b" t="t" l="l"/>
            <a:pathLst>
              <a:path h="1103930" w="7315200">
                <a:moveTo>
                  <a:pt x="0" y="0"/>
                </a:moveTo>
                <a:lnTo>
                  <a:pt x="7315200" y="0"/>
                </a:lnTo>
                <a:lnTo>
                  <a:pt x="7315200" y="1103930"/>
                </a:lnTo>
                <a:lnTo>
                  <a:pt x="0" y="11039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2782550" y="9258300"/>
            <a:ext cx="7315200" cy="1103930"/>
          </a:xfrm>
          <a:custGeom>
            <a:avLst/>
            <a:gdLst/>
            <a:ahLst/>
            <a:cxnLst/>
            <a:rect r="r" b="b" t="t" l="l"/>
            <a:pathLst>
              <a:path h="1103930" w="7315200">
                <a:moveTo>
                  <a:pt x="0" y="0"/>
                </a:moveTo>
                <a:lnTo>
                  <a:pt x="7315200" y="0"/>
                </a:lnTo>
                <a:lnTo>
                  <a:pt x="7315200" y="1103930"/>
                </a:lnTo>
                <a:lnTo>
                  <a:pt x="0" y="11039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553324" y="536978"/>
            <a:ext cx="4381715" cy="780742"/>
          </a:xfrm>
          <a:custGeom>
            <a:avLst/>
            <a:gdLst/>
            <a:ahLst/>
            <a:cxnLst/>
            <a:rect r="r" b="b" t="t" l="l"/>
            <a:pathLst>
              <a:path h="780742" w="4381715">
                <a:moveTo>
                  <a:pt x="0" y="0"/>
                </a:moveTo>
                <a:lnTo>
                  <a:pt x="4381715" y="0"/>
                </a:lnTo>
                <a:lnTo>
                  <a:pt x="4381715" y="780742"/>
                </a:lnTo>
                <a:lnTo>
                  <a:pt x="0" y="78074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true" flipV="false" rot="0">
            <a:off x="7726343" y="638329"/>
            <a:ext cx="4381715" cy="780742"/>
          </a:xfrm>
          <a:custGeom>
            <a:avLst/>
            <a:gdLst/>
            <a:ahLst/>
            <a:cxnLst/>
            <a:rect r="r" b="b" t="t" l="l"/>
            <a:pathLst>
              <a:path h="780742" w="4381715">
                <a:moveTo>
                  <a:pt x="4381715" y="0"/>
                </a:moveTo>
                <a:lnTo>
                  <a:pt x="0" y="0"/>
                </a:lnTo>
                <a:lnTo>
                  <a:pt x="0" y="780742"/>
                </a:lnTo>
                <a:lnTo>
                  <a:pt x="4381715" y="780742"/>
                </a:lnTo>
                <a:lnTo>
                  <a:pt x="4381715"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true" flipV="false" rot="0">
            <a:off x="15331269" y="1944203"/>
            <a:ext cx="1924760" cy="671916"/>
          </a:xfrm>
          <a:custGeom>
            <a:avLst/>
            <a:gdLst/>
            <a:ahLst/>
            <a:cxnLst/>
            <a:rect r="r" b="b" t="t" l="l"/>
            <a:pathLst>
              <a:path h="671916" w="1924760">
                <a:moveTo>
                  <a:pt x="1924760" y="0"/>
                </a:moveTo>
                <a:lnTo>
                  <a:pt x="0" y="0"/>
                </a:lnTo>
                <a:lnTo>
                  <a:pt x="0" y="671917"/>
                </a:lnTo>
                <a:lnTo>
                  <a:pt x="1924760" y="671917"/>
                </a:lnTo>
                <a:lnTo>
                  <a:pt x="192476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9917200" y="2280161"/>
            <a:ext cx="3423344" cy="3786931"/>
          </a:xfrm>
          <a:custGeom>
            <a:avLst/>
            <a:gdLst/>
            <a:ahLst/>
            <a:cxnLst/>
            <a:rect r="r" b="b" t="t" l="l"/>
            <a:pathLst>
              <a:path h="3786931" w="3423344">
                <a:moveTo>
                  <a:pt x="0" y="0"/>
                </a:moveTo>
                <a:lnTo>
                  <a:pt x="3423344" y="0"/>
                </a:lnTo>
                <a:lnTo>
                  <a:pt x="3423344" y="3786932"/>
                </a:lnTo>
                <a:lnTo>
                  <a:pt x="0" y="3786932"/>
                </a:lnTo>
                <a:lnTo>
                  <a:pt x="0" y="0"/>
                </a:lnTo>
                <a:close/>
              </a:path>
            </a:pathLst>
          </a:custGeom>
          <a:blipFill>
            <a:blip r:embed="rId10"/>
            <a:stretch>
              <a:fillRect l="0" t="-15506" r="0" b="-15506"/>
            </a:stretch>
          </a:blipFill>
        </p:spPr>
      </p:sp>
      <p:sp>
        <p:nvSpPr>
          <p:cNvPr name="Freeform 10" id="10"/>
          <p:cNvSpPr/>
          <p:nvPr/>
        </p:nvSpPr>
        <p:spPr>
          <a:xfrm flipH="false" flipV="false" rot="0">
            <a:off x="4503131" y="2280161"/>
            <a:ext cx="3423344" cy="3786931"/>
          </a:xfrm>
          <a:custGeom>
            <a:avLst/>
            <a:gdLst/>
            <a:ahLst/>
            <a:cxnLst/>
            <a:rect r="r" b="b" t="t" l="l"/>
            <a:pathLst>
              <a:path h="3786931" w="3423344">
                <a:moveTo>
                  <a:pt x="0" y="0"/>
                </a:moveTo>
                <a:lnTo>
                  <a:pt x="3423344" y="0"/>
                </a:lnTo>
                <a:lnTo>
                  <a:pt x="3423344" y="3786932"/>
                </a:lnTo>
                <a:lnTo>
                  <a:pt x="0" y="3786932"/>
                </a:lnTo>
                <a:lnTo>
                  <a:pt x="0" y="0"/>
                </a:lnTo>
                <a:close/>
              </a:path>
            </a:pathLst>
          </a:custGeom>
          <a:blipFill>
            <a:blip r:embed="rId11"/>
            <a:stretch>
              <a:fillRect l="-13577" t="-9689" r="0" b="-24203"/>
            </a:stretch>
          </a:blipFill>
        </p:spPr>
      </p:sp>
      <p:sp>
        <p:nvSpPr>
          <p:cNvPr name="Freeform 11" id="11"/>
          <p:cNvSpPr/>
          <p:nvPr/>
        </p:nvSpPr>
        <p:spPr>
          <a:xfrm flipH="false" flipV="false" rot="-2528301">
            <a:off x="44229" y="3297944"/>
            <a:ext cx="2572585" cy="1401914"/>
          </a:xfrm>
          <a:custGeom>
            <a:avLst/>
            <a:gdLst/>
            <a:ahLst/>
            <a:cxnLst/>
            <a:rect r="r" b="b" t="t" l="l"/>
            <a:pathLst>
              <a:path h="1401914" w="2572585">
                <a:moveTo>
                  <a:pt x="0" y="0"/>
                </a:moveTo>
                <a:lnTo>
                  <a:pt x="2572585" y="0"/>
                </a:lnTo>
                <a:lnTo>
                  <a:pt x="2572585" y="1401915"/>
                </a:lnTo>
                <a:lnTo>
                  <a:pt x="0" y="1401915"/>
                </a:lnTo>
                <a:lnTo>
                  <a:pt x="0" y="0"/>
                </a:lnTo>
                <a:close/>
              </a:path>
            </a:pathLst>
          </a:custGeom>
          <a:blipFill>
            <a:blip r:embed="rId12"/>
            <a:stretch>
              <a:fillRect l="0" t="0" r="0" b="0"/>
            </a:stretch>
          </a:blipFill>
        </p:spPr>
      </p:sp>
      <p:sp>
        <p:nvSpPr>
          <p:cNvPr name="Freeform 12" id="12"/>
          <p:cNvSpPr/>
          <p:nvPr/>
        </p:nvSpPr>
        <p:spPr>
          <a:xfrm flipH="false" flipV="false" rot="-1118822">
            <a:off x="15465253" y="4824962"/>
            <a:ext cx="2955325" cy="5096541"/>
          </a:xfrm>
          <a:custGeom>
            <a:avLst/>
            <a:gdLst/>
            <a:ahLst/>
            <a:cxnLst/>
            <a:rect r="r" b="b" t="t" l="l"/>
            <a:pathLst>
              <a:path h="5096541" w="2955325">
                <a:moveTo>
                  <a:pt x="0" y="0"/>
                </a:moveTo>
                <a:lnTo>
                  <a:pt x="2955325" y="0"/>
                </a:lnTo>
                <a:lnTo>
                  <a:pt x="2955325" y="5096541"/>
                </a:lnTo>
                <a:lnTo>
                  <a:pt x="0" y="5096541"/>
                </a:lnTo>
                <a:lnTo>
                  <a:pt x="0" y="0"/>
                </a:lnTo>
                <a:close/>
              </a:path>
            </a:pathLst>
          </a:custGeom>
          <a:blipFill>
            <a:blip r:embed="rId13"/>
            <a:stretch>
              <a:fillRect l="0" t="0" r="0" b="0"/>
            </a:stretch>
          </a:blipFill>
        </p:spPr>
      </p:sp>
      <p:sp>
        <p:nvSpPr>
          <p:cNvPr name="TextBox 13" id="13"/>
          <p:cNvSpPr txBox="true"/>
          <p:nvPr/>
        </p:nvSpPr>
        <p:spPr>
          <a:xfrm rot="0">
            <a:off x="4183002" y="6699847"/>
            <a:ext cx="4063603" cy="349250"/>
          </a:xfrm>
          <a:prstGeom prst="rect">
            <a:avLst/>
          </a:prstGeom>
        </p:spPr>
        <p:txBody>
          <a:bodyPr anchor="t" rtlCol="false" tIns="0" lIns="0" bIns="0" rIns="0">
            <a:spAutoFit/>
          </a:bodyPr>
          <a:lstStyle/>
          <a:p>
            <a:pPr algn="ctr">
              <a:lnSpc>
                <a:spcPts val="2800"/>
              </a:lnSpc>
              <a:spcBef>
                <a:spcPct val="0"/>
              </a:spcBef>
            </a:pPr>
            <a:r>
              <a:rPr lang="en-US" sz="2000">
                <a:solidFill>
                  <a:srgbClr val="FFFFFF"/>
                </a:solidFill>
                <a:latin typeface="Press Start 2P"/>
                <a:ea typeface="Press Start 2P"/>
                <a:cs typeface="Press Start 2P"/>
                <a:sym typeface="Press Start 2P"/>
              </a:rPr>
              <a:t>JOHN VON NEUMANN</a:t>
            </a:r>
          </a:p>
        </p:txBody>
      </p:sp>
      <p:sp>
        <p:nvSpPr>
          <p:cNvPr name="TextBox 14" id="14"/>
          <p:cNvSpPr txBox="true"/>
          <p:nvPr/>
        </p:nvSpPr>
        <p:spPr>
          <a:xfrm rot="0">
            <a:off x="9851031" y="6699847"/>
            <a:ext cx="3848313" cy="349250"/>
          </a:xfrm>
          <a:prstGeom prst="rect">
            <a:avLst/>
          </a:prstGeom>
        </p:spPr>
        <p:txBody>
          <a:bodyPr anchor="t" rtlCol="false" tIns="0" lIns="0" bIns="0" rIns="0">
            <a:spAutoFit/>
          </a:bodyPr>
          <a:lstStyle/>
          <a:p>
            <a:pPr algn="ctr">
              <a:lnSpc>
                <a:spcPts val="2800"/>
              </a:lnSpc>
              <a:spcBef>
                <a:spcPct val="0"/>
              </a:spcBef>
            </a:pPr>
            <a:r>
              <a:rPr lang="en-US" sz="2000">
                <a:solidFill>
                  <a:srgbClr val="FFFFFF"/>
                </a:solidFill>
                <a:latin typeface="Press Start 2P"/>
                <a:ea typeface="Press Start 2P"/>
                <a:cs typeface="Press Start 2P"/>
                <a:sym typeface="Press Start 2P"/>
              </a:rPr>
              <a:t>STANISŁAW ULAM</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A022B"/>
        </a:solidFill>
      </p:bgPr>
    </p:bg>
    <p:spTree>
      <p:nvGrpSpPr>
        <p:cNvPr id="1" name=""/>
        <p:cNvGrpSpPr/>
        <p:nvPr/>
      </p:nvGrpSpPr>
      <p:grpSpPr>
        <a:xfrm>
          <a:off x="0" y="0"/>
          <a:ext cx="0" cy="0"/>
          <a:chOff x="0" y="0"/>
          <a:chExt cx="0" cy="0"/>
        </a:xfrm>
      </p:grpSpPr>
      <p:sp>
        <p:nvSpPr>
          <p:cNvPr name="Freeform 2" id="2"/>
          <p:cNvSpPr/>
          <p:nvPr/>
        </p:nvSpPr>
        <p:spPr>
          <a:xfrm flipH="false" flipV="false" rot="0">
            <a:off x="-733031" y="5315832"/>
            <a:ext cx="3882875" cy="4114800"/>
          </a:xfrm>
          <a:custGeom>
            <a:avLst/>
            <a:gdLst/>
            <a:ahLst/>
            <a:cxnLst/>
            <a:rect r="r" b="b" t="t" l="l"/>
            <a:pathLst>
              <a:path h="4114800" w="3882875">
                <a:moveTo>
                  <a:pt x="0" y="0"/>
                </a:moveTo>
                <a:lnTo>
                  <a:pt x="3882875" y="0"/>
                </a:lnTo>
                <a:lnTo>
                  <a:pt x="3882875"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5138156" y="5315832"/>
            <a:ext cx="3882875" cy="4114800"/>
          </a:xfrm>
          <a:custGeom>
            <a:avLst/>
            <a:gdLst/>
            <a:ahLst/>
            <a:cxnLst/>
            <a:rect r="r" b="b" t="t" l="l"/>
            <a:pathLst>
              <a:path h="4114800" w="3882875">
                <a:moveTo>
                  <a:pt x="3882875" y="0"/>
                </a:moveTo>
                <a:lnTo>
                  <a:pt x="0" y="0"/>
                </a:lnTo>
                <a:lnTo>
                  <a:pt x="0" y="4114800"/>
                </a:lnTo>
                <a:lnTo>
                  <a:pt x="3882875" y="4114800"/>
                </a:lnTo>
                <a:lnTo>
                  <a:pt x="388287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809750" y="9258300"/>
            <a:ext cx="7315200" cy="1103930"/>
          </a:xfrm>
          <a:custGeom>
            <a:avLst/>
            <a:gdLst/>
            <a:ahLst/>
            <a:cxnLst/>
            <a:rect r="r" b="b" t="t" l="l"/>
            <a:pathLst>
              <a:path h="1103930" w="7315200">
                <a:moveTo>
                  <a:pt x="0" y="0"/>
                </a:moveTo>
                <a:lnTo>
                  <a:pt x="7315200" y="0"/>
                </a:lnTo>
                <a:lnTo>
                  <a:pt x="7315200" y="1103930"/>
                </a:lnTo>
                <a:lnTo>
                  <a:pt x="0" y="11039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5486400" y="9258300"/>
            <a:ext cx="7315200" cy="1103930"/>
          </a:xfrm>
          <a:custGeom>
            <a:avLst/>
            <a:gdLst/>
            <a:ahLst/>
            <a:cxnLst/>
            <a:rect r="r" b="b" t="t" l="l"/>
            <a:pathLst>
              <a:path h="1103930" w="7315200">
                <a:moveTo>
                  <a:pt x="0" y="0"/>
                </a:moveTo>
                <a:lnTo>
                  <a:pt x="7315200" y="0"/>
                </a:lnTo>
                <a:lnTo>
                  <a:pt x="7315200" y="1103930"/>
                </a:lnTo>
                <a:lnTo>
                  <a:pt x="0" y="11039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2782550" y="9258300"/>
            <a:ext cx="7315200" cy="1103930"/>
          </a:xfrm>
          <a:custGeom>
            <a:avLst/>
            <a:gdLst/>
            <a:ahLst/>
            <a:cxnLst/>
            <a:rect r="r" b="b" t="t" l="l"/>
            <a:pathLst>
              <a:path h="1103930" w="7315200">
                <a:moveTo>
                  <a:pt x="0" y="0"/>
                </a:moveTo>
                <a:lnTo>
                  <a:pt x="7315200" y="0"/>
                </a:lnTo>
                <a:lnTo>
                  <a:pt x="7315200" y="1103930"/>
                </a:lnTo>
                <a:lnTo>
                  <a:pt x="0" y="11039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553324" y="536978"/>
            <a:ext cx="4381715" cy="780742"/>
          </a:xfrm>
          <a:custGeom>
            <a:avLst/>
            <a:gdLst/>
            <a:ahLst/>
            <a:cxnLst/>
            <a:rect r="r" b="b" t="t" l="l"/>
            <a:pathLst>
              <a:path h="780742" w="4381715">
                <a:moveTo>
                  <a:pt x="0" y="0"/>
                </a:moveTo>
                <a:lnTo>
                  <a:pt x="4381715" y="0"/>
                </a:lnTo>
                <a:lnTo>
                  <a:pt x="4381715" y="780742"/>
                </a:lnTo>
                <a:lnTo>
                  <a:pt x="0" y="78074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true" flipV="false" rot="0">
            <a:off x="14459609" y="536978"/>
            <a:ext cx="4381715" cy="780742"/>
          </a:xfrm>
          <a:custGeom>
            <a:avLst/>
            <a:gdLst/>
            <a:ahLst/>
            <a:cxnLst/>
            <a:rect r="r" b="b" t="t" l="l"/>
            <a:pathLst>
              <a:path h="780742" w="4381715">
                <a:moveTo>
                  <a:pt x="4381715" y="0"/>
                </a:moveTo>
                <a:lnTo>
                  <a:pt x="0" y="0"/>
                </a:lnTo>
                <a:lnTo>
                  <a:pt x="0" y="780742"/>
                </a:lnTo>
                <a:lnTo>
                  <a:pt x="4381715" y="780742"/>
                </a:lnTo>
                <a:lnTo>
                  <a:pt x="4381715"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027747" y="3103938"/>
            <a:ext cx="1924760" cy="671916"/>
          </a:xfrm>
          <a:custGeom>
            <a:avLst/>
            <a:gdLst/>
            <a:ahLst/>
            <a:cxnLst/>
            <a:rect r="r" b="b" t="t" l="l"/>
            <a:pathLst>
              <a:path h="671916" w="1924760">
                <a:moveTo>
                  <a:pt x="0" y="0"/>
                </a:moveTo>
                <a:lnTo>
                  <a:pt x="1924760" y="0"/>
                </a:lnTo>
                <a:lnTo>
                  <a:pt x="1924760" y="671916"/>
                </a:lnTo>
                <a:lnTo>
                  <a:pt x="0" y="67191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true" flipV="false" rot="0">
            <a:off x="15334540" y="3103938"/>
            <a:ext cx="1924760" cy="671916"/>
          </a:xfrm>
          <a:custGeom>
            <a:avLst/>
            <a:gdLst/>
            <a:ahLst/>
            <a:cxnLst/>
            <a:rect r="r" b="b" t="t" l="l"/>
            <a:pathLst>
              <a:path h="671916" w="1924760">
                <a:moveTo>
                  <a:pt x="1924760" y="0"/>
                </a:moveTo>
                <a:lnTo>
                  <a:pt x="0" y="0"/>
                </a:lnTo>
                <a:lnTo>
                  <a:pt x="0" y="671916"/>
                </a:lnTo>
                <a:lnTo>
                  <a:pt x="1924760" y="671916"/>
                </a:lnTo>
                <a:lnTo>
                  <a:pt x="192476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1" id="11"/>
          <p:cNvSpPr txBox="true"/>
          <p:nvPr/>
        </p:nvSpPr>
        <p:spPr>
          <a:xfrm rot="0">
            <a:off x="3149844" y="3556882"/>
            <a:ext cx="6095524" cy="701675"/>
          </a:xfrm>
          <a:prstGeom prst="rect">
            <a:avLst/>
          </a:prstGeom>
        </p:spPr>
        <p:txBody>
          <a:bodyPr anchor="t" rtlCol="false" tIns="0" lIns="0" bIns="0" rIns="0">
            <a:spAutoFit/>
          </a:bodyPr>
          <a:lstStyle/>
          <a:p>
            <a:pPr algn="l">
              <a:lnSpc>
                <a:spcPts val="2800"/>
              </a:lnSpc>
              <a:spcBef>
                <a:spcPct val="0"/>
              </a:spcBef>
            </a:pPr>
            <a:r>
              <a:rPr lang="en-US" sz="2000">
                <a:solidFill>
                  <a:srgbClr val="FFFFFF"/>
                </a:solidFill>
                <a:latin typeface="Press Start 2P"/>
                <a:ea typeface="Press Start 2P"/>
                <a:cs typeface="Press Start 2P"/>
                <a:sym typeface="Press Start 2P"/>
              </a:rPr>
              <a:t> PHYSICS AND ENGINEERING</a:t>
            </a:r>
          </a:p>
          <a:p>
            <a:pPr algn="l">
              <a:lnSpc>
                <a:spcPts val="2800"/>
              </a:lnSpc>
            </a:pPr>
          </a:p>
        </p:txBody>
      </p:sp>
      <p:sp>
        <p:nvSpPr>
          <p:cNvPr name="TextBox 12" id="12"/>
          <p:cNvSpPr txBox="true"/>
          <p:nvPr/>
        </p:nvSpPr>
        <p:spPr>
          <a:xfrm rot="0">
            <a:off x="6096298" y="1377241"/>
            <a:ext cx="6095405" cy="679450"/>
          </a:xfrm>
          <a:prstGeom prst="rect">
            <a:avLst/>
          </a:prstGeom>
        </p:spPr>
        <p:txBody>
          <a:bodyPr anchor="t" rtlCol="false" tIns="0" lIns="0" bIns="0" rIns="0">
            <a:spAutoFit/>
          </a:bodyPr>
          <a:lstStyle/>
          <a:p>
            <a:pPr algn="ctr">
              <a:lnSpc>
                <a:spcPts val="5599"/>
              </a:lnSpc>
            </a:pPr>
            <a:r>
              <a:rPr lang="en-US" sz="3999">
                <a:solidFill>
                  <a:srgbClr val="FFFFFF"/>
                </a:solidFill>
                <a:latin typeface="Press Start 2P"/>
                <a:ea typeface="Press Start 2P"/>
                <a:cs typeface="Press Start 2P"/>
                <a:sym typeface="Press Start 2P"/>
              </a:rPr>
              <a:t>APPLICATIONS</a:t>
            </a:r>
          </a:p>
        </p:txBody>
      </p:sp>
      <p:sp>
        <p:nvSpPr>
          <p:cNvPr name="TextBox 13" id="13"/>
          <p:cNvSpPr txBox="true"/>
          <p:nvPr/>
        </p:nvSpPr>
        <p:spPr>
          <a:xfrm rot="0">
            <a:off x="3487495" y="5268207"/>
            <a:ext cx="1777841" cy="349250"/>
          </a:xfrm>
          <a:prstGeom prst="rect">
            <a:avLst/>
          </a:prstGeom>
        </p:spPr>
        <p:txBody>
          <a:bodyPr anchor="t" rtlCol="false" tIns="0" lIns="0" bIns="0" rIns="0">
            <a:spAutoFit/>
          </a:bodyPr>
          <a:lstStyle/>
          <a:p>
            <a:pPr algn="l">
              <a:lnSpc>
                <a:spcPts val="2800"/>
              </a:lnSpc>
            </a:pPr>
            <a:r>
              <a:rPr lang="en-US" sz="2000">
                <a:solidFill>
                  <a:srgbClr val="FFFFFF"/>
                </a:solidFill>
                <a:latin typeface="Press Start 2P"/>
                <a:ea typeface="Press Start 2P"/>
                <a:cs typeface="Press Start 2P"/>
                <a:sym typeface="Press Start 2P"/>
              </a:rPr>
              <a:t>F</a:t>
            </a:r>
            <a:r>
              <a:rPr lang="en-US" sz="2000">
                <a:solidFill>
                  <a:srgbClr val="FFFFFF"/>
                </a:solidFill>
                <a:latin typeface="Press Start 2P"/>
                <a:ea typeface="Press Start 2P"/>
                <a:cs typeface="Press Start 2P"/>
                <a:sym typeface="Press Start 2P"/>
              </a:rPr>
              <a:t>INANCE</a:t>
            </a:r>
          </a:p>
        </p:txBody>
      </p:sp>
      <p:sp>
        <p:nvSpPr>
          <p:cNvPr name="TextBox 14" id="14"/>
          <p:cNvSpPr txBox="true"/>
          <p:nvPr/>
        </p:nvSpPr>
        <p:spPr>
          <a:xfrm rot="0">
            <a:off x="3360455" y="6625240"/>
            <a:ext cx="4317683" cy="349250"/>
          </a:xfrm>
          <a:prstGeom prst="rect">
            <a:avLst/>
          </a:prstGeom>
        </p:spPr>
        <p:txBody>
          <a:bodyPr anchor="t" rtlCol="false" tIns="0" lIns="0" bIns="0" rIns="0">
            <a:spAutoFit/>
          </a:bodyPr>
          <a:lstStyle/>
          <a:p>
            <a:pPr algn="l">
              <a:lnSpc>
                <a:spcPts val="2800"/>
              </a:lnSpc>
            </a:pPr>
            <a:r>
              <a:rPr lang="en-US" sz="2000">
                <a:solidFill>
                  <a:srgbClr val="FFFFFF"/>
                </a:solidFill>
                <a:latin typeface="Press Start 2P"/>
                <a:ea typeface="Press Start 2P"/>
                <a:cs typeface="Press Start 2P"/>
                <a:sym typeface="Press Start 2P"/>
              </a:rPr>
              <a:t>COMPUTER GR</a:t>
            </a:r>
            <a:r>
              <a:rPr lang="en-US" sz="2000">
                <a:solidFill>
                  <a:srgbClr val="FFFFFF"/>
                </a:solidFill>
                <a:latin typeface="Press Start 2P"/>
                <a:ea typeface="Press Start 2P"/>
                <a:cs typeface="Press Start 2P"/>
                <a:sym typeface="Press Start 2P"/>
              </a:rPr>
              <a:t>APHICS</a:t>
            </a:r>
          </a:p>
        </p:txBody>
      </p:sp>
      <p:sp>
        <p:nvSpPr>
          <p:cNvPr name="TextBox 15" id="15"/>
          <p:cNvSpPr txBox="true"/>
          <p:nvPr/>
        </p:nvSpPr>
        <p:spPr>
          <a:xfrm rot="0">
            <a:off x="3233416" y="7982272"/>
            <a:ext cx="4571762" cy="349250"/>
          </a:xfrm>
          <a:prstGeom prst="rect">
            <a:avLst/>
          </a:prstGeom>
        </p:spPr>
        <p:txBody>
          <a:bodyPr anchor="t" rtlCol="false" tIns="0" lIns="0" bIns="0" rIns="0">
            <a:spAutoFit/>
          </a:bodyPr>
          <a:lstStyle/>
          <a:p>
            <a:pPr algn="ctr">
              <a:lnSpc>
                <a:spcPts val="2800"/>
              </a:lnSpc>
              <a:spcBef>
                <a:spcPct val="0"/>
              </a:spcBef>
            </a:pPr>
            <a:r>
              <a:rPr lang="en-US" sz="2000">
                <a:solidFill>
                  <a:srgbClr val="FFFFFF"/>
                </a:solidFill>
                <a:latin typeface="Press Start 2P"/>
                <a:ea typeface="Press Start 2P"/>
                <a:cs typeface="Press Start 2P"/>
                <a:sym typeface="Press Start 2P"/>
              </a:rPr>
              <a:t> MACHINE LEARNING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A022B"/>
        </a:solidFill>
      </p:bgPr>
    </p:bg>
    <p:spTree>
      <p:nvGrpSpPr>
        <p:cNvPr id="1" name=""/>
        <p:cNvGrpSpPr/>
        <p:nvPr/>
      </p:nvGrpSpPr>
      <p:grpSpPr>
        <a:xfrm>
          <a:off x="0" y="0"/>
          <a:ext cx="0" cy="0"/>
          <a:chOff x="0" y="0"/>
          <a:chExt cx="0" cy="0"/>
        </a:xfrm>
      </p:grpSpPr>
      <p:sp>
        <p:nvSpPr>
          <p:cNvPr name="Freeform 2" id="2"/>
          <p:cNvSpPr/>
          <p:nvPr/>
        </p:nvSpPr>
        <p:spPr>
          <a:xfrm flipH="false" flipV="false" rot="0">
            <a:off x="-26185" y="5587300"/>
            <a:ext cx="1989556" cy="3880340"/>
          </a:xfrm>
          <a:custGeom>
            <a:avLst/>
            <a:gdLst/>
            <a:ahLst/>
            <a:cxnLst/>
            <a:rect r="r" b="b" t="t" l="l"/>
            <a:pathLst>
              <a:path h="3880340" w="1989556">
                <a:moveTo>
                  <a:pt x="0" y="0"/>
                </a:moveTo>
                <a:lnTo>
                  <a:pt x="1989556" y="0"/>
                </a:lnTo>
                <a:lnTo>
                  <a:pt x="1989556" y="3880340"/>
                </a:lnTo>
                <a:lnTo>
                  <a:pt x="0" y="38803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215858" y="5587300"/>
            <a:ext cx="1989556" cy="3880340"/>
          </a:xfrm>
          <a:custGeom>
            <a:avLst/>
            <a:gdLst/>
            <a:ahLst/>
            <a:cxnLst/>
            <a:rect r="r" b="b" t="t" l="l"/>
            <a:pathLst>
              <a:path h="3880340" w="1989556">
                <a:moveTo>
                  <a:pt x="0" y="0"/>
                </a:moveTo>
                <a:lnTo>
                  <a:pt x="1989556" y="0"/>
                </a:lnTo>
                <a:lnTo>
                  <a:pt x="1989556" y="3880340"/>
                </a:lnTo>
                <a:lnTo>
                  <a:pt x="0" y="38803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4457901" y="5587300"/>
            <a:ext cx="1989556" cy="3880340"/>
          </a:xfrm>
          <a:custGeom>
            <a:avLst/>
            <a:gdLst/>
            <a:ahLst/>
            <a:cxnLst/>
            <a:rect r="r" b="b" t="t" l="l"/>
            <a:pathLst>
              <a:path h="3880340" w="1989556">
                <a:moveTo>
                  <a:pt x="0" y="0"/>
                </a:moveTo>
                <a:lnTo>
                  <a:pt x="1989556" y="0"/>
                </a:lnTo>
                <a:lnTo>
                  <a:pt x="1989556" y="3880340"/>
                </a:lnTo>
                <a:lnTo>
                  <a:pt x="0" y="38803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6699944" y="5587300"/>
            <a:ext cx="1989556" cy="3880340"/>
          </a:xfrm>
          <a:custGeom>
            <a:avLst/>
            <a:gdLst/>
            <a:ahLst/>
            <a:cxnLst/>
            <a:rect r="r" b="b" t="t" l="l"/>
            <a:pathLst>
              <a:path h="3880340" w="1989556">
                <a:moveTo>
                  <a:pt x="0" y="0"/>
                </a:moveTo>
                <a:lnTo>
                  <a:pt x="1989556" y="0"/>
                </a:lnTo>
                <a:lnTo>
                  <a:pt x="1989556" y="3880340"/>
                </a:lnTo>
                <a:lnTo>
                  <a:pt x="0" y="38803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809750" y="9258300"/>
            <a:ext cx="7315200" cy="1103930"/>
          </a:xfrm>
          <a:custGeom>
            <a:avLst/>
            <a:gdLst/>
            <a:ahLst/>
            <a:cxnLst/>
            <a:rect r="r" b="b" t="t" l="l"/>
            <a:pathLst>
              <a:path h="1103930" w="7315200">
                <a:moveTo>
                  <a:pt x="0" y="0"/>
                </a:moveTo>
                <a:lnTo>
                  <a:pt x="7315200" y="0"/>
                </a:lnTo>
                <a:lnTo>
                  <a:pt x="7315200" y="1103930"/>
                </a:lnTo>
                <a:lnTo>
                  <a:pt x="0" y="11039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true" flipV="false" rot="0">
            <a:off x="8981240" y="7974654"/>
            <a:ext cx="803498" cy="1492986"/>
          </a:xfrm>
          <a:custGeom>
            <a:avLst/>
            <a:gdLst/>
            <a:ahLst/>
            <a:cxnLst/>
            <a:rect r="r" b="b" t="t" l="l"/>
            <a:pathLst>
              <a:path h="1492986" w="803498">
                <a:moveTo>
                  <a:pt x="803497" y="0"/>
                </a:moveTo>
                <a:lnTo>
                  <a:pt x="0" y="0"/>
                </a:lnTo>
                <a:lnTo>
                  <a:pt x="0" y="1492986"/>
                </a:lnTo>
                <a:lnTo>
                  <a:pt x="803497" y="1492986"/>
                </a:lnTo>
                <a:lnTo>
                  <a:pt x="803497"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0041912" y="8203143"/>
            <a:ext cx="673632" cy="1264497"/>
          </a:xfrm>
          <a:custGeom>
            <a:avLst/>
            <a:gdLst/>
            <a:ahLst/>
            <a:cxnLst/>
            <a:rect r="r" b="b" t="t" l="l"/>
            <a:pathLst>
              <a:path h="1264497" w="673632">
                <a:moveTo>
                  <a:pt x="0" y="0"/>
                </a:moveTo>
                <a:lnTo>
                  <a:pt x="673633" y="0"/>
                </a:lnTo>
                <a:lnTo>
                  <a:pt x="673633" y="1264497"/>
                </a:lnTo>
                <a:lnTo>
                  <a:pt x="0" y="126449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5486400" y="9258300"/>
            <a:ext cx="7315200" cy="1103930"/>
          </a:xfrm>
          <a:custGeom>
            <a:avLst/>
            <a:gdLst/>
            <a:ahLst/>
            <a:cxnLst/>
            <a:rect r="r" b="b" t="t" l="l"/>
            <a:pathLst>
              <a:path h="1103930" w="7315200">
                <a:moveTo>
                  <a:pt x="0" y="0"/>
                </a:moveTo>
                <a:lnTo>
                  <a:pt x="7315200" y="0"/>
                </a:lnTo>
                <a:lnTo>
                  <a:pt x="7315200" y="1103930"/>
                </a:lnTo>
                <a:lnTo>
                  <a:pt x="0" y="11039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2782550" y="9258300"/>
            <a:ext cx="7315200" cy="1103930"/>
          </a:xfrm>
          <a:custGeom>
            <a:avLst/>
            <a:gdLst/>
            <a:ahLst/>
            <a:cxnLst/>
            <a:rect r="r" b="b" t="t" l="l"/>
            <a:pathLst>
              <a:path h="1103930" w="7315200">
                <a:moveTo>
                  <a:pt x="0" y="0"/>
                </a:moveTo>
                <a:lnTo>
                  <a:pt x="7315200" y="0"/>
                </a:lnTo>
                <a:lnTo>
                  <a:pt x="7315200" y="1103930"/>
                </a:lnTo>
                <a:lnTo>
                  <a:pt x="0" y="11039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3039092" y="2165080"/>
            <a:ext cx="12687793" cy="2794153"/>
          </a:xfrm>
          <a:prstGeom prst="rect">
            <a:avLst/>
          </a:prstGeom>
        </p:spPr>
        <p:txBody>
          <a:bodyPr anchor="t" rtlCol="false" tIns="0" lIns="0" bIns="0" rIns="0">
            <a:spAutoFit/>
          </a:bodyPr>
          <a:lstStyle/>
          <a:p>
            <a:pPr algn="l">
              <a:lnSpc>
                <a:spcPts val="5599"/>
              </a:lnSpc>
              <a:spcBef>
                <a:spcPct val="0"/>
              </a:spcBef>
            </a:pPr>
            <a:r>
              <a:rPr lang="en-US" sz="3999">
                <a:solidFill>
                  <a:srgbClr val="FFFFFF"/>
                </a:solidFill>
                <a:latin typeface="Press Start 2P"/>
                <a:ea typeface="Press Start 2P"/>
                <a:cs typeface="Press Start 2P"/>
                <a:sym typeface="Press Start 2P"/>
              </a:rPr>
              <a:t>EVER WONDERED HOW GAMES CREATE SUCH REALISTIC WORLDS IN THE FIRST PLACE?</a:t>
            </a:r>
          </a:p>
        </p:txBody>
      </p:sp>
      <p:sp>
        <p:nvSpPr>
          <p:cNvPr name="Freeform 12" id="12"/>
          <p:cNvSpPr/>
          <p:nvPr/>
        </p:nvSpPr>
        <p:spPr>
          <a:xfrm flipH="false" flipV="false" rot="0">
            <a:off x="-417805" y="818270"/>
            <a:ext cx="2772796" cy="494062"/>
          </a:xfrm>
          <a:custGeom>
            <a:avLst/>
            <a:gdLst/>
            <a:ahLst/>
            <a:cxnLst/>
            <a:rect r="r" b="b" t="t" l="l"/>
            <a:pathLst>
              <a:path h="494062" w="2772796">
                <a:moveTo>
                  <a:pt x="0" y="0"/>
                </a:moveTo>
                <a:lnTo>
                  <a:pt x="2772796" y="0"/>
                </a:lnTo>
                <a:lnTo>
                  <a:pt x="2772796" y="494062"/>
                </a:lnTo>
                <a:lnTo>
                  <a:pt x="0" y="49406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17022813" y="4959233"/>
            <a:ext cx="2772796" cy="494062"/>
          </a:xfrm>
          <a:custGeom>
            <a:avLst/>
            <a:gdLst/>
            <a:ahLst/>
            <a:cxnLst/>
            <a:rect r="r" b="b" t="t" l="l"/>
            <a:pathLst>
              <a:path h="494062" w="2772796">
                <a:moveTo>
                  <a:pt x="0" y="0"/>
                </a:moveTo>
                <a:lnTo>
                  <a:pt x="2772796" y="0"/>
                </a:lnTo>
                <a:lnTo>
                  <a:pt x="2772796" y="494062"/>
                </a:lnTo>
                <a:lnTo>
                  <a:pt x="0" y="49406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false" flipV="false" rot="0">
            <a:off x="15334540" y="640416"/>
            <a:ext cx="1924760" cy="671916"/>
          </a:xfrm>
          <a:custGeom>
            <a:avLst/>
            <a:gdLst/>
            <a:ahLst/>
            <a:cxnLst/>
            <a:rect r="r" b="b" t="t" l="l"/>
            <a:pathLst>
              <a:path h="671916" w="1924760">
                <a:moveTo>
                  <a:pt x="0" y="0"/>
                </a:moveTo>
                <a:lnTo>
                  <a:pt x="1924760" y="0"/>
                </a:lnTo>
                <a:lnTo>
                  <a:pt x="1924760" y="671916"/>
                </a:lnTo>
                <a:lnTo>
                  <a:pt x="0" y="67191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5" id="15"/>
          <p:cNvSpPr/>
          <p:nvPr/>
        </p:nvSpPr>
        <p:spPr>
          <a:xfrm flipH="false" flipV="false" rot="0">
            <a:off x="555370" y="3470934"/>
            <a:ext cx="951586" cy="332190"/>
          </a:xfrm>
          <a:custGeom>
            <a:avLst/>
            <a:gdLst/>
            <a:ahLst/>
            <a:cxnLst/>
            <a:rect r="r" b="b" t="t" l="l"/>
            <a:pathLst>
              <a:path h="332190" w="951586">
                <a:moveTo>
                  <a:pt x="0" y="0"/>
                </a:moveTo>
                <a:lnTo>
                  <a:pt x="951585" y="0"/>
                </a:lnTo>
                <a:lnTo>
                  <a:pt x="951585" y="332190"/>
                </a:lnTo>
                <a:lnTo>
                  <a:pt x="0" y="33219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6" id="16"/>
          <p:cNvSpPr/>
          <p:nvPr/>
        </p:nvSpPr>
        <p:spPr>
          <a:xfrm flipH="true" flipV="false" rot="0">
            <a:off x="7832716" y="644363"/>
            <a:ext cx="1952021" cy="347815"/>
          </a:xfrm>
          <a:custGeom>
            <a:avLst/>
            <a:gdLst/>
            <a:ahLst/>
            <a:cxnLst/>
            <a:rect r="r" b="b" t="t" l="l"/>
            <a:pathLst>
              <a:path h="347815" w="1952021">
                <a:moveTo>
                  <a:pt x="1952021" y="0"/>
                </a:moveTo>
                <a:lnTo>
                  <a:pt x="0" y="0"/>
                </a:lnTo>
                <a:lnTo>
                  <a:pt x="0" y="347815"/>
                </a:lnTo>
                <a:lnTo>
                  <a:pt x="1952021" y="347815"/>
                </a:lnTo>
                <a:lnTo>
                  <a:pt x="1952021"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A022B"/>
        </a:solidFill>
      </p:bgPr>
    </p:bg>
    <p:spTree>
      <p:nvGrpSpPr>
        <p:cNvPr id="1" name=""/>
        <p:cNvGrpSpPr/>
        <p:nvPr/>
      </p:nvGrpSpPr>
      <p:grpSpPr>
        <a:xfrm>
          <a:off x="0" y="0"/>
          <a:ext cx="0" cy="0"/>
          <a:chOff x="0" y="0"/>
          <a:chExt cx="0" cy="0"/>
        </a:xfrm>
      </p:grpSpPr>
      <p:sp>
        <p:nvSpPr>
          <p:cNvPr name="Freeform 2" id="2"/>
          <p:cNvSpPr/>
          <p:nvPr/>
        </p:nvSpPr>
        <p:spPr>
          <a:xfrm flipH="false" flipV="false" rot="0">
            <a:off x="-26185" y="5587300"/>
            <a:ext cx="1989556" cy="3880340"/>
          </a:xfrm>
          <a:custGeom>
            <a:avLst/>
            <a:gdLst/>
            <a:ahLst/>
            <a:cxnLst/>
            <a:rect r="r" b="b" t="t" l="l"/>
            <a:pathLst>
              <a:path h="3880340" w="1989556">
                <a:moveTo>
                  <a:pt x="0" y="0"/>
                </a:moveTo>
                <a:lnTo>
                  <a:pt x="1989556" y="0"/>
                </a:lnTo>
                <a:lnTo>
                  <a:pt x="1989556" y="3880340"/>
                </a:lnTo>
                <a:lnTo>
                  <a:pt x="0" y="38803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215858" y="5587300"/>
            <a:ext cx="1989556" cy="3880340"/>
          </a:xfrm>
          <a:custGeom>
            <a:avLst/>
            <a:gdLst/>
            <a:ahLst/>
            <a:cxnLst/>
            <a:rect r="r" b="b" t="t" l="l"/>
            <a:pathLst>
              <a:path h="3880340" w="1989556">
                <a:moveTo>
                  <a:pt x="0" y="0"/>
                </a:moveTo>
                <a:lnTo>
                  <a:pt x="1989556" y="0"/>
                </a:lnTo>
                <a:lnTo>
                  <a:pt x="1989556" y="3880340"/>
                </a:lnTo>
                <a:lnTo>
                  <a:pt x="0" y="38803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4457901" y="5587300"/>
            <a:ext cx="1989556" cy="3880340"/>
          </a:xfrm>
          <a:custGeom>
            <a:avLst/>
            <a:gdLst/>
            <a:ahLst/>
            <a:cxnLst/>
            <a:rect r="r" b="b" t="t" l="l"/>
            <a:pathLst>
              <a:path h="3880340" w="1989556">
                <a:moveTo>
                  <a:pt x="0" y="0"/>
                </a:moveTo>
                <a:lnTo>
                  <a:pt x="1989556" y="0"/>
                </a:lnTo>
                <a:lnTo>
                  <a:pt x="1989556" y="3880340"/>
                </a:lnTo>
                <a:lnTo>
                  <a:pt x="0" y="38803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6699944" y="5587300"/>
            <a:ext cx="1989556" cy="3880340"/>
          </a:xfrm>
          <a:custGeom>
            <a:avLst/>
            <a:gdLst/>
            <a:ahLst/>
            <a:cxnLst/>
            <a:rect r="r" b="b" t="t" l="l"/>
            <a:pathLst>
              <a:path h="3880340" w="1989556">
                <a:moveTo>
                  <a:pt x="0" y="0"/>
                </a:moveTo>
                <a:lnTo>
                  <a:pt x="1989556" y="0"/>
                </a:lnTo>
                <a:lnTo>
                  <a:pt x="1989556" y="3880340"/>
                </a:lnTo>
                <a:lnTo>
                  <a:pt x="0" y="38803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809750" y="9258300"/>
            <a:ext cx="7315200" cy="1103930"/>
          </a:xfrm>
          <a:custGeom>
            <a:avLst/>
            <a:gdLst/>
            <a:ahLst/>
            <a:cxnLst/>
            <a:rect r="r" b="b" t="t" l="l"/>
            <a:pathLst>
              <a:path h="1103930" w="7315200">
                <a:moveTo>
                  <a:pt x="0" y="0"/>
                </a:moveTo>
                <a:lnTo>
                  <a:pt x="7315200" y="0"/>
                </a:lnTo>
                <a:lnTo>
                  <a:pt x="7315200" y="1103930"/>
                </a:lnTo>
                <a:lnTo>
                  <a:pt x="0" y="11039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true" flipV="false" rot="0">
            <a:off x="8981240" y="7974654"/>
            <a:ext cx="803498" cy="1492986"/>
          </a:xfrm>
          <a:custGeom>
            <a:avLst/>
            <a:gdLst/>
            <a:ahLst/>
            <a:cxnLst/>
            <a:rect r="r" b="b" t="t" l="l"/>
            <a:pathLst>
              <a:path h="1492986" w="803498">
                <a:moveTo>
                  <a:pt x="803497" y="0"/>
                </a:moveTo>
                <a:lnTo>
                  <a:pt x="0" y="0"/>
                </a:lnTo>
                <a:lnTo>
                  <a:pt x="0" y="1492986"/>
                </a:lnTo>
                <a:lnTo>
                  <a:pt x="803497" y="1492986"/>
                </a:lnTo>
                <a:lnTo>
                  <a:pt x="803497"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4660908" y="2817568"/>
            <a:ext cx="673632" cy="1264497"/>
          </a:xfrm>
          <a:custGeom>
            <a:avLst/>
            <a:gdLst/>
            <a:ahLst/>
            <a:cxnLst/>
            <a:rect r="r" b="b" t="t" l="l"/>
            <a:pathLst>
              <a:path h="1264497" w="673632">
                <a:moveTo>
                  <a:pt x="0" y="0"/>
                </a:moveTo>
                <a:lnTo>
                  <a:pt x="673632" y="0"/>
                </a:lnTo>
                <a:lnTo>
                  <a:pt x="673632" y="1264497"/>
                </a:lnTo>
                <a:lnTo>
                  <a:pt x="0" y="126449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5486400" y="9258300"/>
            <a:ext cx="7315200" cy="1103930"/>
          </a:xfrm>
          <a:custGeom>
            <a:avLst/>
            <a:gdLst/>
            <a:ahLst/>
            <a:cxnLst/>
            <a:rect r="r" b="b" t="t" l="l"/>
            <a:pathLst>
              <a:path h="1103930" w="7315200">
                <a:moveTo>
                  <a:pt x="0" y="0"/>
                </a:moveTo>
                <a:lnTo>
                  <a:pt x="7315200" y="0"/>
                </a:lnTo>
                <a:lnTo>
                  <a:pt x="7315200" y="1103930"/>
                </a:lnTo>
                <a:lnTo>
                  <a:pt x="0" y="11039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2782550" y="9258300"/>
            <a:ext cx="7315200" cy="1103930"/>
          </a:xfrm>
          <a:custGeom>
            <a:avLst/>
            <a:gdLst/>
            <a:ahLst/>
            <a:cxnLst/>
            <a:rect r="r" b="b" t="t" l="l"/>
            <a:pathLst>
              <a:path h="1103930" w="7315200">
                <a:moveTo>
                  <a:pt x="0" y="0"/>
                </a:moveTo>
                <a:lnTo>
                  <a:pt x="7315200" y="0"/>
                </a:lnTo>
                <a:lnTo>
                  <a:pt x="7315200" y="1103930"/>
                </a:lnTo>
                <a:lnTo>
                  <a:pt x="0" y="11039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2412154" y="1773013"/>
            <a:ext cx="8754419" cy="679488"/>
          </a:xfrm>
          <a:prstGeom prst="rect">
            <a:avLst/>
          </a:prstGeom>
        </p:spPr>
        <p:txBody>
          <a:bodyPr anchor="t" rtlCol="false" tIns="0" lIns="0" bIns="0" rIns="0">
            <a:spAutoFit/>
          </a:bodyPr>
          <a:lstStyle/>
          <a:p>
            <a:pPr algn="l">
              <a:lnSpc>
                <a:spcPts val="5599"/>
              </a:lnSpc>
              <a:spcBef>
                <a:spcPct val="0"/>
              </a:spcBef>
            </a:pPr>
            <a:r>
              <a:rPr lang="en-US" sz="3999">
                <a:solidFill>
                  <a:srgbClr val="FFFFFF"/>
                </a:solidFill>
                <a:latin typeface="Press Start 2P"/>
                <a:ea typeface="Press Start 2P"/>
                <a:cs typeface="Press Start 2P"/>
                <a:sym typeface="Press Start 2P"/>
              </a:rPr>
              <a:t>REALISTIC WORLD?</a:t>
            </a:r>
          </a:p>
        </p:txBody>
      </p:sp>
      <p:sp>
        <p:nvSpPr>
          <p:cNvPr name="TextBox 12" id="12"/>
          <p:cNvSpPr txBox="true"/>
          <p:nvPr/>
        </p:nvSpPr>
        <p:spPr>
          <a:xfrm rot="0">
            <a:off x="4310324" y="3271436"/>
            <a:ext cx="6837200" cy="1934828"/>
          </a:xfrm>
          <a:prstGeom prst="rect">
            <a:avLst/>
          </a:prstGeom>
        </p:spPr>
        <p:txBody>
          <a:bodyPr anchor="t" rtlCol="false" tIns="0" lIns="0" bIns="0" rIns="0">
            <a:spAutoFit/>
          </a:bodyPr>
          <a:lstStyle/>
          <a:p>
            <a:pPr algn="l">
              <a:lnSpc>
                <a:spcPts val="3079"/>
              </a:lnSpc>
              <a:spcBef>
                <a:spcPct val="0"/>
              </a:spcBef>
            </a:pPr>
            <a:r>
              <a:rPr lang="en-US" sz="2199">
                <a:solidFill>
                  <a:srgbClr val="FFFFFF"/>
                </a:solidFill>
                <a:latin typeface="Open Sans"/>
                <a:ea typeface="Open Sans"/>
                <a:cs typeface="Open Sans"/>
                <a:sym typeface="Open Sans"/>
              </a:rPr>
              <a:t>When you play a game, the engine is basically working overtime behind the scenes—juggling light, shadows, reflections, and motion at lightning speed so the world feels real instead of fake. Every single frame.</a:t>
            </a:r>
          </a:p>
        </p:txBody>
      </p:sp>
      <p:grpSp>
        <p:nvGrpSpPr>
          <p:cNvPr name="Group 13" id="13"/>
          <p:cNvGrpSpPr/>
          <p:nvPr/>
        </p:nvGrpSpPr>
        <p:grpSpPr>
          <a:xfrm rot="0">
            <a:off x="3210636" y="3309536"/>
            <a:ext cx="677751" cy="677751"/>
            <a:chOff x="0" y="0"/>
            <a:chExt cx="903667" cy="903667"/>
          </a:xfrm>
        </p:grpSpPr>
        <p:grpSp>
          <p:nvGrpSpPr>
            <p:cNvPr name="Group 14" id="14"/>
            <p:cNvGrpSpPr/>
            <p:nvPr/>
          </p:nvGrpSpPr>
          <p:grpSpPr>
            <a:xfrm rot="0">
              <a:off x="0" y="0"/>
              <a:ext cx="903667" cy="903667"/>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C3F1E"/>
              </a:solidFill>
            </p:spPr>
          </p:sp>
          <p:sp>
            <p:nvSpPr>
              <p:cNvPr name="TextBox 16" id="16"/>
              <p:cNvSpPr txBox="true"/>
              <p:nvPr/>
            </p:nvSpPr>
            <p:spPr>
              <a:xfrm>
                <a:off x="76200" y="28575"/>
                <a:ext cx="660400" cy="708025"/>
              </a:xfrm>
              <a:prstGeom prst="rect">
                <a:avLst/>
              </a:prstGeom>
            </p:spPr>
            <p:txBody>
              <a:bodyPr anchor="ctr" rtlCol="false" tIns="50800" lIns="50800" bIns="50800" rIns="50800"/>
              <a:lstStyle/>
              <a:p>
                <a:pPr algn="ctr">
                  <a:lnSpc>
                    <a:spcPts val="2239"/>
                  </a:lnSpc>
                </a:pPr>
              </a:p>
            </p:txBody>
          </p:sp>
        </p:grpSp>
        <p:sp>
          <p:nvSpPr>
            <p:cNvPr name="TextBox 17" id="17"/>
            <p:cNvSpPr txBox="true"/>
            <p:nvPr/>
          </p:nvSpPr>
          <p:spPr>
            <a:xfrm rot="0">
              <a:off x="121094" y="244189"/>
              <a:ext cx="661480" cy="386715"/>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01</a:t>
              </a:r>
            </a:p>
          </p:txBody>
        </p:sp>
      </p:grpSp>
      <p:sp>
        <p:nvSpPr>
          <p:cNvPr name="TextBox 18" id="18"/>
          <p:cNvSpPr txBox="true"/>
          <p:nvPr/>
        </p:nvSpPr>
        <p:spPr>
          <a:xfrm rot="0">
            <a:off x="11013926" y="5549200"/>
            <a:ext cx="6008887" cy="2715871"/>
          </a:xfrm>
          <a:prstGeom prst="rect">
            <a:avLst/>
          </a:prstGeom>
        </p:spPr>
        <p:txBody>
          <a:bodyPr anchor="t" rtlCol="false" tIns="0" lIns="0" bIns="0" rIns="0">
            <a:spAutoFit/>
          </a:bodyPr>
          <a:lstStyle/>
          <a:p>
            <a:pPr algn="l">
              <a:lnSpc>
                <a:spcPts val="3079"/>
              </a:lnSpc>
              <a:spcBef>
                <a:spcPct val="0"/>
              </a:spcBef>
            </a:pPr>
            <a:r>
              <a:rPr lang="en-US" sz="2199">
                <a:solidFill>
                  <a:srgbClr val="FFFFFF"/>
                </a:solidFill>
                <a:latin typeface="Open Sans"/>
                <a:ea typeface="Open Sans"/>
                <a:cs typeface="Open Sans"/>
                <a:sym typeface="Open Sans"/>
              </a:rPr>
              <a:t> it’s making thousands of tiny decisions: Where should this shadow fall? How shiny is that surface? How does the light bounce off this wall? You don’t notice any of this while playing—but without those nonstop calculations, the game world would instantly fall apart.</a:t>
            </a:r>
          </a:p>
        </p:txBody>
      </p:sp>
      <p:grpSp>
        <p:nvGrpSpPr>
          <p:cNvPr name="Group 19" id="19"/>
          <p:cNvGrpSpPr/>
          <p:nvPr/>
        </p:nvGrpSpPr>
        <p:grpSpPr>
          <a:xfrm rot="0">
            <a:off x="10041912" y="5587300"/>
            <a:ext cx="617773" cy="677751"/>
            <a:chOff x="0" y="0"/>
            <a:chExt cx="823698" cy="903667"/>
          </a:xfrm>
        </p:grpSpPr>
        <p:grpSp>
          <p:nvGrpSpPr>
            <p:cNvPr name="Group 20" id="20"/>
            <p:cNvGrpSpPr/>
            <p:nvPr/>
          </p:nvGrpSpPr>
          <p:grpSpPr>
            <a:xfrm rot="0">
              <a:off x="0" y="0"/>
              <a:ext cx="823698" cy="903667"/>
              <a:chOff x="0" y="0"/>
              <a:chExt cx="740871" cy="812800"/>
            </a:xfrm>
          </p:grpSpPr>
          <p:sp>
            <p:nvSpPr>
              <p:cNvPr name="Freeform 21" id="21"/>
              <p:cNvSpPr/>
              <p:nvPr/>
            </p:nvSpPr>
            <p:spPr>
              <a:xfrm flipH="false" flipV="false" rot="0">
                <a:off x="0" y="0"/>
                <a:ext cx="740871" cy="812800"/>
              </a:xfrm>
              <a:custGeom>
                <a:avLst/>
                <a:gdLst/>
                <a:ahLst/>
                <a:cxnLst/>
                <a:rect r="r" b="b" t="t" l="l"/>
                <a:pathLst>
                  <a:path h="812800" w="740871">
                    <a:moveTo>
                      <a:pt x="370436" y="0"/>
                    </a:moveTo>
                    <a:cubicBezTo>
                      <a:pt x="165850" y="0"/>
                      <a:pt x="0" y="181951"/>
                      <a:pt x="0" y="406400"/>
                    </a:cubicBezTo>
                    <a:cubicBezTo>
                      <a:pt x="0" y="630849"/>
                      <a:pt x="165850" y="812800"/>
                      <a:pt x="370436" y="812800"/>
                    </a:cubicBezTo>
                    <a:cubicBezTo>
                      <a:pt x="575022" y="812800"/>
                      <a:pt x="740871" y="630849"/>
                      <a:pt x="740871" y="406400"/>
                    </a:cubicBezTo>
                    <a:cubicBezTo>
                      <a:pt x="740871" y="181951"/>
                      <a:pt x="575022" y="0"/>
                      <a:pt x="370436" y="0"/>
                    </a:cubicBezTo>
                    <a:close/>
                  </a:path>
                </a:pathLst>
              </a:custGeom>
              <a:solidFill>
                <a:srgbClr val="029316"/>
              </a:solidFill>
            </p:spPr>
          </p:sp>
          <p:sp>
            <p:nvSpPr>
              <p:cNvPr name="TextBox 22" id="22"/>
              <p:cNvSpPr txBox="true"/>
              <p:nvPr/>
            </p:nvSpPr>
            <p:spPr>
              <a:xfrm>
                <a:off x="69457" y="28575"/>
                <a:ext cx="601958" cy="708025"/>
              </a:xfrm>
              <a:prstGeom prst="rect">
                <a:avLst/>
              </a:prstGeom>
            </p:spPr>
            <p:txBody>
              <a:bodyPr anchor="ctr" rtlCol="false" tIns="50800" lIns="50800" bIns="50800" rIns="50800"/>
              <a:lstStyle/>
              <a:p>
                <a:pPr algn="ctr">
                  <a:lnSpc>
                    <a:spcPts val="2239"/>
                  </a:lnSpc>
                </a:pPr>
              </a:p>
            </p:txBody>
          </p:sp>
        </p:grpSp>
        <p:sp>
          <p:nvSpPr>
            <p:cNvPr name="TextBox 23" id="23"/>
            <p:cNvSpPr txBox="true"/>
            <p:nvPr/>
          </p:nvSpPr>
          <p:spPr>
            <a:xfrm rot="0">
              <a:off x="110377" y="244189"/>
              <a:ext cx="602943" cy="386771"/>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02</a:t>
              </a:r>
            </a:p>
          </p:txBody>
        </p:sp>
      </p:grpSp>
      <p:sp>
        <p:nvSpPr>
          <p:cNvPr name="Freeform 24" id="24"/>
          <p:cNvSpPr/>
          <p:nvPr/>
        </p:nvSpPr>
        <p:spPr>
          <a:xfrm flipH="false" flipV="false" rot="0">
            <a:off x="-417805" y="818270"/>
            <a:ext cx="2772796" cy="494062"/>
          </a:xfrm>
          <a:custGeom>
            <a:avLst/>
            <a:gdLst/>
            <a:ahLst/>
            <a:cxnLst/>
            <a:rect r="r" b="b" t="t" l="l"/>
            <a:pathLst>
              <a:path h="494062" w="2772796">
                <a:moveTo>
                  <a:pt x="0" y="0"/>
                </a:moveTo>
                <a:lnTo>
                  <a:pt x="2772796" y="0"/>
                </a:lnTo>
                <a:lnTo>
                  <a:pt x="2772796" y="494062"/>
                </a:lnTo>
                <a:lnTo>
                  <a:pt x="0" y="49406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5" id="25"/>
          <p:cNvSpPr/>
          <p:nvPr/>
        </p:nvSpPr>
        <p:spPr>
          <a:xfrm flipH="false" flipV="false" rot="0">
            <a:off x="17022813" y="5038285"/>
            <a:ext cx="2772796" cy="494062"/>
          </a:xfrm>
          <a:custGeom>
            <a:avLst/>
            <a:gdLst/>
            <a:ahLst/>
            <a:cxnLst/>
            <a:rect r="r" b="b" t="t" l="l"/>
            <a:pathLst>
              <a:path h="494062" w="2772796">
                <a:moveTo>
                  <a:pt x="0" y="0"/>
                </a:moveTo>
                <a:lnTo>
                  <a:pt x="2772796" y="0"/>
                </a:lnTo>
                <a:lnTo>
                  <a:pt x="2772796" y="494062"/>
                </a:lnTo>
                <a:lnTo>
                  <a:pt x="0" y="49406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6" id="26"/>
          <p:cNvSpPr/>
          <p:nvPr/>
        </p:nvSpPr>
        <p:spPr>
          <a:xfrm flipH="false" flipV="false" rot="0">
            <a:off x="15334540" y="640416"/>
            <a:ext cx="1924760" cy="671916"/>
          </a:xfrm>
          <a:custGeom>
            <a:avLst/>
            <a:gdLst/>
            <a:ahLst/>
            <a:cxnLst/>
            <a:rect r="r" b="b" t="t" l="l"/>
            <a:pathLst>
              <a:path h="671916" w="1924760">
                <a:moveTo>
                  <a:pt x="0" y="0"/>
                </a:moveTo>
                <a:lnTo>
                  <a:pt x="1924760" y="0"/>
                </a:lnTo>
                <a:lnTo>
                  <a:pt x="1924760" y="671916"/>
                </a:lnTo>
                <a:lnTo>
                  <a:pt x="0" y="67191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7" id="27"/>
          <p:cNvSpPr/>
          <p:nvPr/>
        </p:nvSpPr>
        <p:spPr>
          <a:xfrm flipH="false" flipV="false" rot="0">
            <a:off x="896264" y="3482317"/>
            <a:ext cx="951586" cy="332190"/>
          </a:xfrm>
          <a:custGeom>
            <a:avLst/>
            <a:gdLst/>
            <a:ahLst/>
            <a:cxnLst/>
            <a:rect r="r" b="b" t="t" l="l"/>
            <a:pathLst>
              <a:path h="332190" w="951586">
                <a:moveTo>
                  <a:pt x="0" y="0"/>
                </a:moveTo>
                <a:lnTo>
                  <a:pt x="951586" y="0"/>
                </a:lnTo>
                <a:lnTo>
                  <a:pt x="951586" y="332189"/>
                </a:lnTo>
                <a:lnTo>
                  <a:pt x="0" y="33218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8" id="28"/>
          <p:cNvSpPr/>
          <p:nvPr/>
        </p:nvSpPr>
        <p:spPr>
          <a:xfrm flipH="true" flipV="false" rot="0">
            <a:off x="7832716" y="644363"/>
            <a:ext cx="1952021" cy="347815"/>
          </a:xfrm>
          <a:custGeom>
            <a:avLst/>
            <a:gdLst/>
            <a:ahLst/>
            <a:cxnLst/>
            <a:rect r="r" b="b" t="t" l="l"/>
            <a:pathLst>
              <a:path h="347815" w="1952021">
                <a:moveTo>
                  <a:pt x="1952021" y="0"/>
                </a:moveTo>
                <a:lnTo>
                  <a:pt x="0" y="0"/>
                </a:lnTo>
                <a:lnTo>
                  <a:pt x="0" y="347815"/>
                </a:lnTo>
                <a:lnTo>
                  <a:pt x="1952021" y="347815"/>
                </a:lnTo>
                <a:lnTo>
                  <a:pt x="1952021"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9" id="29"/>
          <p:cNvSpPr/>
          <p:nvPr/>
        </p:nvSpPr>
        <p:spPr>
          <a:xfrm flipH="false" flipV="false" rot="0">
            <a:off x="13667354" y="3588003"/>
            <a:ext cx="2772796" cy="494062"/>
          </a:xfrm>
          <a:custGeom>
            <a:avLst/>
            <a:gdLst/>
            <a:ahLst/>
            <a:cxnLst/>
            <a:rect r="r" b="b" t="t" l="l"/>
            <a:pathLst>
              <a:path h="494062" w="2772796">
                <a:moveTo>
                  <a:pt x="0" y="0"/>
                </a:moveTo>
                <a:lnTo>
                  <a:pt x="2772796" y="0"/>
                </a:lnTo>
                <a:lnTo>
                  <a:pt x="2772796" y="494062"/>
                </a:lnTo>
                <a:lnTo>
                  <a:pt x="0" y="49406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A022B"/>
        </a:solidFill>
      </p:bgPr>
    </p:bg>
    <p:spTree>
      <p:nvGrpSpPr>
        <p:cNvPr id="1" name=""/>
        <p:cNvGrpSpPr/>
        <p:nvPr/>
      </p:nvGrpSpPr>
      <p:grpSpPr>
        <a:xfrm>
          <a:off x="0" y="0"/>
          <a:ext cx="0" cy="0"/>
          <a:chOff x="0" y="0"/>
          <a:chExt cx="0" cy="0"/>
        </a:xfrm>
      </p:grpSpPr>
      <p:sp>
        <p:nvSpPr>
          <p:cNvPr name="Freeform 2" id="2"/>
          <p:cNvSpPr/>
          <p:nvPr/>
        </p:nvSpPr>
        <p:spPr>
          <a:xfrm flipH="false" flipV="false" rot="0">
            <a:off x="-1809750" y="9258300"/>
            <a:ext cx="7315200" cy="1103930"/>
          </a:xfrm>
          <a:custGeom>
            <a:avLst/>
            <a:gdLst/>
            <a:ahLst/>
            <a:cxnLst/>
            <a:rect r="r" b="b" t="t" l="l"/>
            <a:pathLst>
              <a:path h="1103930" w="7315200">
                <a:moveTo>
                  <a:pt x="0" y="0"/>
                </a:moveTo>
                <a:lnTo>
                  <a:pt x="7315200" y="0"/>
                </a:lnTo>
                <a:lnTo>
                  <a:pt x="7315200" y="1103930"/>
                </a:lnTo>
                <a:lnTo>
                  <a:pt x="0" y="11039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1458333" y="2083857"/>
            <a:ext cx="4776180" cy="7420618"/>
          </a:xfrm>
          <a:custGeom>
            <a:avLst/>
            <a:gdLst/>
            <a:ahLst/>
            <a:cxnLst/>
            <a:rect r="r" b="b" t="t" l="l"/>
            <a:pathLst>
              <a:path h="7420618" w="4776180">
                <a:moveTo>
                  <a:pt x="4776179" y="0"/>
                </a:moveTo>
                <a:lnTo>
                  <a:pt x="0" y="0"/>
                </a:lnTo>
                <a:lnTo>
                  <a:pt x="0" y="7420618"/>
                </a:lnTo>
                <a:lnTo>
                  <a:pt x="4776179" y="7420618"/>
                </a:lnTo>
                <a:lnTo>
                  <a:pt x="4776179"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5486400" y="9258300"/>
            <a:ext cx="7315200" cy="1103930"/>
          </a:xfrm>
          <a:custGeom>
            <a:avLst/>
            <a:gdLst/>
            <a:ahLst/>
            <a:cxnLst/>
            <a:rect r="r" b="b" t="t" l="l"/>
            <a:pathLst>
              <a:path h="1103930" w="7315200">
                <a:moveTo>
                  <a:pt x="0" y="0"/>
                </a:moveTo>
                <a:lnTo>
                  <a:pt x="7315200" y="0"/>
                </a:lnTo>
                <a:lnTo>
                  <a:pt x="7315200" y="1103930"/>
                </a:lnTo>
                <a:lnTo>
                  <a:pt x="0" y="11039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2782550" y="9258300"/>
            <a:ext cx="7315200" cy="1103930"/>
          </a:xfrm>
          <a:custGeom>
            <a:avLst/>
            <a:gdLst/>
            <a:ahLst/>
            <a:cxnLst/>
            <a:rect r="r" b="b" t="t" l="l"/>
            <a:pathLst>
              <a:path h="1103930" w="7315200">
                <a:moveTo>
                  <a:pt x="0" y="0"/>
                </a:moveTo>
                <a:lnTo>
                  <a:pt x="7315200" y="0"/>
                </a:lnTo>
                <a:lnTo>
                  <a:pt x="7315200" y="1103930"/>
                </a:lnTo>
                <a:lnTo>
                  <a:pt x="0" y="11039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1088847" y="7291376"/>
            <a:ext cx="1126068" cy="1126068"/>
          </a:xfrm>
          <a:custGeom>
            <a:avLst/>
            <a:gdLst/>
            <a:ahLst/>
            <a:cxnLst/>
            <a:rect r="r" b="b" t="t" l="l"/>
            <a:pathLst>
              <a:path h="1126068" w="1126068">
                <a:moveTo>
                  <a:pt x="0" y="0"/>
                </a:moveTo>
                <a:lnTo>
                  <a:pt x="1126068" y="0"/>
                </a:lnTo>
                <a:lnTo>
                  <a:pt x="1126068" y="1126068"/>
                </a:lnTo>
                <a:lnTo>
                  <a:pt x="0" y="112606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1847850" y="1652295"/>
            <a:ext cx="8055131" cy="1811075"/>
          </a:xfrm>
          <a:prstGeom prst="rect">
            <a:avLst/>
          </a:prstGeom>
        </p:spPr>
        <p:txBody>
          <a:bodyPr anchor="t" rtlCol="false" tIns="0" lIns="0" bIns="0" rIns="0">
            <a:spAutoFit/>
          </a:bodyPr>
          <a:lstStyle/>
          <a:p>
            <a:pPr algn="l">
              <a:lnSpc>
                <a:spcPts val="7280"/>
              </a:lnSpc>
              <a:spcBef>
                <a:spcPct val="0"/>
              </a:spcBef>
            </a:pPr>
            <a:r>
              <a:rPr lang="en-US" sz="5200">
                <a:solidFill>
                  <a:srgbClr val="FFFFFF"/>
                </a:solidFill>
                <a:latin typeface="Press Start 2P"/>
                <a:ea typeface="Press Start 2P"/>
                <a:cs typeface="Press Start 2P"/>
                <a:sym typeface="Press Start 2P"/>
              </a:rPr>
              <a:t>SIMULATING REALITY</a:t>
            </a:r>
          </a:p>
        </p:txBody>
      </p:sp>
      <p:grpSp>
        <p:nvGrpSpPr>
          <p:cNvPr name="Group 8" id="8"/>
          <p:cNvGrpSpPr/>
          <p:nvPr/>
        </p:nvGrpSpPr>
        <p:grpSpPr>
          <a:xfrm rot="0">
            <a:off x="1508975" y="4465749"/>
            <a:ext cx="8886070" cy="2551364"/>
            <a:chOff x="0" y="0"/>
            <a:chExt cx="11848093" cy="3401818"/>
          </a:xfrm>
        </p:grpSpPr>
        <p:grpSp>
          <p:nvGrpSpPr>
            <p:cNvPr name="Group 9" id="9"/>
            <p:cNvGrpSpPr/>
            <p:nvPr/>
          </p:nvGrpSpPr>
          <p:grpSpPr>
            <a:xfrm rot="0">
              <a:off x="0" y="0"/>
              <a:ext cx="903667" cy="903667"/>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561D3"/>
              </a:solidFill>
            </p:spPr>
          </p:sp>
          <p:sp>
            <p:nvSpPr>
              <p:cNvPr name="TextBox 11" id="11"/>
              <p:cNvSpPr txBox="true"/>
              <p:nvPr/>
            </p:nvSpPr>
            <p:spPr>
              <a:xfrm>
                <a:off x="76200" y="28575"/>
                <a:ext cx="660400" cy="708025"/>
              </a:xfrm>
              <a:prstGeom prst="rect">
                <a:avLst/>
              </a:prstGeom>
            </p:spPr>
            <p:txBody>
              <a:bodyPr anchor="ctr" rtlCol="false" tIns="50800" lIns="50800" bIns="50800" rIns="50800"/>
              <a:lstStyle/>
              <a:p>
                <a:pPr algn="ctr">
                  <a:lnSpc>
                    <a:spcPts val="2239"/>
                  </a:lnSpc>
                </a:pPr>
              </a:p>
            </p:txBody>
          </p:sp>
        </p:grpSp>
        <p:sp>
          <p:nvSpPr>
            <p:cNvPr name="TextBox 12" id="12"/>
            <p:cNvSpPr txBox="true"/>
            <p:nvPr/>
          </p:nvSpPr>
          <p:spPr>
            <a:xfrm rot="0">
              <a:off x="1259911" y="92449"/>
              <a:ext cx="10588182" cy="3309369"/>
            </a:xfrm>
            <a:prstGeom prst="rect">
              <a:avLst/>
            </a:prstGeom>
          </p:spPr>
          <p:txBody>
            <a:bodyPr anchor="t" rtlCol="false" tIns="0" lIns="0" bIns="0" rIns="0">
              <a:spAutoFit/>
            </a:bodyPr>
            <a:lstStyle/>
            <a:p>
              <a:pPr algn="l">
                <a:lnSpc>
                  <a:spcPts val="3359"/>
                </a:lnSpc>
                <a:spcBef>
                  <a:spcPct val="0"/>
                </a:spcBef>
              </a:pPr>
              <a:r>
                <a:rPr lang="en-US" sz="2399">
                  <a:solidFill>
                    <a:srgbClr val="FFFFFF"/>
                  </a:solidFill>
                  <a:latin typeface="Open Sans"/>
                  <a:ea typeface="Open Sans"/>
                  <a:cs typeface="Open Sans"/>
                  <a:sym typeface="Open Sans"/>
                </a:rPr>
                <a:t>Now here’s the twist: game engines like Unity turn into a playground for Monte Carlo ray tracing. What begins as game rendering becomes a visual experiment, where noise fades, samples increase, and images slowly converge—showing probability and realism in action, all on the same screen. </a:t>
              </a:r>
            </a:p>
          </p:txBody>
        </p:sp>
        <p:sp>
          <p:nvSpPr>
            <p:cNvPr name="TextBox 13" id="13"/>
            <p:cNvSpPr txBox="true"/>
            <p:nvPr/>
          </p:nvSpPr>
          <p:spPr>
            <a:xfrm rot="0">
              <a:off x="121094" y="244189"/>
              <a:ext cx="661480" cy="386771"/>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03</a:t>
              </a:r>
            </a:p>
          </p:txBody>
        </p:sp>
      </p:grpSp>
      <p:sp>
        <p:nvSpPr>
          <p:cNvPr name="Freeform 14" id="14"/>
          <p:cNvSpPr/>
          <p:nvPr/>
        </p:nvSpPr>
        <p:spPr>
          <a:xfrm flipH="false" flipV="false" rot="0">
            <a:off x="16133232" y="4665759"/>
            <a:ext cx="1126068" cy="1126068"/>
          </a:xfrm>
          <a:custGeom>
            <a:avLst/>
            <a:gdLst/>
            <a:ahLst/>
            <a:cxnLst/>
            <a:rect r="r" b="b" t="t" l="l"/>
            <a:pathLst>
              <a:path h="1126068" w="1126068">
                <a:moveTo>
                  <a:pt x="0" y="0"/>
                </a:moveTo>
                <a:lnTo>
                  <a:pt x="1126068" y="0"/>
                </a:lnTo>
                <a:lnTo>
                  <a:pt x="1126068" y="1126068"/>
                </a:lnTo>
                <a:lnTo>
                  <a:pt x="0" y="112606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false" rot="0">
            <a:off x="10395044" y="751416"/>
            <a:ext cx="1126068" cy="1126068"/>
          </a:xfrm>
          <a:custGeom>
            <a:avLst/>
            <a:gdLst/>
            <a:ahLst/>
            <a:cxnLst/>
            <a:rect r="r" b="b" t="t" l="l"/>
            <a:pathLst>
              <a:path h="1126068" w="1126068">
                <a:moveTo>
                  <a:pt x="0" y="0"/>
                </a:moveTo>
                <a:lnTo>
                  <a:pt x="1126068" y="0"/>
                </a:lnTo>
                <a:lnTo>
                  <a:pt x="1126068" y="1126068"/>
                </a:lnTo>
                <a:lnTo>
                  <a:pt x="0" y="112606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6" id="16"/>
          <p:cNvSpPr/>
          <p:nvPr/>
        </p:nvSpPr>
        <p:spPr>
          <a:xfrm flipH="false" flipV="false" rot="0">
            <a:off x="15334540" y="640416"/>
            <a:ext cx="1924760" cy="671916"/>
          </a:xfrm>
          <a:custGeom>
            <a:avLst/>
            <a:gdLst/>
            <a:ahLst/>
            <a:cxnLst/>
            <a:rect r="r" b="b" t="t" l="l"/>
            <a:pathLst>
              <a:path h="671916" w="1924760">
                <a:moveTo>
                  <a:pt x="0" y="0"/>
                </a:moveTo>
                <a:lnTo>
                  <a:pt x="1924760" y="0"/>
                </a:lnTo>
                <a:lnTo>
                  <a:pt x="1924760" y="671916"/>
                </a:lnTo>
                <a:lnTo>
                  <a:pt x="0" y="67191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7" id="17"/>
          <p:cNvSpPr/>
          <p:nvPr/>
        </p:nvSpPr>
        <p:spPr>
          <a:xfrm flipH="false" flipV="false" rot="0">
            <a:off x="-744033" y="3463371"/>
            <a:ext cx="1924760" cy="671916"/>
          </a:xfrm>
          <a:custGeom>
            <a:avLst/>
            <a:gdLst/>
            <a:ahLst/>
            <a:cxnLst/>
            <a:rect r="r" b="b" t="t" l="l"/>
            <a:pathLst>
              <a:path h="671916" w="1924760">
                <a:moveTo>
                  <a:pt x="0" y="0"/>
                </a:moveTo>
                <a:lnTo>
                  <a:pt x="1924760" y="0"/>
                </a:lnTo>
                <a:lnTo>
                  <a:pt x="1924760" y="671916"/>
                </a:lnTo>
                <a:lnTo>
                  <a:pt x="0" y="67191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8" id="18"/>
          <p:cNvSpPr/>
          <p:nvPr/>
        </p:nvSpPr>
        <p:spPr>
          <a:xfrm flipH="false" flipV="false" rot="0">
            <a:off x="10395044" y="5433365"/>
            <a:ext cx="969082" cy="338298"/>
          </a:xfrm>
          <a:custGeom>
            <a:avLst/>
            <a:gdLst/>
            <a:ahLst/>
            <a:cxnLst/>
            <a:rect r="r" b="b" t="t" l="l"/>
            <a:pathLst>
              <a:path h="338298" w="969082">
                <a:moveTo>
                  <a:pt x="0" y="0"/>
                </a:moveTo>
                <a:lnTo>
                  <a:pt x="969082" y="0"/>
                </a:lnTo>
                <a:lnTo>
                  <a:pt x="969082" y="338298"/>
                </a:lnTo>
                <a:lnTo>
                  <a:pt x="0" y="33829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9" id="19"/>
          <p:cNvSpPr/>
          <p:nvPr/>
        </p:nvSpPr>
        <p:spPr>
          <a:xfrm flipH="false" flipV="false" rot="0">
            <a:off x="2386897" y="471267"/>
            <a:ext cx="969082" cy="338298"/>
          </a:xfrm>
          <a:custGeom>
            <a:avLst/>
            <a:gdLst/>
            <a:ahLst/>
            <a:cxnLst/>
            <a:rect r="r" b="b" t="t" l="l"/>
            <a:pathLst>
              <a:path h="338298" w="969082">
                <a:moveTo>
                  <a:pt x="0" y="0"/>
                </a:moveTo>
                <a:lnTo>
                  <a:pt x="969082" y="0"/>
                </a:lnTo>
                <a:lnTo>
                  <a:pt x="969082" y="338298"/>
                </a:lnTo>
                <a:lnTo>
                  <a:pt x="0" y="33829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A022B"/>
        </a:solidFill>
      </p:bgPr>
    </p:bg>
    <p:spTree>
      <p:nvGrpSpPr>
        <p:cNvPr id="1" name=""/>
        <p:cNvGrpSpPr/>
        <p:nvPr/>
      </p:nvGrpSpPr>
      <p:grpSpPr>
        <a:xfrm>
          <a:off x="0" y="0"/>
          <a:ext cx="0" cy="0"/>
          <a:chOff x="0" y="0"/>
          <a:chExt cx="0" cy="0"/>
        </a:xfrm>
      </p:grpSpPr>
      <p:sp>
        <p:nvSpPr>
          <p:cNvPr name="Freeform 2" id="2"/>
          <p:cNvSpPr/>
          <p:nvPr/>
        </p:nvSpPr>
        <p:spPr>
          <a:xfrm flipH="false" flipV="false" rot="0">
            <a:off x="-733031" y="5315832"/>
            <a:ext cx="3882875" cy="4114800"/>
          </a:xfrm>
          <a:custGeom>
            <a:avLst/>
            <a:gdLst/>
            <a:ahLst/>
            <a:cxnLst/>
            <a:rect r="r" b="b" t="t" l="l"/>
            <a:pathLst>
              <a:path h="4114800" w="3882875">
                <a:moveTo>
                  <a:pt x="0" y="0"/>
                </a:moveTo>
                <a:lnTo>
                  <a:pt x="3882875" y="0"/>
                </a:lnTo>
                <a:lnTo>
                  <a:pt x="3882875"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5138156" y="5315832"/>
            <a:ext cx="3882875" cy="4114800"/>
          </a:xfrm>
          <a:custGeom>
            <a:avLst/>
            <a:gdLst/>
            <a:ahLst/>
            <a:cxnLst/>
            <a:rect r="r" b="b" t="t" l="l"/>
            <a:pathLst>
              <a:path h="4114800" w="3882875">
                <a:moveTo>
                  <a:pt x="3882875" y="0"/>
                </a:moveTo>
                <a:lnTo>
                  <a:pt x="0" y="0"/>
                </a:lnTo>
                <a:lnTo>
                  <a:pt x="0" y="4114800"/>
                </a:lnTo>
                <a:lnTo>
                  <a:pt x="3882875" y="4114800"/>
                </a:lnTo>
                <a:lnTo>
                  <a:pt x="388287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809750" y="9258300"/>
            <a:ext cx="7315200" cy="1103930"/>
          </a:xfrm>
          <a:custGeom>
            <a:avLst/>
            <a:gdLst/>
            <a:ahLst/>
            <a:cxnLst/>
            <a:rect r="r" b="b" t="t" l="l"/>
            <a:pathLst>
              <a:path h="1103930" w="7315200">
                <a:moveTo>
                  <a:pt x="0" y="0"/>
                </a:moveTo>
                <a:lnTo>
                  <a:pt x="7315200" y="0"/>
                </a:lnTo>
                <a:lnTo>
                  <a:pt x="7315200" y="1103930"/>
                </a:lnTo>
                <a:lnTo>
                  <a:pt x="0" y="11039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7576179" y="7942628"/>
            <a:ext cx="3135642" cy="1488005"/>
          </a:xfrm>
          <a:custGeom>
            <a:avLst/>
            <a:gdLst/>
            <a:ahLst/>
            <a:cxnLst/>
            <a:rect r="r" b="b" t="t" l="l"/>
            <a:pathLst>
              <a:path h="1488005" w="3135642">
                <a:moveTo>
                  <a:pt x="0" y="0"/>
                </a:moveTo>
                <a:lnTo>
                  <a:pt x="3135642" y="0"/>
                </a:lnTo>
                <a:lnTo>
                  <a:pt x="3135642" y="1488004"/>
                </a:lnTo>
                <a:lnTo>
                  <a:pt x="0" y="14880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5486400" y="9258300"/>
            <a:ext cx="7315200" cy="1103930"/>
          </a:xfrm>
          <a:custGeom>
            <a:avLst/>
            <a:gdLst/>
            <a:ahLst/>
            <a:cxnLst/>
            <a:rect r="r" b="b" t="t" l="l"/>
            <a:pathLst>
              <a:path h="1103930" w="7315200">
                <a:moveTo>
                  <a:pt x="0" y="0"/>
                </a:moveTo>
                <a:lnTo>
                  <a:pt x="7315200" y="0"/>
                </a:lnTo>
                <a:lnTo>
                  <a:pt x="7315200" y="1103930"/>
                </a:lnTo>
                <a:lnTo>
                  <a:pt x="0" y="11039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2782550" y="9258300"/>
            <a:ext cx="7315200" cy="1103930"/>
          </a:xfrm>
          <a:custGeom>
            <a:avLst/>
            <a:gdLst/>
            <a:ahLst/>
            <a:cxnLst/>
            <a:rect r="r" b="b" t="t" l="l"/>
            <a:pathLst>
              <a:path h="1103930" w="7315200">
                <a:moveTo>
                  <a:pt x="0" y="0"/>
                </a:moveTo>
                <a:lnTo>
                  <a:pt x="7315200" y="0"/>
                </a:lnTo>
                <a:lnTo>
                  <a:pt x="7315200" y="1103930"/>
                </a:lnTo>
                <a:lnTo>
                  <a:pt x="0" y="11039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553324" y="536978"/>
            <a:ext cx="4381715" cy="780742"/>
          </a:xfrm>
          <a:custGeom>
            <a:avLst/>
            <a:gdLst/>
            <a:ahLst/>
            <a:cxnLst/>
            <a:rect r="r" b="b" t="t" l="l"/>
            <a:pathLst>
              <a:path h="780742" w="4381715">
                <a:moveTo>
                  <a:pt x="0" y="0"/>
                </a:moveTo>
                <a:lnTo>
                  <a:pt x="4381715" y="0"/>
                </a:lnTo>
                <a:lnTo>
                  <a:pt x="4381715" y="780742"/>
                </a:lnTo>
                <a:lnTo>
                  <a:pt x="0" y="78074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true" flipV="false" rot="0">
            <a:off x="14459609" y="536978"/>
            <a:ext cx="4381715" cy="780742"/>
          </a:xfrm>
          <a:custGeom>
            <a:avLst/>
            <a:gdLst/>
            <a:ahLst/>
            <a:cxnLst/>
            <a:rect r="r" b="b" t="t" l="l"/>
            <a:pathLst>
              <a:path h="780742" w="4381715">
                <a:moveTo>
                  <a:pt x="4381715" y="0"/>
                </a:moveTo>
                <a:lnTo>
                  <a:pt x="0" y="0"/>
                </a:lnTo>
                <a:lnTo>
                  <a:pt x="0" y="780742"/>
                </a:lnTo>
                <a:lnTo>
                  <a:pt x="4381715" y="780742"/>
                </a:lnTo>
                <a:lnTo>
                  <a:pt x="4381715"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0" id="10"/>
          <p:cNvSpPr txBox="true"/>
          <p:nvPr/>
        </p:nvSpPr>
        <p:spPr>
          <a:xfrm rot="0">
            <a:off x="4178934" y="3103693"/>
            <a:ext cx="9930133" cy="887123"/>
          </a:xfrm>
          <a:prstGeom prst="rect">
            <a:avLst/>
          </a:prstGeom>
        </p:spPr>
        <p:txBody>
          <a:bodyPr anchor="t" rtlCol="false" tIns="0" lIns="0" bIns="0" rIns="0">
            <a:spAutoFit/>
          </a:bodyPr>
          <a:lstStyle/>
          <a:p>
            <a:pPr algn="ctr">
              <a:lnSpc>
                <a:spcPts val="7280"/>
              </a:lnSpc>
              <a:spcBef>
                <a:spcPct val="0"/>
              </a:spcBef>
            </a:pPr>
            <a:r>
              <a:rPr lang="en-US" sz="5200">
                <a:solidFill>
                  <a:srgbClr val="FFFFFF"/>
                </a:solidFill>
                <a:latin typeface="Press Start 2P"/>
                <a:ea typeface="Press Start 2P"/>
                <a:cs typeface="Press Start 2P"/>
                <a:sym typeface="Press Start 2P"/>
              </a:rPr>
              <a:t>MONTE CARLO ?</a:t>
            </a:r>
          </a:p>
        </p:txBody>
      </p:sp>
      <p:sp>
        <p:nvSpPr>
          <p:cNvPr name="Freeform 11" id="11"/>
          <p:cNvSpPr/>
          <p:nvPr/>
        </p:nvSpPr>
        <p:spPr>
          <a:xfrm flipH="false" flipV="false" rot="0">
            <a:off x="5986470" y="7503760"/>
            <a:ext cx="770749" cy="1926872"/>
          </a:xfrm>
          <a:custGeom>
            <a:avLst/>
            <a:gdLst/>
            <a:ahLst/>
            <a:cxnLst/>
            <a:rect r="r" b="b" t="t" l="l"/>
            <a:pathLst>
              <a:path h="1926872" w="770749">
                <a:moveTo>
                  <a:pt x="0" y="0"/>
                </a:moveTo>
                <a:lnTo>
                  <a:pt x="770748" y="0"/>
                </a:lnTo>
                <a:lnTo>
                  <a:pt x="770748" y="1926872"/>
                </a:lnTo>
                <a:lnTo>
                  <a:pt x="0" y="1926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4720921" y="7503760"/>
            <a:ext cx="770749" cy="1926872"/>
          </a:xfrm>
          <a:custGeom>
            <a:avLst/>
            <a:gdLst/>
            <a:ahLst/>
            <a:cxnLst/>
            <a:rect r="r" b="b" t="t" l="l"/>
            <a:pathLst>
              <a:path h="1926872" w="770749">
                <a:moveTo>
                  <a:pt x="0" y="0"/>
                </a:moveTo>
                <a:lnTo>
                  <a:pt x="770748" y="0"/>
                </a:lnTo>
                <a:lnTo>
                  <a:pt x="770748" y="1926872"/>
                </a:lnTo>
                <a:lnTo>
                  <a:pt x="0" y="1926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3455372" y="7503760"/>
            <a:ext cx="770749" cy="1926872"/>
          </a:xfrm>
          <a:custGeom>
            <a:avLst/>
            <a:gdLst/>
            <a:ahLst/>
            <a:cxnLst/>
            <a:rect r="r" b="b" t="t" l="l"/>
            <a:pathLst>
              <a:path h="1926872" w="770749">
                <a:moveTo>
                  <a:pt x="0" y="0"/>
                </a:moveTo>
                <a:lnTo>
                  <a:pt x="770748" y="0"/>
                </a:lnTo>
                <a:lnTo>
                  <a:pt x="770748" y="1926872"/>
                </a:lnTo>
                <a:lnTo>
                  <a:pt x="0" y="1926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true" flipV="false" rot="0">
            <a:off x="14061880" y="7503760"/>
            <a:ext cx="770749" cy="1926872"/>
          </a:xfrm>
          <a:custGeom>
            <a:avLst/>
            <a:gdLst/>
            <a:ahLst/>
            <a:cxnLst/>
            <a:rect r="r" b="b" t="t" l="l"/>
            <a:pathLst>
              <a:path h="1926872" w="770749">
                <a:moveTo>
                  <a:pt x="770748" y="0"/>
                </a:moveTo>
                <a:lnTo>
                  <a:pt x="0" y="0"/>
                </a:lnTo>
                <a:lnTo>
                  <a:pt x="0" y="1926872"/>
                </a:lnTo>
                <a:lnTo>
                  <a:pt x="770748" y="1926872"/>
                </a:lnTo>
                <a:lnTo>
                  <a:pt x="770748"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5" id="15"/>
          <p:cNvSpPr/>
          <p:nvPr/>
        </p:nvSpPr>
        <p:spPr>
          <a:xfrm flipH="true" flipV="false" rot="0">
            <a:off x="12796331" y="7503760"/>
            <a:ext cx="770749" cy="1926872"/>
          </a:xfrm>
          <a:custGeom>
            <a:avLst/>
            <a:gdLst/>
            <a:ahLst/>
            <a:cxnLst/>
            <a:rect r="r" b="b" t="t" l="l"/>
            <a:pathLst>
              <a:path h="1926872" w="770749">
                <a:moveTo>
                  <a:pt x="770748" y="0"/>
                </a:moveTo>
                <a:lnTo>
                  <a:pt x="0" y="0"/>
                </a:lnTo>
                <a:lnTo>
                  <a:pt x="0" y="1926872"/>
                </a:lnTo>
                <a:lnTo>
                  <a:pt x="770748" y="1926872"/>
                </a:lnTo>
                <a:lnTo>
                  <a:pt x="770748"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6" id="16"/>
          <p:cNvSpPr/>
          <p:nvPr/>
        </p:nvSpPr>
        <p:spPr>
          <a:xfrm flipH="true" flipV="false" rot="0">
            <a:off x="11530782" y="7503760"/>
            <a:ext cx="770749" cy="1926872"/>
          </a:xfrm>
          <a:custGeom>
            <a:avLst/>
            <a:gdLst/>
            <a:ahLst/>
            <a:cxnLst/>
            <a:rect r="r" b="b" t="t" l="l"/>
            <a:pathLst>
              <a:path h="1926872" w="770749">
                <a:moveTo>
                  <a:pt x="770748" y="0"/>
                </a:moveTo>
                <a:lnTo>
                  <a:pt x="0" y="0"/>
                </a:lnTo>
                <a:lnTo>
                  <a:pt x="0" y="1926872"/>
                </a:lnTo>
                <a:lnTo>
                  <a:pt x="770748" y="1926872"/>
                </a:lnTo>
                <a:lnTo>
                  <a:pt x="770748"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7" id="17"/>
          <p:cNvSpPr/>
          <p:nvPr/>
        </p:nvSpPr>
        <p:spPr>
          <a:xfrm flipH="false" flipV="false" rot="0">
            <a:off x="1027747" y="3103938"/>
            <a:ext cx="1924760" cy="671916"/>
          </a:xfrm>
          <a:custGeom>
            <a:avLst/>
            <a:gdLst/>
            <a:ahLst/>
            <a:cxnLst/>
            <a:rect r="r" b="b" t="t" l="l"/>
            <a:pathLst>
              <a:path h="671916" w="1924760">
                <a:moveTo>
                  <a:pt x="0" y="0"/>
                </a:moveTo>
                <a:lnTo>
                  <a:pt x="1924760" y="0"/>
                </a:lnTo>
                <a:lnTo>
                  <a:pt x="1924760" y="671916"/>
                </a:lnTo>
                <a:lnTo>
                  <a:pt x="0" y="67191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8" id="18"/>
          <p:cNvSpPr/>
          <p:nvPr/>
        </p:nvSpPr>
        <p:spPr>
          <a:xfrm flipH="true" flipV="false" rot="0">
            <a:off x="15334540" y="3103938"/>
            <a:ext cx="1924760" cy="671916"/>
          </a:xfrm>
          <a:custGeom>
            <a:avLst/>
            <a:gdLst/>
            <a:ahLst/>
            <a:cxnLst/>
            <a:rect r="r" b="b" t="t" l="l"/>
            <a:pathLst>
              <a:path h="671916" w="1924760">
                <a:moveTo>
                  <a:pt x="1924760" y="0"/>
                </a:moveTo>
                <a:lnTo>
                  <a:pt x="0" y="0"/>
                </a:lnTo>
                <a:lnTo>
                  <a:pt x="0" y="671916"/>
                </a:lnTo>
                <a:lnTo>
                  <a:pt x="1924760" y="671916"/>
                </a:lnTo>
                <a:lnTo>
                  <a:pt x="192476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9" id="19"/>
          <p:cNvSpPr txBox="true"/>
          <p:nvPr/>
        </p:nvSpPr>
        <p:spPr>
          <a:xfrm rot="0">
            <a:off x="2594250" y="4666482"/>
            <a:ext cx="13099500" cy="1780613"/>
          </a:xfrm>
          <a:prstGeom prst="rect">
            <a:avLst/>
          </a:prstGeom>
        </p:spPr>
        <p:txBody>
          <a:bodyPr anchor="t" rtlCol="false" tIns="0" lIns="0" bIns="0" rIns="0">
            <a:spAutoFit/>
          </a:bodyPr>
          <a:lstStyle/>
          <a:p>
            <a:pPr algn="ctr">
              <a:lnSpc>
                <a:spcPts val="4759"/>
              </a:lnSpc>
              <a:spcBef>
                <a:spcPct val="0"/>
              </a:spcBef>
            </a:pPr>
            <a:r>
              <a:rPr lang="en-US" b="true" sz="3399">
                <a:solidFill>
                  <a:srgbClr val="FFFFFF"/>
                </a:solidFill>
                <a:latin typeface="Open Sans Bold"/>
                <a:ea typeface="Open Sans Bold"/>
                <a:cs typeface="Open Sans Bold"/>
                <a:sym typeface="Open Sans Bold"/>
              </a:rPr>
              <a:t>MONTE CARLO RAY TRACING IS A RENDERING TECHNIQUE THAT USES RANDOM SAMPLING TO ESTIMATE HOW LIGHT IS TRANSPORTED IN A SCENE.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A022B"/>
        </a:solidFill>
      </p:bgPr>
    </p:bg>
    <p:spTree>
      <p:nvGrpSpPr>
        <p:cNvPr id="1" name=""/>
        <p:cNvGrpSpPr/>
        <p:nvPr/>
      </p:nvGrpSpPr>
      <p:grpSpPr>
        <a:xfrm>
          <a:off x="0" y="0"/>
          <a:ext cx="0" cy="0"/>
          <a:chOff x="0" y="0"/>
          <a:chExt cx="0" cy="0"/>
        </a:xfrm>
      </p:grpSpPr>
      <p:sp>
        <p:nvSpPr>
          <p:cNvPr name="Freeform 2" id="2"/>
          <p:cNvSpPr/>
          <p:nvPr/>
        </p:nvSpPr>
        <p:spPr>
          <a:xfrm flipH="false" flipV="false" rot="0">
            <a:off x="3822692" y="4750961"/>
            <a:ext cx="10636917" cy="1807925"/>
          </a:xfrm>
          <a:custGeom>
            <a:avLst/>
            <a:gdLst/>
            <a:ahLst/>
            <a:cxnLst/>
            <a:rect r="r" b="b" t="t" l="l"/>
            <a:pathLst>
              <a:path h="1807925" w="10636917">
                <a:moveTo>
                  <a:pt x="0" y="0"/>
                </a:moveTo>
                <a:lnTo>
                  <a:pt x="10636917" y="0"/>
                </a:lnTo>
                <a:lnTo>
                  <a:pt x="10636917" y="1807925"/>
                </a:lnTo>
                <a:lnTo>
                  <a:pt x="0" y="1807925"/>
                </a:lnTo>
                <a:lnTo>
                  <a:pt x="0" y="0"/>
                </a:lnTo>
                <a:close/>
              </a:path>
            </a:pathLst>
          </a:custGeom>
          <a:blipFill>
            <a:blip r:embed="rId2"/>
            <a:stretch>
              <a:fillRect l="0" t="0" r="0" b="0"/>
            </a:stretch>
          </a:blipFill>
        </p:spPr>
      </p:sp>
      <p:sp>
        <p:nvSpPr>
          <p:cNvPr name="Freeform 3" id="3"/>
          <p:cNvSpPr/>
          <p:nvPr/>
        </p:nvSpPr>
        <p:spPr>
          <a:xfrm flipH="false" flipV="false" rot="0">
            <a:off x="-733031" y="5315832"/>
            <a:ext cx="3882875" cy="4114800"/>
          </a:xfrm>
          <a:custGeom>
            <a:avLst/>
            <a:gdLst/>
            <a:ahLst/>
            <a:cxnLst/>
            <a:rect r="r" b="b" t="t" l="l"/>
            <a:pathLst>
              <a:path h="4114800" w="3882875">
                <a:moveTo>
                  <a:pt x="0" y="0"/>
                </a:moveTo>
                <a:lnTo>
                  <a:pt x="3882875" y="0"/>
                </a:lnTo>
                <a:lnTo>
                  <a:pt x="3882875"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5138156" y="5315832"/>
            <a:ext cx="3882875" cy="4114800"/>
          </a:xfrm>
          <a:custGeom>
            <a:avLst/>
            <a:gdLst/>
            <a:ahLst/>
            <a:cxnLst/>
            <a:rect r="r" b="b" t="t" l="l"/>
            <a:pathLst>
              <a:path h="4114800" w="3882875">
                <a:moveTo>
                  <a:pt x="3882875" y="0"/>
                </a:moveTo>
                <a:lnTo>
                  <a:pt x="0" y="0"/>
                </a:lnTo>
                <a:lnTo>
                  <a:pt x="0" y="4114800"/>
                </a:lnTo>
                <a:lnTo>
                  <a:pt x="3882875" y="4114800"/>
                </a:lnTo>
                <a:lnTo>
                  <a:pt x="3882875"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809750" y="9258300"/>
            <a:ext cx="7315200" cy="1103930"/>
          </a:xfrm>
          <a:custGeom>
            <a:avLst/>
            <a:gdLst/>
            <a:ahLst/>
            <a:cxnLst/>
            <a:rect r="r" b="b" t="t" l="l"/>
            <a:pathLst>
              <a:path h="1103930" w="7315200">
                <a:moveTo>
                  <a:pt x="0" y="0"/>
                </a:moveTo>
                <a:lnTo>
                  <a:pt x="7315200" y="0"/>
                </a:lnTo>
                <a:lnTo>
                  <a:pt x="7315200" y="1103930"/>
                </a:lnTo>
                <a:lnTo>
                  <a:pt x="0" y="110393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5486400" y="9258300"/>
            <a:ext cx="7315200" cy="1103930"/>
          </a:xfrm>
          <a:custGeom>
            <a:avLst/>
            <a:gdLst/>
            <a:ahLst/>
            <a:cxnLst/>
            <a:rect r="r" b="b" t="t" l="l"/>
            <a:pathLst>
              <a:path h="1103930" w="7315200">
                <a:moveTo>
                  <a:pt x="0" y="0"/>
                </a:moveTo>
                <a:lnTo>
                  <a:pt x="7315200" y="0"/>
                </a:lnTo>
                <a:lnTo>
                  <a:pt x="7315200" y="1103930"/>
                </a:lnTo>
                <a:lnTo>
                  <a:pt x="0" y="110393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2782550" y="9258300"/>
            <a:ext cx="7315200" cy="1103930"/>
          </a:xfrm>
          <a:custGeom>
            <a:avLst/>
            <a:gdLst/>
            <a:ahLst/>
            <a:cxnLst/>
            <a:rect r="r" b="b" t="t" l="l"/>
            <a:pathLst>
              <a:path h="1103930" w="7315200">
                <a:moveTo>
                  <a:pt x="0" y="0"/>
                </a:moveTo>
                <a:lnTo>
                  <a:pt x="7315200" y="0"/>
                </a:lnTo>
                <a:lnTo>
                  <a:pt x="7315200" y="1103930"/>
                </a:lnTo>
                <a:lnTo>
                  <a:pt x="0" y="110393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553324" y="536978"/>
            <a:ext cx="4381715" cy="780742"/>
          </a:xfrm>
          <a:custGeom>
            <a:avLst/>
            <a:gdLst/>
            <a:ahLst/>
            <a:cxnLst/>
            <a:rect r="r" b="b" t="t" l="l"/>
            <a:pathLst>
              <a:path h="780742" w="4381715">
                <a:moveTo>
                  <a:pt x="0" y="0"/>
                </a:moveTo>
                <a:lnTo>
                  <a:pt x="4381715" y="0"/>
                </a:lnTo>
                <a:lnTo>
                  <a:pt x="4381715" y="780742"/>
                </a:lnTo>
                <a:lnTo>
                  <a:pt x="0" y="78074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true" flipV="false" rot="0">
            <a:off x="14459609" y="536978"/>
            <a:ext cx="4381715" cy="780742"/>
          </a:xfrm>
          <a:custGeom>
            <a:avLst/>
            <a:gdLst/>
            <a:ahLst/>
            <a:cxnLst/>
            <a:rect r="r" b="b" t="t" l="l"/>
            <a:pathLst>
              <a:path h="780742" w="4381715">
                <a:moveTo>
                  <a:pt x="4381715" y="0"/>
                </a:moveTo>
                <a:lnTo>
                  <a:pt x="0" y="0"/>
                </a:lnTo>
                <a:lnTo>
                  <a:pt x="0" y="780742"/>
                </a:lnTo>
                <a:lnTo>
                  <a:pt x="4381715" y="780742"/>
                </a:lnTo>
                <a:lnTo>
                  <a:pt x="4381715"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0">
            <a:off x="1027747" y="3103938"/>
            <a:ext cx="1924760" cy="671916"/>
          </a:xfrm>
          <a:custGeom>
            <a:avLst/>
            <a:gdLst/>
            <a:ahLst/>
            <a:cxnLst/>
            <a:rect r="r" b="b" t="t" l="l"/>
            <a:pathLst>
              <a:path h="671916" w="1924760">
                <a:moveTo>
                  <a:pt x="0" y="0"/>
                </a:moveTo>
                <a:lnTo>
                  <a:pt x="1924760" y="0"/>
                </a:lnTo>
                <a:lnTo>
                  <a:pt x="1924760" y="671916"/>
                </a:lnTo>
                <a:lnTo>
                  <a:pt x="0" y="67191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1" id="11"/>
          <p:cNvSpPr/>
          <p:nvPr/>
        </p:nvSpPr>
        <p:spPr>
          <a:xfrm flipH="true" flipV="false" rot="0">
            <a:off x="15334540" y="3103938"/>
            <a:ext cx="1924760" cy="671916"/>
          </a:xfrm>
          <a:custGeom>
            <a:avLst/>
            <a:gdLst/>
            <a:ahLst/>
            <a:cxnLst/>
            <a:rect r="r" b="b" t="t" l="l"/>
            <a:pathLst>
              <a:path h="671916" w="1924760">
                <a:moveTo>
                  <a:pt x="1924760" y="0"/>
                </a:moveTo>
                <a:lnTo>
                  <a:pt x="0" y="0"/>
                </a:lnTo>
                <a:lnTo>
                  <a:pt x="0" y="671916"/>
                </a:lnTo>
                <a:lnTo>
                  <a:pt x="1924760" y="671916"/>
                </a:lnTo>
                <a:lnTo>
                  <a:pt x="192476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2" id="12"/>
          <p:cNvSpPr txBox="true"/>
          <p:nvPr/>
        </p:nvSpPr>
        <p:spPr>
          <a:xfrm rot="0">
            <a:off x="4977613" y="2362034"/>
            <a:ext cx="13310387" cy="589914"/>
          </a:xfrm>
          <a:prstGeom prst="rect">
            <a:avLst/>
          </a:prstGeom>
        </p:spPr>
        <p:txBody>
          <a:bodyPr anchor="t" rtlCol="false" tIns="0" lIns="0" bIns="0" rIns="0">
            <a:spAutoFit/>
          </a:bodyPr>
          <a:lstStyle/>
          <a:p>
            <a:pPr algn="l" marL="0" indent="0" lvl="0">
              <a:lnSpc>
                <a:spcPts val="4760"/>
              </a:lnSpc>
              <a:spcBef>
                <a:spcPct val="0"/>
              </a:spcBef>
            </a:pPr>
            <a:r>
              <a:rPr lang="en-US" sz="3400">
                <a:solidFill>
                  <a:srgbClr val="FFFFFF"/>
                </a:solidFill>
                <a:latin typeface="Press Start 2P"/>
                <a:ea typeface="Press Start 2P"/>
                <a:cs typeface="Press Start 2P"/>
                <a:sym typeface="Press Start 2P"/>
              </a:rPr>
              <a:t>RENDERING EQUATION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A022B"/>
        </a:solidFill>
      </p:bgPr>
    </p:bg>
    <p:spTree>
      <p:nvGrpSpPr>
        <p:cNvPr id="1" name=""/>
        <p:cNvGrpSpPr/>
        <p:nvPr/>
      </p:nvGrpSpPr>
      <p:grpSpPr>
        <a:xfrm>
          <a:off x="0" y="0"/>
          <a:ext cx="0" cy="0"/>
          <a:chOff x="0" y="0"/>
          <a:chExt cx="0" cy="0"/>
        </a:xfrm>
      </p:grpSpPr>
      <p:sp>
        <p:nvSpPr>
          <p:cNvPr name="Freeform 2" id="2"/>
          <p:cNvSpPr/>
          <p:nvPr/>
        </p:nvSpPr>
        <p:spPr>
          <a:xfrm flipH="false" flipV="false" rot="0">
            <a:off x="66198" y="4362363"/>
            <a:ext cx="11701891" cy="6001849"/>
          </a:xfrm>
          <a:custGeom>
            <a:avLst/>
            <a:gdLst/>
            <a:ahLst/>
            <a:cxnLst/>
            <a:rect r="r" b="b" t="t" l="l"/>
            <a:pathLst>
              <a:path h="6001849" w="11701891">
                <a:moveTo>
                  <a:pt x="0" y="0"/>
                </a:moveTo>
                <a:lnTo>
                  <a:pt x="11701891" y="0"/>
                </a:lnTo>
                <a:lnTo>
                  <a:pt x="11701891" y="6001849"/>
                </a:lnTo>
                <a:lnTo>
                  <a:pt x="0" y="6001849"/>
                </a:lnTo>
                <a:lnTo>
                  <a:pt x="0" y="0"/>
                </a:lnTo>
                <a:close/>
              </a:path>
            </a:pathLst>
          </a:custGeom>
          <a:blipFill>
            <a:blip r:embed="rId2">
              <a:alphaModFix amt="50000"/>
            </a:blip>
            <a:stretch>
              <a:fillRect l="-24633" t="0" r="0" b="-142999"/>
            </a:stretch>
          </a:blipFill>
        </p:spPr>
      </p:sp>
      <p:sp>
        <p:nvSpPr>
          <p:cNvPr name="Freeform 3" id="3"/>
          <p:cNvSpPr/>
          <p:nvPr/>
        </p:nvSpPr>
        <p:spPr>
          <a:xfrm flipH="false" flipV="false" rot="0">
            <a:off x="-1809750" y="9258300"/>
            <a:ext cx="7315200" cy="1103930"/>
          </a:xfrm>
          <a:custGeom>
            <a:avLst/>
            <a:gdLst/>
            <a:ahLst/>
            <a:cxnLst/>
            <a:rect r="r" b="b" t="t" l="l"/>
            <a:pathLst>
              <a:path h="1103930" w="7315200">
                <a:moveTo>
                  <a:pt x="0" y="0"/>
                </a:moveTo>
                <a:lnTo>
                  <a:pt x="7315200" y="0"/>
                </a:lnTo>
                <a:lnTo>
                  <a:pt x="7315200" y="1103930"/>
                </a:lnTo>
                <a:lnTo>
                  <a:pt x="0" y="110393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5486400" y="9258300"/>
            <a:ext cx="7315200" cy="1103930"/>
          </a:xfrm>
          <a:custGeom>
            <a:avLst/>
            <a:gdLst/>
            <a:ahLst/>
            <a:cxnLst/>
            <a:rect r="r" b="b" t="t" l="l"/>
            <a:pathLst>
              <a:path h="1103930" w="7315200">
                <a:moveTo>
                  <a:pt x="0" y="0"/>
                </a:moveTo>
                <a:lnTo>
                  <a:pt x="7315200" y="0"/>
                </a:lnTo>
                <a:lnTo>
                  <a:pt x="7315200" y="1103930"/>
                </a:lnTo>
                <a:lnTo>
                  <a:pt x="0" y="110393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2782550" y="9258300"/>
            <a:ext cx="7315200" cy="1103930"/>
          </a:xfrm>
          <a:custGeom>
            <a:avLst/>
            <a:gdLst/>
            <a:ahLst/>
            <a:cxnLst/>
            <a:rect r="r" b="b" t="t" l="l"/>
            <a:pathLst>
              <a:path h="1103930" w="7315200">
                <a:moveTo>
                  <a:pt x="0" y="0"/>
                </a:moveTo>
                <a:lnTo>
                  <a:pt x="7315200" y="0"/>
                </a:lnTo>
                <a:lnTo>
                  <a:pt x="7315200" y="1103930"/>
                </a:lnTo>
                <a:lnTo>
                  <a:pt x="0" y="110393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15334540" y="640416"/>
            <a:ext cx="1924760" cy="671916"/>
          </a:xfrm>
          <a:custGeom>
            <a:avLst/>
            <a:gdLst/>
            <a:ahLst/>
            <a:cxnLst/>
            <a:rect r="r" b="b" t="t" l="l"/>
            <a:pathLst>
              <a:path h="671916" w="1924760">
                <a:moveTo>
                  <a:pt x="0" y="0"/>
                </a:moveTo>
                <a:lnTo>
                  <a:pt x="1924760" y="0"/>
                </a:lnTo>
                <a:lnTo>
                  <a:pt x="1924760" y="671916"/>
                </a:lnTo>
                <a:lnTo>
                  <a:pt x="0" y="67191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744033" y="3463371"/>
            <a:ext cx="1924760" cy="671916"/>
          </a:xfrm>
          <a:custGeom>
            <a:avLst/>
            <a:gdLst/>
            <a:ahLst/>
            <a:cxnLst/>
            <a:rect r="r" b="b" t="t" l="l"/>
            <a:pathLst>
              <a:path h="671916" w="1924760">
                <a:moveTo>
                  <a:pt x="0" y="0"/>
                </a:moveTo>
                <a:lnTo>
                  <a:pt x="1924760" y="0"/>
                </a:lnTo>
                <a:lnTo>
                  <a:pt x="1924760" y="671916"/>
                </a:lnTo>
                <a:lnTo>
                  <a:pt x="0" y="67191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2386897" y="471267"/>
            <a:ext cx="969082" cy="338298"/>
          </a:xfrm>
          <a:custGeom>
            <a:avLst/>
            <a:gdLst/>
            <a:ahLst/>
            <a:cxnLst/>
            <a:rect r="r" b="b" t="t" l="l"/>
            <a:pathLst>
              <a:path h="338298" w="969082">
                <a:moveTo>
                  <a:pt x="0" y="0"/>
                </a:moveTo>
                <a:lnTo>
                  <a:pt x="969082" y="0"/>
                </a:lnTo>
                <a:lnTo>
                  <a:pt x="969082" y="338298"/>
                </a:lnTo>
                <a:lnTo>
                  <a:pt x="0" y="3382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218347" y="1445093"/>
            <a:ext cx="15334540" cy="596148"/>
          </a:xfrm>
          <a:prstGeom prst="rect">
            <a:avLst/>
          </a:prstGeom>
        </p:spPr>
        <p:txBody>
          <a:bodyPr anchor="t" rtlCol="false" tIns="0" lIns="0" bIns="0" rIns="0">
            <a:spAutoFit/>
          </a:bodyPr>
          <a:lstStyle/>
          <a:p>
            <a:pPr algn="ctr">
              <a:lnSpc>
                <a:spcPts val="4943"/>
              </a:lnSpc>
              <a:spcBef>
                <a:spcPct val="0"/>
              </a:spcBef>
            </a:pPr>
            <a:r>
              <a:rPr lang="en-US" sz="3530">
                <a:solidFill>
                  <a:srgbClr val="FFFFFF"/>
                </a:solidFill>
                <a:latin typeface="Press Start 2P"/>
                <a:ea typeface="Press Start 2P"/>
                <a:cs typeface="Press Start 2P"/>
                <a:sym typeface="Press Start 2P"/>
              </a:rPr>
              <a:t>SO WHAT ARE WE REALLY SOLVING?</a:t>
            </a:r>
          </a:p>
        </p:txBody>
      </p:sp>
      <p:sp>
        <p:nvSpPr>
          <p:cNvPr name="TextBox 10" id="10"/>
          <p:cNvSpPr txBox="true"/>
          <p:nvPr/>
        </p:nvSpPr>
        <p:spPr>
          <a:xfrm rot="0">
            <a:off x="1847850" y="2705344"/>
            <a:ext cx="5240056" cy="3887435"/>
          </a:xfrm>
          <a:prstGeom prst="rect">
            <a:avLst/>
          </a:prstGeom>
        </p:spPr>
        <p:txBody>
          <a:bodyPr anchor="t" rtlCol="false" tIns="0" lIns="0" bIns="0" rIns="0">
            <a:spAutoFit/>
          </a:bodyPr>
          <a:lstStyle/>
          <a:p>
            <a:pPr algn="just" marL="474979" indent="-237490" lvl="1">
              <a:lnSpc>
                <a:spcPts val="3079"/>
              </a:lnSpc>
              <a:spcBef>
                <a:spcPct val="0"/>
              </a:spcBef>
              <a:buFont typeface="Arial"/>
              <a:buChar char="•"/>
            </a:pPr>
            <a:r>
              <a:rPr lang="en-US" b="true" sz="2199">
                <a:solidFill>
                  <a:srgbClr val="FFFFFF"/>
                </a:solidFill>
                <a:latin typeface="Open Sans Bold"/>
                <a:ea typeface="Open Sans Bold"/>
                <a:cs typeface="Open Sans Bold"/>
                <a:sym typeface="Open Sans Bold"/>
              </a:rPr>
              <a:t>LIGHT DOESN’T JUST HIT AN OBJECT ONCE — IT B</a:t>
            </a:r>
            <a:r>
              <a:rPr lang="en-US" b="true" sz="2199">
                <a:solidFill>
                  <a:srgbClr val="FFFFFF"/>
                </a:solidFill>
                <a:latin typeface="Open Sans Bold"/>
                <a:ea typeface="Open Sans Bold"/>
                <a:cs typeface="Open Sans Bold"/>
                <a:sym typeface="Open Sans Bold"/>
              </a:rPr>
              <a:t>OUNCES EVERYWHERE</a:t>
            </a:r>
          </a:p>
          <a:p>
            <a:pPr algn="just" marL="474979" indent="-237490" lvl="1">
              <a:lnSpc>
                <a:spcPts val="3079"/>
              </a:lnSpc>
              <a:spcBef>
                <a:spcPct val="0"/>
              </a:spcBef>
              <a:buFont typeface="Arial"/>
              <a:buChar char="•"/>
            </a:pPr>
            <a:r>
              <a:rPr lang="en-US" b="true" sz="2199">
                <a:solidFill>
                  <a:srgbClr val="FFFFFF"/>
                </a:solidFill>
                <a:latin typeface="Open Sans Bold"/>
                <a:ea typeface="Open Sans Bold"/>
                <a:cs typeface="Open Sans Bold"/>
                <a:sym typeface="Open Sans Bold"/>
              </a:rPr>
              <a:t>EVERY PIXEL IS INFLUENCED BY COUNTLESS POSSIBLE LIGHT PATHS</a:t>
            </a:r>
          </a:p>
          <a:p>
            <a:pPr algn="just" marL="474979" indent="-237490" lvl="1">
              <a:lnSpc>
                <a:spcPts val="3079"/>
              </a:lnSpc>
              <a:spcBef>
                <a:spcPct val="0"/>
              </a:spcBef>
              <a:buFont typeface="Arial"/>
              <a:buChar char="•"/>
            </a:pPr>
            <a:r>
              <a:rPr lang="en-US" b="true" sz="2199">
                <a:solidFill>
                  <a:srgbClr val="FFFFFF"/>
                </a:solidFill>
                <a:latin typeface="Open Sans Bold"/>
                <a:ea typeface="Open Sans Bold"/>
                <a:cs typeface="Open Sans Bold"/>
                <a:sym typeface="Open Sans Bold"/>
              </a:rPr>
              <a:t>REFLECTIONS, SHADOWS, AND COLOR ALL COME FROM THESE INTERACTIONS</a:t>
            </a:r>
          </a:p>
          <a:p>
            <a:pPr algn="just">
              <a:lnSpc>
                <a:spcPts val="3079"/>
              </a:lnSpc>
              <a:spcBef>
                <a:spcPct val="0"/>
              </a:spcBef>
            </a:pPr>
          </a:p>
        </p:txBody>
      </p:sp>
      <p:sp>
        <p:nvSpPr>
          <p:cNvPr name="TextBox 11" id="11"/>
          <p:cNvSpPr txBox="true"/>
          <p:nvPr/>
        </p:nvSpPr>
        <p:spPr>
          <a:xfrm rot="0">
            <a:off x="9695366" y="5383114"/>
            <a:ext cx="8378848" cy="1544306"/>
          </a:xfrm>
          <a:prstGeom prst="rect">
            <a:avLst/>
          </a:prstGeom>
        </p:spPr>
        <p:txBody>
          <a:bodyPr anchor="t" rtlCol="false" tIns="0" lIns="0" bIns="0" rIns="0">
            <a:spAutoFit/>
          </a:bodyPr>
          <a:lstStyle/>
          <a:p>
            <a:pPr algn="l" marL="474979" indent="-237490" lvl="1">
              <a:lnSpc>
                <a:spcPts val="3079"/>
              </a:lnSpc>
              <a:spcBef>
                <a:spcPct val="0"/>
              </a:spcBef>
              <a:buFont typeface="Arial"/>
              <a:buChar char="•"/>
            </a:pPr>
            <a:r>
              <a:rPr lang="en-US" b="true" sz="2199">
                <a:solidFill>
                  <a:srgbClr val="FFFFFF"/>
                </a:solidFill>
                <a:latin typeface="Open Sans Bold"/>
                <a:ea typeface="Open Sans Bold"/>
                <a:cs typeface="Open Sans Bold"/>
                <a:sym typeface="Open Sans Bold"/>
              </a:rPr>
              <a:t>THERE ARE TOO MANY PATHS TO COUNT</a:t>
            </a:r>
          </a:p>
          <a:p>
            <a:pPr algn="l" marL="474979" indent="-237490" lvl="1">
              <a:lnSpc>
                <a:spcPts val="3079"/>
              </a:lnSpc>
              <a:spcBef>
                <a:spcPct val="0"/>
              </a:spcBef>
              <a:buFont typeface="Arial"/>
              <a:buChar char="•"/>
            </a:pPr>
            <a:r>
              <a:rPr lang="en-US" b="true" sz="2199">
                <a:solidFill>
                  <a:srgbClr val="FFFFFF"/>
                </a:solidFill>
                <a:latin typeface="Open Sans Bold"/>
                <a:ea typeface="Open Sans Bold"/>
                <a:cs typeface="Open Sans Bold"/>
                <a:sym typeface="Open Sans Bold"/>
              </a:rPr>
              <a:t>LIGHT CAN BOUNCE FOREVER</a:t>
            </a:r>
          </a:p>
          <a:p>
            <a:pPr algn="l" marL="474979" indent="-237490" lvl="1">
              <a:lnSpc>
                <a:spcPts val="3079"/>
              </a:lnSpc>
              <a:spcBef>
                <a:spcPct val="0"/>
              </a:spcBef>
              <a:buFont typeface="Arial"/>
              <a:buChar char="•"/>
            </a:pPr>
            <a:r>
              <a:rPr lang="en-US" b="true" sz="2199">
                <a:solidFill>
                  <a:srgbClr val="FFFFFF"/>
                </a:solidFill>
                <a:latin typeface="Open Sans Bold"/>
                <a:ea typeface="Open Sans Bold"/>
                <a:cs typeface="Open Sans Bold"/>
                <a:sym typeface="Open Sans Bold"/>
              </a:rPr>
              <a:t>SOLVING IT EXACTLY WOULD TAKE… BASICALLY FOREVER </a:t>
            </a:r>
          </a:p>
          <a:p>
            <a:pPr algn="l">
              <a:lnSpc>
                <a:spcPts val="3079"/>
              </a:lnSpc>
              <a:spcBef>
                <a:spcPct val="0"/>
              </a:spcBef>
            </a:pPr>
          </a:p>
        </p:txBody>
      </p:sp>
      <p:sp>
        <p:nvSpPr>
          <p:cNvPr name="TextBox 12" id="12"/>
          <p:cNvSpPr txBox="true"/>
          <p:nvPr/>
        </p:nvSpPr>
        <p:spPr>
          <a:xfrm rot="0">
            <a:off x="4944349" y="7847127"/>
            <a:ext cx="8399302" cy="763263"/>
          </a:xfrm>
          <a:prstGeom prst="rect">
            <a:avLst/>
          </a:prstGeom>
        </p:spPr>
        <p:txBody>
          <a:bodyPr anchor="t" rtlCol="false" tIns="0" lIns="0" bIns="0" rIns="0">
            <a:spAutoFit/>
          </a:bodyPr>
          <a:lstStyle/>
          <a:p>
            <a:pPr algn="l" marL="474979" indent="-237490" lvl="1">
              <a:lnSpc>
                <a:spcPts val="3079"/>
              </a:lnSpc>
              <a:spcBef>
                <a:spcPct val="0"/>
              </a:spcBef>
              <a:buFont typeface="Arial"/>
              <a:buChar char="•"/>
            </a:pPr>
            <a:r>
              <a:rPr lang="en-US" b="true" sz="2199">
                <a:solidFill>
                  <a:srgbClr val="FFFFFF"/>
                </a:solidFill>
                <a:latin typeface="Open Sans Bold"/>
                <a:ea typeface="Open Sans Bold"/>
                <a:cs typeface="Open Sans Bold"/>
                <a:sym typeface="Open Sans Bold"/>
              </a:rPr>
              <a:t>We estimate instead </a:t>
            </a:r>
            <a:r>
              <a:rPr lang="en-US" b="true" sz="2199">
                <a:solidFill>
                  <a:srgbClr val="FFFFFF"/>
                </a:solidFill>
                <a:latin typeface="Open Sans Bold"/>
                <a:ea typeface="Open Sans Bold"/>
                <a:cs typeface="Open Sans Bold"/>
                <a:sym typeface="Open Sans Bold"/>
              </a:rPr>
              <a:t>OF CALCULATE</a:t>
            </a:r>
          </a:p>
          <a:p>
            <a:pPr algn="ctr" marL="474979" indent="-237490" lvl="1">
              <a:lnSpc>
                <a:spcPts val="3079"/>
              </a:lnSpc>
              <a:spcBef>
                <a:spcPct val="0"/>
              </a:spcBef>
              <a:buFont typeface="Arial"/>
              <a:buChar char="•"/>
            </a:pPr>
            <a:r>
              <a:rPr lang="en-US" b="true" sz="2199">
                <a:solidFill>
                  <a:srgbClr val="FFFFFF"/>
                </a:solidFill>
                <a:latin typeface="Open Sans Bold"/>
                <a:ea typeface="Open Sans Bold"/>
                <a:cs typeface="Open Sans Bold"/>
                <a:sym typeface="Open Sans Bold"/>
              </a:rPr>
              <a:t>FIRE RANDOM RAYS AND LET PROBABILITY DO THE WORK</a:t>
            </a:r>
          </a:p>
        </p:txBody>
      </p:sp>
      <p:sp>
        <p:nvSpPr>
          <p:cNvPr name="TextBox 13" id="13"/>
          <p:cNvSpPr txBox="true"/>
          <p:nvPr/>
        </p:nvSpPr>
        <p:spPr>
          <a:xfrm rot="0">
            <a:off x="10041809" y="4827228"/>
            <a:ext cx="5942158" cy="316272"/>
          </a:xfrm>
          <a:prstGeom prst="rect">
            <a:avLst/>
          </a:prstGeom>
        </p:spPr>
        <p:txBody>
          <a:bodyPr anchor="t" rtlCol="false" tIns="0" lIns="0" bIns="0" rIns="0">
            <a:spAutoFit/>
          </a:bodyPr>
          <a:lstStyle/>
          <a:p>
            <a:pPr algn="ctr">
              <a:lnSpc>
                <a:spcPts val="2519"/>
              </a:lnSpc>
              <a:spcBef>
                <a:spcPct val="0"/>
              </a:spcBef>
            </a:pPr>
            <a:r>
              <a:rPr lang="en-US" sz="1799">
                <a:solidFill>
                  <a:srgbClr val="FFFFFF"/>
                </a:solidFill>
                <a:latin typeface="Press Start 2P"/>
                <a:ea typeface="Press Start 2P"/>
                <a:cs typeface="Press Start 2P"/>
                <a:sym typeface="Press Start 2P"/>
              </a:rPr>
              <a:t>WHY N</a:t>
            </a:r>
            <a:r>
              <a:rPr lang="en-US" sz="1799">
                <a:solidFill>
                  <a:srgbClr val="FFFFFF"/>
                </a:solidFill>
                <a:latin typeface="Press Start 2P"/>
                <a:ea typeface="Press Start 2P"/>
                <a:cs typeface="Press Start 2P"/>
                <a:sym typeface="Press Start 2P"/>
              </a:rPr>
              <a:t>OT JUST CALCULATE IT?</a:t>
            </a:r>
          </a:p>
        </p:txBody>
      </p:sp>
      <p:sp>
        <p:nvSpPr>
          <p:cNvPr name="TextBox 14" id="14"/>
          <p:cNvSpPr txBox="true"/>
          <p:nvPr/>
        </p:nvSpPr>
        <p:spPr>
          <a:xfrm rot="0">
            <a:off x="7087906" y="7387538"/>
            <a:ext cx="2742615" cy="316272"/>
          </a:xfrm>
          <a:prstGeom prst="rect">
            <a:avLst/>
          </a:prstGeom>
        </p:spPr>
        <p:txBody>
          <a:bodyPr anchor="t" rtlCol="false" tIns="0" lIns="0" bIns="0" rIns="0">
            <a:spAutoFit/>
          </a:bodyPr>
          <a:lstStyle/>
          <a:p>
            <a:pPr algn="ctr">
              <a:lnSpc>
                <a:spcPts val="2519"/>
              </a:lnSpc>
              <a:spcBef>
                <a:spcPct val="0"/>
              </a:spcBef>
            </a:pPr>
            <a:r>
              <a:rPr lang="en-US" sz="1799">
                <a:solidFill>
                  <a:srgbClr val="FFFFFF"/>
                </a:solidFill>
                <a:latin typeface="Press Start 2P"/>
                <a:ea typeface="Press Start 2P"/>
                <a:cs typeface="Press Start 2P"/>
                <a:sym typeface="Press Start 2P"/>
              </a:rPr>
              <a:t>WHAT NOW ???</a:t>
            </a:r>
          </a:p>
        </p:txBody>
      </p:sp>
      <p:sp>
        <p:nvSpPr>
          <p:cNvPr name="Freeform 15" id="15"/>
          <p:cNvSpPr/>
          <p:nvPr/>
        </p:nvSpPr>
        <p:spPr>
          <a:xfrm flipH="false" flipV="false" rot="0">
            <a:off x="14208472" y="7006452"/>
            <a:ext cx="1126068" cy="1126068"/>
          </a:xfrm>
          <a:custGeom>
            <a:avLst/>
            <a:gdLst/>
            <a:ahLst/>
            <a:cxnLst/>
            <a:rect r="r" b="b" t="t" l="l"/>
            <a:pathLst>
              <a:path h="1126068" w="1126068">
                <a:moveTo>
                  <a:pt x="0" y="0"/>
                </a:moveTo>
                <a:lnTo>
                  <a:pt x="1126068" y="0"/>
                </a:lnTo>
                <a:lnTo>
                  <a:pt x="1126068" y="1126068"/>
                </a:lnTo>
                <a:lnTo>
                  <a:pt x="0" y="112606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6" id="16"/>
          <p:cNvSpPr/>
          <p:nvPr/>
        </p:nvSpPr>
        <p:spPr>
          <a:xfrm flipH="false" flipV="false" rot="0">
            <a:off x="13343651" y="2624835"/>
            <a:ext cx="1126068" cy="1126068"/>
          </a:xfrm>
          <a:custGeom>
            <a:avLst/>
            <a:gdLst/>
            <a:ahLst/>
            <a:cxnLst/>
            <a:rect r="r" b="b" t="t" l="l"/>
            <a:pathLst>
              <a:path h="1126068" w="1126068">
                <a:moveTo>
                  <a:pt x="0" y="0"/>
                </a:moveTo>
                <a:lnTo>
                  <a:pt x="1126068" y="0"/>
                </a:lnTo>
                <a:lnTo>
                  <a:pt x="1126068" y="1126068"/>
                </a:lnTo>
                <a:lnTo>
                  <a:pt x="0" y="112606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7" id="17"/>
          <p:cNvSpPr/>
          <p:nvPr/>
        </p:nvSpPr>
        <p:spPr>
          <a:xfrm flipH="false" flipV="false" rot="0">
            <a:off x="8017932" y="3799329"/>
            <a:ext cx="1126068" cy="1126068"/>
          </a:xfrm>
          <a:custGeom>
            <a:avLst/>
            <a:gdLst/>
            <a:ahLst/>
            <a:cxnLst/>
            <a:rect r="r" b="b" t="t" l="l"/>
            <a:pathLst>
              <a:path h="1126068" w="1126068">
                <a:moveTo>
                  <a:pt x="0" y="0"/>
                </a:moveTo>
                <a:lnTo>
                  <a:pt x="1126068" y="0"/>
                </a:lnTo>
                <a:lnTo>
                  <a:pt x="1126068" y="1126068"/>
                </a:lnTo>
                <a:lnTo>
                  <a:pt x="0" y="112606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A022B"/>
        </a:solidFill>
      </p:bgPr>
    </p:bg>
    <p:spTree>
      <p:nvGrpSpPr>
        <p:cNvPr id="1" name=""/>
        <p:cNvGrpSpPr/>
        <p:nvPr/>
      </p:nvGrpSpPr>
      <p:grpSpPr>
        <a:xfrm>
          <a:off x="0" y="0"/>
          <a:ext cx="0" cy="0"/>
          <a:chOff x="0" y="0"/>
          <a:chExt cx="0" cy="0"/>
        </a:xfrm>
      </p:grpSpPr>
      <p:sp>
        <p:nvSpPr>
          <p:cNvPr name="Freeform 2" id="2"/>
          <p:cNvSpPr/>
          <p:nvPr/>
        </p:nvSpPr>
        <p:spPr>
          <a:xfrm flipH="false" flipV="false" rot="0">
            <a:off x="-7178" y="5113097"/>
            <a:ext cx="7879945" cy="5122920"/>
          </a:xfrm>
          <a:custGeom>
            <a:avLst/>
            <a:gdLst/>
            <a:ahLst/>
            <a:cxnLst/>
            <a:rect r="r" b="b" t="t" l="l"/>
            <a:pathLst>
              <a:path h="5122920" w="7879945">
                <a:moveTo>
                  <a:pt x="0" y="0"/>
                </a:moveTo>
                <a:lnTo>
                  <a:pt x="7879946" y="0"/>
                </a:lnTo>
                <a:lnTo>
                  <a:pt x="7879946" y="5122920"/>
                </a:lnTo>
                <a:lnTo>
                  <a:pt x="0" y="5122920"/>
                </a:lnTo>
                <a:lnTo>
                  <a:pt x="0" y="0"/>
                </a:lnTo>
                <a:close/>
              </a:path>
            </a:pathLst>
          </a:custGeom>
          <a:blipFill>
            <a:blip r:embed="rId2">
              <a:alphaModFix amt="81000"/>
            </a:blip>
            <a:stretch>
              <a:fillRect l="-18382" t="0" r="0" b="-82092"/>
            </a:stretch>
          </a:blipFill>
        </p:spPr>
      </p:sp>
      <p:sp>
        <p:nvSpPr>
          <p:cNvPr name="Freeform 3" id="3"/>
          <p:cNvSpPr/>
          <p:nvPr/>
        </p:nvSpPr>
        <p:spPr>
          <a:xfrm flipH="false" flipV="false" rot="0">
            <a:off x="-1809750" y="9258300"/>
            <a:ext cx="7315200" cy="1103930"/>
          </a:xfrm>
          <a:custGeom>
            <a:avLst/>
            <a:gdLst/>
            <a:ahLst/>
            <a:cxnLst/>
            <a:rect r="r" b="b" t="t" l="l"/>
            <a:pathLst>
              <a:path h="1103930" w="7315200">
                <a:moveTo>
                  <a:pt x="0" y="0"/>
                </a:moveTo>
                <a:lnTo>
                  <a:pt x="7315200" y="0"/>
                </a:lnTo>
                <a:lnTo>
                  <a:pt x="7315200" y="1103930"/>
                </a:lnTo>
                <a:lnTo>
                  <a:pt x="0" y="110393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5486400" y="9258300"/>
            <a:ext cx="7315200" cy="1103930"/>
          </a:xfrm>
          <a:custGeom>
            <a:avLst/>
            <a:gdLst/>
            <a:ahLst/>
            <a:cxnLst/>
            <a:rect r="r" b="b" t="t" l="l"/>
            <a:pathLst>
              <a:path h="1103930" w="7315200">
                <a:moveTo>
                  <a:pt x="0" y="0"/>
                </a:moveTo>
                <a:lnTo>
                  <a:pt x="7315200" y="0"/>
                </a:lnTo>
                <a:lnTo>
                  <a:pt x="7315200" y="1103930"/>
                </a:lnTo>
                <a:lnTo>
                  <a:pt x="0" y="110393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3943837" y="1686910"/>
            <a:ext cx="3974971" cy="7752602"/>
          </a:xfrm>
          <a:custGeom>
            <a:avLst/>
            <a:gdLst/>
            <a:ahLst/>
            <a:cxnLst/>
            <a:rect r="r" b="b" t="t" l="l"/>
            <a:pathLst>
              <a:path h="7752602" w="3974971">
                <a:moveTo>
                  <a:pt x="0" y="0"/>
                </a:moveTo>
                <a:lnTo>
                  <a:pt x="3974970" y="0"/>
                </a:lnTo>
                <a:lnTo>
                  <a:pt x="3974970" y="7752602"/>
                </a:lnTo>
                <a:lnTo>
                  <a:pt x="0" y="775260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2782550" y="9258300"/>
            <a:ext cx="7315200" cy="1103930"/>
          </a:xfrm>
          <a:custGeom>
            <a:avLst/>
            <a:gdLst/>
            <a:ahLst/>
            <a:cxnLst/>
            <a:rect r="r" b="b" t="t" l="l"/>
            <a:pathLst>
              <a:path h="1103930" w="7315200">
                <a:moveTo>
                  <a:pt x="0" y="0"/>
                </a:moveTo>
                <a:lnTo>
                  <a:pt x="7315200" y="0"/>
                </a:lnTo>
                <a:lnTo>
                  <a:pt x="7315200" y="1103930"/>
                </a:lnTo>
                <a:lnTo>
                  <a:pt x="0" y="110393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2802041" y="4173281"/>
            <a:ext cx="677751" cy="677751"/>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C3F1E"/>
            </a:solidFill>
          </p:spPr>
        </p:sp>
        <p:sp>
          <p:nvSpPr>
            <p:cNvPr name="TextBox 9" id="9"/>
            <p:cNvSpPr txBox="true"/>
            <p:nvPr/>
          </p:nvSpPr>
          <p:spPr>
            <a:xfrm>
              <a:off x="76200" y="28575"/>
              <a:ext cx="660400" cy="708025"/>
            </a:xfrm>
            <a:prstGeom prst="rect">
              <a:avLst/>
            </a:prstGeom>
          </p:spPr>
          <p:txBody>
            <a:bodyPr anchor="ctr" rtlCol="false" tIns="50800" lIns="50800" bIns="50800" rIns="50800"/>
            <a:lstStyle/>
            <a:p>
              <a:pPr algn="ctr">
                <a:lnSpc>
                  <a:spcPts val="2239"/>
                </a:lnSpc>
              </a:pPr>
            </a:p>
          </p:txBody>
        </p:sp>
      </p:grpSp>
      <p:sp>
        <p:nvSpPr>
          <p:cNvPr name="Freeform 10" id="10"/>
          <p:cNvSpPr/>
          <p:nvPr/>
        </p:nvSpPr>
        <p:spPr>
          <a:xfrm flipH="false" flipV="false" rot="0">
            <a:off x="10376126" y="1485020"/>
            <a:ext cx="2772796" cy="494062"/>
          </a:xfrm>
          <a:custGeom>
            <a:avLst/>
            <a:gdLst/>
            <a:ahLst/>
            <a:cxnLst/>
            <a:rect r="r" b="b" t="t" l="l"/>
            <a:pathLst>
              <a:path h="494062" w="2772796">
                <a:moveTo>
                  <a:pt x="0" y="0"/>
                </a:moveTo>
                <a:lnTo>
                  <a:pt x="2772795" y="0"/>
                </a:lnTo>
                <a:lnTo>
                  <a:pt x="2772795" y="494062"/>
                </a:lnTo>
                <a:lnTo>
                  <a:pt x="0" y="49406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1" id="11"/>
          <p:cNvSpPr/>
          <p:nvPr/>
        </p:nvSpPr>
        <p:spPr>
          <a:xfrm flipH="false" flipV="false" rot="0">
            <a:off x="17108190" y="488388"/>
            <a:ext cx="1924760" cy="671916"/>
          </a:xfrm>
          <a:custGeom>
            <a:avLst/>
            <a:gdLst/>
            <a:ahLst/>
            <a:cxnLst/>
            <a:rect r="r" b="b" t="t" l="l"/>
            <a:pathLst>
              <a:path h="671916" w="1924760">
                <a:moveTo>
                  <a:pt x="0" y="0"/>
                </a:moveTo>
                <a:lnTo>
                  <a:pt x="1924761" y="0"/>
                </a:lnTo>
                <a:lnTo>
                  <a:pt x="1924761" y="671917"/>
                </a:lnTo>
                <a:lnTo>
                  <a:pt x="0" y="67191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2" id="12"/>
          <p:cNvSpPr/>
          <p:nvPr/>
        </p:nvSpPr>
        <p:spPr>
          <a:xfrm flipH="false" flipV="false" rot="0">
            <a:off x="-779970" y="692742"/>
            <a:ext cx="1924760" cy="671916"/>
          </a:xfrm>
          <a:custGeom>
            <a:avLst/>
            <a:gdLst/>
            <a:ahLst/>
            <a:cxnLst/>
            <a:rect r="r" b="b" t="t" l="l"/>
            <a:pathLst>
              <a:path h="671916" w="1924760">
                <a:moveTo>
                  <a:pt x="0" y="0"/>
                </a:moveTo>
                <a:lnTo>
                  <a:pt x="1924761" y="0"/>
                </a:lnTo>
                <a:lnTo>
                  <a:pt x="1924761" y="671916"/>
                </a:lnTo>
                <a:lnTo>
                  <a:pt x="0" y="67191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3" id="13"/>
          <p:cNvSpPr txBox="true"/>
          <p:nvPr/>
        </p:nvSpPr>
        <p:spPr>
          <a:xfrm rot="0">
            <a:off x="3709108" y="4135181"/>
            <a:ext cx="6255586" cy="1099143"/>
          </a:xfrm>
          <a:prstGeom prst="rect">
            <a:avLst/>
          </a:prstGeom>
        </p:spPr>
        <p:txBody>
          <a:bodyPr anchor="t" rtlCol="false" tIns="0" lIns="0" bIns="0" rIns="0">
            <a:spAutoFit/>
          </a:bodyPr>
          <a:lstStyle/>
          <a:p>
            <a:pPr algn="l">
              <a:lnSpc>
                <a:spcPts val="2940"/>
              </a:lnSpc>
              <a:spcBef>
                <a:spcPct val="0"/>
              </a:spcBef>
            </a:pPr>
            <a:r>
              <a:rPr lang="en-US" sz="2100">
                <a:solidFill>
                  <a:srgbClr val="FFFFFF"/>
                </a:solidFill>
                <a:latin typeface="Open Sans"/>
                <a:ea typeface="Open Sans"/>
                <a:cs typeface="Open Sans"/>
                <a:sym typeface="Open Sans"/>
              </a:rPr>
              <a:t>In Monte Carlo ray tracing, sampling means firing multiple random rays per pixel to estimate how light behaves in a scene.</a:t>
            </a:r>
          </a:p>
        </p:txBody>
      </p:sp>
      <p:sp>
        <p:nvSpPr>
          <p:cNvPr name="TextBox 14" id="14"/>
          <p:cNvSpPr txBox="true"/>
          <p:nvPr/>
        </p:nvSpPr>
        <p:spPr>
          <a:xfrm rot="0">
            <a:off x="2892861" y="4349278"/>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01</a:t>
            </a:r>
          </a:p>
        </p:txBody>
      </p:sp>
      <p:sp>
        <p:nvSpPr>
          <p:cNvPr name="TextBox 15" id="15"/>
          <p:cNvSpPr txBox="true"/>
          <p:nvPr/>
        </p:nvSpPr>
        <p:spPr>
          <a:xfrm rot="0">
            <a:off x="5815609" y="5487835"/>
            <a:ext cx="9112798" cy="1406427"/>
          </a:xfrm>
          <a:prstGeom prst="rect">
            <a:avLst/>
          </a:prstGeom>
        </p:spPr>
        <p:txBody>
          <a:bodyPr anchor="t" rtlCol="false" tIns="0" lIns="0" bIns="0" rIns="0">
            <a:spAutoFit/>
          </a:bodyPr>
          <a:lstStyle/>
          <a:p>
            <a:pPr algn="l" marL="431801" indent="-215900" lvl="1">
              <a:lnSpc>
                <a:spcPts val="2800"/>
              </a:lnSpc>
              <a:buFont typeface="Arial"/>
              <a:buChar char="•"/>
            </a:pPr>
            <a:r>
              <a:rPr lang="en-US" sz="2000">
                <a:solidFill>
                  <a:srgbClr val="FFFFFF"/>
                </a:solidFill>
                <a:latin typeface="Open Sans"/>
                <a:ea typeface="Open Sans"/>
                <a:cs typeface="Open Sans"/>
                <a:sym typeface="Open Sans"/>
              </a:rPr>
              <a:t>With few samples, images look noisy and unstable</a:t>
            </a:r>
          </a:p>
          <a:p>
            <a:pPr algn="l" marL="431801" indent="-215900" lvl="1">
              <a:lnSpc>
                <a:spcPts val="2800"/>
              </a:lnSpc>
              <a:buFont typeface="Arial"/>
              <a:buChar char="•"/>
            </a:pPr>
            <a:r>
              <a:rPr lang="en-US" sz="2000">
                <a:solidFill>
                  <a:srgbClr val="FFFFFF"/>
                </a:solidFill>
                <a:latin typeface="Open Sans"/>
                <a:ea typeface="Open Sans"/>
                <a:cs typeface="Open Sans"/>
                <a:sym typeface="Open Sans"/>
              </a:rPr>
              <a:t>With more samples, noise decreases and details become clearer</a:t>
            </a:r>
          </a:p>
          <a:p>
            <a:pPr algn="l" marL="431801" indent="-215900" lvl="1">
              <a:lnSpc>
                <a:spcPts val="2800"/>
              </a:lnSpc>
              <a:spcBef>
                <a:spcPct val="0"/>
              </a:spcBef>
              <a:buFont typeface="Arial"/>
              <a:buChar char="•"/>
            </a:pPr>
            <a:r>
              <a:rPr lang="en-US" sz="2000">
                <a:solidFill>
                  <a:srgbClr val="FFFFFF"/>
                </a:solidFill>
                <a:latin typeface="Open Sans"/>
                <a:ea typeface="Open Sans"/>
                <a:cs typeface="Open Sans"/>
                <a:sym typeface="Open Sans"/>
              </a:rPr>
              <a:t>This follows the Law of Large Numbers: as the number of samples increases, the result converges toward the true value</a:t>
            </a:r>
          </a:p>
        </p:txBody>
      </p:sp>
      <p:grpSp>
        <p:nvGrpSpPr>
          <p:cNvPr name="Group 16" id="16"/>
          <p:cNvGrpSpPr/>
          <p:nvPr/>
        </p:nvGrpSpPr>
        <p:grpSpPr>
          <a:xfrm rot="0">
            <a:off x="7872768" y="7674557"/>
            <a:ext cx="677751" cy="677751"/>
            <a:chOff x="0" y="0"/>
            <a:chExt cx="903667" cy="903667"/>
          </a:xfrm>
        </p:grpSpPr>
        <p:grpSp>
          <p:nvGrpSpPr>
            <p:cNvPr name="Group 17" id="17"/>
            <p:cNvGrpSpPr/>
            <p:nvPr/>
          </p:nvGrpSpPr>
          <p:grpSpPr>
            <a:xfrm rot="0">
              <a:off x="0" y="0"/>
              <a:ext cx="903667" cy="903667"/>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29316"/>
              </a:solidFill>
            </p:spPr>
          </p:sp>
          <p:sp>
            <p:nvSpPr>
              <p:cNvPr name="TextBox 19" id="19"/>
              <p:cNvSpPr txBox="true"/>
              <p:nvPr/>
            </p:nvSpPr>
            <p:spPr>
              <a:xfrm>
                <a:off x="76200" y="28575"/>
                <a:ext cx="660400" cy="708025"/>
              </a:xfrm>
              <a:prstGeom prst="rect">
                <a:avLst/>
              </a:prstGeom>
            </p:spPr>
            <p:txBody>
              <a:bodyPr anchor="ctr" rtlCol="false" tIns="50800" lIns="50800" bIns="50800" rIns="50800"/>
              <a:lstStyle/>
              <a:p>
                <a:pPr algn="ctr">
                  <a:lnSpc>
                    <a:spcPts val="2239"/>
                  </a:lnSpc>
                </a:pPr>
              </a:p>
            </p:txBody>
          </p:sp>
        </p:grpSp>
        <p:sp>
          <p:nvSpPr>
            <p:cNvPr name="TextBox 20" id="20"/>
            <p:cNvSpPr txBox="true"/>
            <p:nvPr/>
          </p:nvSpPr>
          <p:spPr>
            <a:xfrm rot="0">
              <a:off x="121094" y="244189"/>
              <a:ext cx="661480" cy="386715"/>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03</a:t>
              </a:r>
            </a:p>
          </p:txBody>
        </p:sp>
      </p:grpSp>
      <p:sp>
        <p:nvSpPr>
          <p:cNvPr name="TextBox 21" id="21"/>
          <p:cNvSpPr txBox="true"/>
          <p:nvPr/>
        </p:nvSpPr>
        <p:spPr>
          <a:xfrm rot="0">
            <a:off x="8760778" y="7656238"/>
            <a:ext cx="4972800" cy="701626"/>
          </a:xfrm>
          <a:prstGeom prst="rect">
            <a:avLst/>
          </a:prstGeom>
        </p:spPr>
        <p:txBody>
          <a:bodyPr anchor="t" rtlCol="false" tIns="0" lIns="0" bIns="0" rIns="0">
            <a:spAutoFit/>
          </a:bodyPr>
          <a:lstStyle/>
          <a:p>
            <a:pPr algn="l">
              <a:lnSpc>
                <a:spcPts val="2800"/>
              </a:lnSpc>
              <a:spcBef>
                <a:spcPct val="0"/>
              </a:spcBef>
            </a:pPr>
            <a:r>
              <a:rPr lang="en-US" sz="2000">
                <a:solidFill>
                  <a:srgbClr val="FFFFFF"/>
                </a:solidFill>
                <a:latin typeface="Open Sans"/>
                <a:ea typeface="Open Sans"/>
                <a:cs typeface="Open Sans"/>
                <a:sym typeface="Open Sans"/>
              </a:rPr>
              <a:t>Each ray is a guess — and the final pixel color is the average of many guesses. </a:t>
            </a:r>
          </a:p>
        </p:txBody>
      </p:sp>
      <p:grpSp>
        <p:nvGrpSpPr>
          <p:cNvPr name="Group 22" id="22"/>
          <p:cNvGrpSpPr/>
          <p:nvPr/>
        </p:nvGrpSpPr>
        <p:grpSpPr>
          <a:xfrm rot="0">
            <a:off x="5137858" y="5517920"/>
            <a:ext cx="677751" cy="677751"/>
            <a:chOff x="0" y="0"/>
            <a:chExt cx="903667" cy="903667"/>
          </a:xfrm>
        </p:grpSpPr>
        <p:grpSp>
          <p:nvGrpSpPr>
            <p:cNvPr name="Group 23" id="23"/>
            <p:cNvGrpSpPr/>
            <p:nvPr/>
          </p:nvGrpSpPr>
          <p:grpSpPr>
            <a:xfrm rot="0">
              <a:off x="0" y="0"/>
              <a:ext cx="903667" cy="903667"/>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7D2A"/>
              </a:solidFill>
            </p:spPr>
          </p:sp>
          <p:sp>
            <p:nvSpPr>
              <p:cNvPr name="TextBox 25" id="25"/>
              <p:cNvSpPr txBox="true"/>
              <p:nvPr/>
            </p:nvSpPr>
            <p:spPr>
              <a:xfrm>
                <a:off x="76200" y="28575"/>
                <a:ext cx="660400" cy="708025"/>
              </a:xfrm>
              <a:prstGeom prst="rect">
                <a:avLst/>
              </a:prstGeom>
            </p:spPr>
            <p:txBody>
              <a:bodyPr anchor="ctr" rtlCol="false" tIns="50800" lIns="50800" bIns="50800" rIns="50800"/>
              <a:lstStyle/>
              <a:p>
                <a:pPr algn="ctr">
                  <a:lnSpc>
                    <a:spcPts val="2239"/>
                  </a:lnSpc>
                </a:pPr>
              </a:p>
            </p:txBody>
          </p:sp>
        </p:grpSp>
        <p:sp>
          <p:nvSpPr>
            <p:cNvPr name="TextBox 26" id="26"/>
            <p:cNvSpPr txBox="true"/>
            <p:nvPr/>
          </p:nvSpPr>
          <p:spPr>
            <a:xfrm rot="0">
              <a:off x="121094" y="244189"/>
              <a:ext cx="661480" cy="386715"/>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02</a:t>
              </a:r>
            </a:p>
          </p:txBody>
        </p:sp>
      </p:grpSp>
      <p:sp>
        <p:nvSpPr>
          <p:cNvPr name="TextBox 27" id="27"/>
          <p:cNvSpPr txBox="true"/>
          <p:nvPr/>
        </p:nvSpPr>
        <p:spPr>
          <a:xfrm rot="0">
            <a:off x="1772930" y="3082356"/>
            <a:ext cx="13310387" cy="589914"/>
          </a:xfrm>
          <a:prstGeom prst="rect">
            <a:avLst/>
          </a:prstGeom>
        </p:spPr>
        <p:txBody>
          <a:bodyPr anchor="t" rtlCol="false" tIns="0" lIns="0" bIns="0" rIns="0">
            <a:spAutoFit/>
          </a:bodyPr>
          <a:lstStyle/>
          <a:p>
            <a:pPr algn="l" marL="0" indent="0" lvl="0">
              <a:lnSpc>
                <a:spcPts val="4760"/>
              </a:lnSpc>
              <a:spcBef>
                <a:spcPct val="0"/>
              </a:spcBef>
            </a:pPr>
            <a:r>
              <a:rPr lang="en-US" sz="3400" u="none">
                <a:solidFill>
                  <a:srgbClr val="FFFFFF"/>
                </a:solidFill>
                <a:latin typeface="Press Start 2P"/>
                <a:ea typeface="Press Start 2P"/>
                <a:cs typeface="Press Start 2P"/>
                <a:sym typeface="Press Start 2P"/>
              </a:rPr>
              <a:t>GUESSING LIGHT THE SMART WAY</a:t>
            </a:r>
          </a:p>
        </p:txBody>
      </p:sp>
      <p:sp>
        <p:nvSpPr>
          <p:cNvPr name="TextBox 28" id="28"/>
          <p:cNvSpPr txBox="true"/>
          <p:nvPr/>
        </p:nvSpPr>
        <p:spPr>
          <a:xfrm rot="0">
            <a:off x="2298439" y="993206"/>
            <a:ext cx="6129685" cy="1384300"/>
          </a:xfrm>
          <a:prstGeom prst="rect">
            <a:avLst/>
          </a:prstGeom>
        </p:spPr>
        <p:txBody>
          <a:bodyPr anchor="t" rtlCol="false" tIns="0" lIns="0" bIns="0" rIns="0">
            <a:spAutoFit/>
          </a:bodyPr>
          <a:lstStyle/>
          <a:p>
            <a:pPr algn="l">
              <a:lnSpc>
                <a:spcPts val="5599"/>
              </a:lnSpc>
              <a:spcBef>
                <a:spcPct val="0"/>
              </a:spcBef>
            </a:pPr>
            <a:r>
              <a:rPr lang="en-US" sz="3999">
                <a:solidFill>
                  <a:srgbClr val="FFFFFF"/>
                </a:solidFill>
                <a:latin typeface="Press Start 2P"/>
                <a:ea typeface="Press Start 2P"/>
                <a:cs typeface="Press Start 2P"/>
                <a:sym typeface="Press Start 2P"/>
              </a:rPr>
              <a:t>WHAT</a:t>
            </a:r>
            <a:r>
              <a:rPr lang="en-US" sz="3999">
                <a:solidFill>
                  <a:srgbClr val="FFFFFF"/>
                </a:solidFill>
                <a:latin typeface="Press Start 2P"/>
                <a:ea typeface="Press Start 2P"/>
                <a:cs typeface="Press Start 2P"/>
                <a:sym typeface="Press Start 2P"/>
              </a:rPr>
              <a:t> IS SAMPLING?</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A022B"/>
        </a:solidFill>
      </p:bgPr>
    </p:bg>
    <p:spTree>
      <p:nvGrpSpPr>
        <p:cNvPr id="1" name=""/>
        <p:cNvGrpSpPr/>
        <p:nvPr/>
      </p:nvGrpSpPr>
      <p:grpSpPr>
        <a:xfrm>
          <a:off x="0" y="0"/>
          <a:ext cx="0" cy="0"/>
          <a:chOff x="0" y="0"/>
          <a:chExt cx="0" cy="0"/>
        </a:xfrm>
      </p:grpSpPr>
      <p:sp>
        <p:nvSpPr>
          <p:cNvPr name="Freeform 2" id="2"/>
          <p:cNvSpPr/>
          <p:nvPr/>
        </p:nvSpPr>
        <p:spPr>
          <a:xfrm flipH="false" flipV="false" rot="0">
            <a:off x="5763573" y="7728621"/>
            <a:ext cx="1345040" cy="3362600"/>
          </a:xfrm>
          <a:custGeom>
            <a:avLst/>
            <a:gdLst/>
            <a:ahLst/>
            <a:cxnLst/>
            <a:rect r="r" b="b" t="t" l="l"/>
            <a:pathLst>
              <a:path h="3362600" w="1345040">
                <a:moveTo>
                  <a:pt x="0" y="0"/>
                </a:moveTo>
                <a:lnTo>
                  <a:pt x="1345040" y="0"/>
                </a:lnTo>
                <a:lnTo>
                  <a:pt x="1345040" y="3362600"/>
                </a:lnTo>
                <a:lnTo>
                  <a:pt x="0" y="33626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71436" y="7587065"/>
            <a:ext cx="729142" cy="1822856"/>
          </a:xfrm>
          <a:custGeom>
            <a:avLst/>
            <a:gdLst/>
            <a:ahLst/>
            <a:cxnLst/>
            <a:rect r="r" b="b" t="t" l="l"/>
            <a:pathLst>
              <a:path h="1822856" w="729142">
                <a:moveTo>
                  <a:pt x="0" y="0"/>
                </a:moveTo>
                <a:lnTo>
                  <a:pt x="729143" y="0"/>
                </a:lnTo>
                <a:lnTo>
                  <a:pt x="729143" y="1822856"/>
                </a:lnTo>
                <a:lnTo>
                  <a:pt x="0" y="18228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809750" y="9258300"/>
            <a:ext cx="7315200" cy="1103930"/>
          </a:xfrm>
          <a:custGeom>
            <a:avLst/>
            <a:gdLst/>
            <a:ahLst/>
            <a:cxnLst/>
            <a:rect r="r" b="b" t="t" l="l"/>
            <a:pathLst>
              <a:path h="1103930" w="7315200">
                <a:moveTo>
                  <a:pt x="0" y="0"/>
                </a:moveTo>
                <a:lnTo>
                  <a:pt x="7315200" y="0"/>
                </a:lnTo>
                <a:lnTo>
                  <a:pt x="7315200" y="1103930"/>
                </a:lnTo>
                <a:lnTo>
                  <a:pt x="0" y="11039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8670769" y="8364246"/>
            <a:ext cx="2255378" cy="1045675"/>
          </a:xfrm>
          <a:custGeom>
            <a:avLst/>
            <a:gdLst/>
            <a:ahLst/>
            <a:cxnLst/>
            <a:rect r="r" b="b" t="t" l="l"/>
            <a:pathLst>
              <a:path h="1045675" w="2255378">
                <a:moveTo>
                  <a:pt x="0" y="0"/>
                </a:moveTo>
                <a:lnTo>
                  <a:pt x="2255378" y="0"/>
                </a:lnTo>
                <a:lnTo>
                  <a:pt x="2255378" y="1045675"/>
                </a:lnTo>
                <a:lnTo>
                  <a:pt x="0" y="104567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1124720" y="8364246"/>
            <a:ext cx="2255378" cy="1045675"/>
          </a:xfrm>
          <a:custGeom>
            <a:avLst/>
            <a:gdLst/>
            <a:ahLst/>
            <a:cxnLst/>
            <a:rect r="r" b="b" t="t" l="l"/>
            <a:pathLst>
              <a:path h="1045675" w="2255378">
                <a:moveTo>
                  <a:pt x="0" y="0"/>
                </a:moveTo>
                <a:lnTo>
                  <a:pt x="2255378" y="0"/>
                </a:lnTo>
                <a:lnTo>
                  <a:pt x="2255378" y="1045675"/>
                </a:lnTo>
                <a:lnTo>
                  <a:pt x="0" y="104567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3578671" y="8364246"/>
            <a:ext cx="2255378" cy="1045675"/>
          </a:xfrm>
          <a:custGeom>
            <a:avLst/>
            <a:gdLst/>
            <a:ahLst/>
            <a:cxnLst/>
            <a:rect r="r" b="b" t="t" l="l"/>
            <a:pathLst>
              <a:path h="1045675" w="2255378">
                <a:moveTo>
                  <a:pt x="0" y="0"/>
                </a:moveTo>
                <a:lnTo>
                  <a:pt x="2255378" y="0"/>
                </a:lnTo>
                <a:lnTo>
                  <a:pt x="2255378" y="1045675"/>
                </a:lnTo>
                <a:lnTo>
                  <a:pt x="0" y="104567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6032622" y="8364246"/>
            <a:ext cx="2255378" cy="1045675"/>
          </a:xfrm>
          <a:custGeom>
            <a:avLst/>
            <a:gdLst/>
            <a:ahLst/>
            <a:cxnLst/>
            <a:rect r="r" b="b" t="t" l="l"/>
            <a:pathLst>
              <a:path h="1045675" w="2255378">
                <a:moveTo>
                  <a:pt x="0" y="0"/>
                </a:moveTo>
                <a:lnTo>
                  <a:pt x="2255378" y="0"/>
                </a:lnTo>
                <a:lnTo>
                  <a:pt x="2255378" y="1045675"/>
                </a:lnTo>
                <a:lnTo>
                  <a:pt x="0" y="104567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5486400" y="9258300"/>
            <a:ext cx="7315200" cy="1103930"/>
          </a:xfrm>
          <a:custGeom>
            <a:avLst/>
            <a:gdLst/>
            <a:ahLst/>
            <a:cxnLst/>
            <a:rect r="r" b="b" t="t" l="l"/>
            <a:pathLst>
              <a:path h="1103930" w="7315200">
                <a:moveTo>
                  <a:pt x="0" y="0"/>
                </a:moveTo>
                <a:lnTo>
                  <a:pt x="7315200" y="0"/>
                </a:lnTo>
                <a:lnTo>
                  <a:pt x="7315200" y="1103930"/>
                </a:lnTo>
                <a:lnTo>
                  <a:pt x="0" y="11039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2782550" y="9258300"/>
            <a:ext cx="7315200" cy="1103930"/>
          </a:xfrm>
          <a:custGeom>
            <a:avLst/>
            <a:gdLst/>
            <a:ahLst/>
            <a:cxnLst/>
            <a:rect r="r" b="b" t="t" l="l"/>
            <a:pathLst>
              <a:path h="1103930" w="7315200">
                <a:moveTo>
                  <a:pt x="0" y="0"/>
                </a:moveTo>
                <a:lnTo>
                  <a:pt x="7315200" y="0"/>
                </a:lnTo>
                <a:lnTo>
                  <a:pt x="7315200" y="1103930"/>
                </a:lnTo>
                <a:lnTo>
                  <a:pt x="0" y="11039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1736007" y="1560494"/>
            <a:ext cx="8055131" cy="1597590"/>
          </a:xfrm>
          <a:prstGeom prst="rect">
            <a:avLst/>
          </a:prstGeom>
        </p:spPr>
        <p:txBody>
          <a:bodyPr anchor="t" rtlCol="false" tIns="0" lIns="0" bIns="0" rIns="0">
            <a:spAutoFit/>
          </a:bodyPr>
          <a:lstStyle/>
          <a:p>
            <a:pPr algn="l">
              <a:lnSpc>
                <a:spcPts val="6439"/>
              </a:lnSpc>
              <a:spcBef>
                <a:spcPct val="0"/>
              </a:spcBef>
            </a:pPr>
            <a:r>
              <a:rPr lang="en-US" sz="4599">
                <a:solidFill>
                  <a:srgbClr val="FFFFFF"/>
                </a:solidFill>
                <a:latin typeface="Press Start 2P"/>
                <a:ea typeface="Press Start 2P"/>
                <a:cs typeface="Press Start 2P"/>
                <a:sym typeface="Press Start 2P"/>
              </a:rPr>
              <a:t>SAMPLE COUNT (N)</a:t>
            </a:r>
          </a:p>
        </p:txBody>
      </p:sp>
      <p:sp>
        <p:nvSpPr>
          <p:cNvPr name="Freeform 12" id="12"/>
          <p:cNvSpPr/>
          <p:nvPr/>
        </p:nvSpPr>
        <p:spPr>
          <a:xfrm flipH="false" flipV="false" rot="0">
            <a:off x="5486400" y="704759"/>
            <a:ext cx="1818033" cy="323941"/>
          </a:xfrm>
          <a:custGeom>
            <a:avLst/>
            <a:gdLst/>
            <a:ahLst/>
            <a:cxnLst/>
            <a:rect r="r" b="b" t="t" l="l"/>
            <a:pathLst>
              <a:path h="323941" w="1818033">
                <a:moveTo>
                  <a:pt x="0" y="0"/>
                </a:moveTo>
                <a:lnTo>
                  <a:pt x="1818033" y="0"/>
                </a:lnTo>
                <a:lnTo>
                  <a:pt x="1818033" y="323941"/>
                </a:lnTo>
                <a:lnTo>
                  <a:pt x="0" y="32394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0">
            <a:off x="-188753" y="2054287"/>
            <a:ext cx="1924760" cy="671916"/>
          </a:xfrm>
          <a:custGeom>
            <a:avLst/>
            <a:gdLst/>
            <a:ahLst/>
            <a:cxnLst/>
            <a:rect r="r" b="b" t="t" l="l"/>
            <a:pathLst>
              <a:path h="671916" w="1924760">
                <a:moveTo>
                  <a:pt x="0" y="0"/>
                </a:moveTo>
                <a:lnTo>
                  <a:pt x="1924760" y="0"/>
                </a:lnTo>
                <a:lnTo>
                  <a:pt x="1924760" y="671917"/>
                </a:lnTo>
                <a:lnTo>
                  <a:pt x="0" y="67191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true" flipV="false" rot="0">
            <a:off x="16948915" y="4008751"/>
            <a:ext cx="1818033" cy="323941"/>
          </a:xfrm>
          <a:custGeom>
            <a:avLst/>
            <a:gdLst/>
            <a:ahLst/>
            <a:cxnLst/>
            <a:rect r="r" b="b" t="t" l="l"/>
            <a:pathLst>
              <a:path h="323941" w="1818033">
                <a:moveTo>
                  <a:pt x="1818034" y="0"/>
                </a:moveTo>
                <a:lnTo>
                  <a:pt x="0" y="0"/>
                </a:lnTo>
                <a:lnTo>
                  <a:pt x="0" y="323941"/>
                </a:lnTo>
                <a:lnTo>
                  <a:pt x="1818034" y="323941"/>
                </a:lnTo>
                <a:lnTo>
                  <a:pt x="1818034"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false" rot="0">
            <a:off x="14736726" y="434050"/>
            <a:ext cx="1703424" cy="594650"/>
          </a:xfrm>
          <a:custGeom>
            <a:avLst/>
            <a:gdLst/>
            <a:ahLst/>
            <a:cxnLst/>
            <a:rect r="r" b="b" t="t" l="l"/>
            <a:pathLst>
              <a:path h="594650" w="1703424">
                <a:moveTo>
                  <a:pt x="0" y="0"/>
                </a:moveTo>
                <a:lnTo>
                  <a:pt x="1703424" y="0"/>
                </a:lnTo>
                <a:lnTo>
                  <a:pt x="1703424" y="594650"/>
                </a:lnTo>
                <a:lnTo>
                  <a:pt x="0" y="59465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6" id="16"/>
          <p:cNvSpPr txBox="true"/>
          <p:nvPr/>
        </p:nvSpPr>
        <p:spPr>
          <a:xfrm rot="0">
            <a:off x="8872007" y="2272130"/>
            <a:ext cx="3778755" cy="356221"/>
          </a:xfrm>
          <a:prstGeom prst="rect">
            <a:avLst/>
          </a:prstGeom>
        </p:spPr>
        <p:txBody>
          <a:bodyPr anchor="t" rtlCol="false" tIns="0" lIns="0" bIns="0" rIns="0">
            <a:spAutoFit/>
          </a:bodyPr>
          <a:lstStyle/>
          <a:p>
            <a:pPr algn="ctr">
              <a:lnSpc>
                <a:spcPts val="2939"/>
              </a:lnSpc>
              <a:spcBef>
                <a:spcPct val="0"/>
              </a:spcBef>
            </a:pPr>
            <a:r>
              <a:rPr lang="en-US" b="true" sz="2099">
                <a:solidFill>
                  <a:srgbClr val="FFFFFF"/>
                </a:solidFill>
                <a:latin typeface="Open Sans Bold"/>
                <a:ea typeface="Open Sans Bold"/>
                <a:cs typeface="Open Sans Bold"/>
                <a:sym typeface="Open Sans Bold"/>
              </a:rPr>
              <a:t> NUMBER OF RAYS PER PIXEL</a:t>
            </a:r>
          </a:p>
        </p:txBody>
      </p:sp>
      <p:sp>
        <p:nvSpPr>
          <p:cNvPr name="TextBox 17" id="17"/>
          <p:cNvSpPr txBox="true"/>
          <p:nvPr/>
        </p:nvSpPr>
        <p:spPr>
          <a:xfrm rot="0">
            <a:off x="8651751" y="2239137"/>
            <a:ext cx="296456" cy="389214"/>
          </a:xfrm>
          <a:prstGeom prst="rect">
            <a:avLst/>
          </a:prstGeom>
        </p:spPr>
        <p:txBody>
          <a:bodyPr anchor="t" rtlCol="false" tIns="0" lIns="0" bIns="0" rIns="0">
            <a:spAutoFit/>
          </a:bodyPr>
          <a:lstStyle/>
          <a:p>
            <a:pPr algn="ctr">
              <a:lnSpc>
                <a:spcPts val="3219"/>
              </a:lnSpc>
              <a:spcBef>
                <a:spcPct val="0"/>
              </a:spcBef>
            </a:pPr>
            <a:r>
              <a:rPr lang="en-US" b="true" sz="2299">
                <a:solidFill>
                  <a:srgbClr val="FFFFFF"/>
                </a:solidFill>
                <a:latin typeface="Open Sans Bold"/>
                <a:ea typeface="Open Sans Bold"/>
                <a:cs typeface="Open Sans Bold"/>
                <a:sym typeface="Open Sans Bold"/>
              </a:rPr>
              <a:t>=</a:t>
            </a:r>
          </a:p>
        </p:txBody>
      </p:sp>
      <p:sp>
        <p:nvSpPr>
          <p:cNvPr name="TextBox 18" id="18"/>
          <p:cNvSpPr txBox="true"/>
          <p:nvPr/>
        </p:nvSpPr>
        <p:spPr>
          <a:xfrm rot="0">
            <a:off x="4412161" y="4308644"/>
            <a:ext cx="8775637" cy="1923001"/>
          </a:xfrm>
          <a:prstGeom prst="rect">
            <a:avLst/>
          </a:prstGeom>
        </p:spPr>
        <p:txBody>
          <a:bodyPr anchor="t" rtlCol="false" tIns="0" lIns="0" bIns="0" rIns="0">
            <a:spAutoFit/>
          </a:bodyPr>
          <a:lstStyle/>
          <a:p>
            <a:pPr algn="ctr">
              <a:lnSpc>
                <a:spcPts val="4714"/>
              </a:lnSpc>
            </a:pPr>
            <a:r>
              <a:rPr lang="en-US" b="true" sz="2299">
                <a:solidFill>
                  <a:srgbClr val="FFFFFF"/>
                </a:solidFill>
                <a:latin typeface="Open Sans Bold"/>
                <a:ea typeface="Open Sans Bold"/>
                <a:cs typeface="Open Sans Bold"/>
                <a:sym typeface="Open Sans Bold"/>
              </a:rPr>
              <a:t>WELL, INCREASING N MEANS</a:t>
            </a:r>
            <a:r>
              <a:rPr lang="en-US" b="true" sz="2299">
                <a:solidFill>
                  <a:srgbClr val="FFFFFF"/>
                </a:solidFill>
                <a:latin typeface="Open Sans Bold"/>
                <a:ea typeface="Open Sans Bold"/>
                <a:cs typeface="Open Sans Bold"/>
                <a:sym typeface="Open Sans Bold"/>
              </a:rPr>
              <a:t>:</a:t>
            </a:r>
          </a:p>
          <a:p>
            <a:pPr algn="l" marL="496566" indent="-248283" lvl="1">
              <a:lnSpc>
                <a:spcPts val="3909"/>
              </a:lnSpc>
              <a:buFont typeface="Arial"/>
              <a:buChar char="•"/>
            </a:pPr>
            <a:r>
              <a:rPr lang="en-US" b="true" sz="2299">
                <a:solidFill>
                  <a:srgbClr val="029316"/>
                </a:solidFill>
                <a:latin typeface="Open Sans Bold"/>
                <a:ea typeface="Open Sans Bold"/>
                <a:cs typeface="Open Sans Bold"/>
                <a:sym typeface="Open Sans Bold"/>
              </a:rPr>
              <a:t>✔ IMPROVES IMAGE QUALITY (HIGHER PSNR, LOWER MSE)</a:t>
            </a:r>
          </a:p>
          <a:p>
            <a:pPr algn="l" marL="496566" indent="-248283" lvl="1">
              <a:lnSpc>
                <a:spcPts val="3219"/>
              </a:lnSpc>
              <a:spcBef>
                <a:spcPct val="0"/>
              </a:spcBef>
              <a:buFont typeface="Arial"/>
              <a:buChar char="•"/>
            </a:pPr>
            <a:r>
              <a:rPr lang="en-US" b="true" sz="2299">
                <a:solidFill>
                  <a:srgbClr val="D70400"/>
                </a:solidFill>
                <a:latin typeface="Open Sans Bold"/>
                <a:ea typeface="Open Sans Bold"/>
                <a:cs typeface="Open Sans Bold"/>
                <a:sym typeface="Open Sans Bold"/>
              </a:rPr>
              <a:t>✖ INCREASES RENDERING TIME ALMOST LINEARLY</a:t>
            </a:r>
          </a:p>
          <a:p>
            <a:pPr algn="l">
              <a:lnSpc>
                <a:spcPts val="3219"/>
              </a:lnSpc>
              <a:spcBef>
                <a:spcPct val="0"/>
              </a:spcBef>
            </a:pPr>
          </a:p>
        </p:txBody>
      </p:sp>
      <p:sp>
        <p:nvSpPr>
          <p:cNvPr name="TextBox 19" id="19"/>
          <p:cNvSpPr txBox="true"/>
          <p:nvPr/>
        </p:nvSpPr>
        <p:spPr>
          <a:xfrm rot="0">
            <a:off x="3221521" y="6480849"/>
            <a:ext cx="11515205" cy="563895"/>
          </a:xfrm>
          <a:prstGeom prst="rect">
            <a:avLst/>
          </a:prstGeom>
        </p:spPr>
        <p:txBody>
          <a:bodyPr anchor="t" rtlCol="false" tIns="0" lIns="0" bIns="0" rIns="0">
            <a:spAutoFit/>
          </a:bodyPr>
          <a:lstStyle/>
          <a:p>
            <a:pPr algn="ctr">
              <a:lnSpc>
                <a:spcPts val="4619"/>
              </a:lnSpc>
              <a:spcBef>
                <a:spcPct val="0"/>
              </a:spcBef>
            </a:pPr>
            <a:r>
              <a:rPr lang="en-US" b="true" sz="3299">
                <a:solidFill>
                  <a:srgbClr val="FFFFFF"/>
                </a:solidFill>
                <a:latin typeface="Open Sans Bold"/>
                <a:ea typeface="Open Sans Bold"/>
                <a:cs typeface="Open Sans Bold"/>
                <a:sym typeface="Open Sans Bold"/>
              </a:rPr>
              <a:t>THIS CREATES A Q</a:t>
            </a:r>
            <a:r>
              <a:rPr lang="en-US" b="true" sz="3299">
                <a:solidFill>
                  <a:srgbClr val="FFFFFF"/>
                </a:solidFill>
                <a:latin typeface="Open Sans Bold"/>
                <a:ea typeface="Open Sans Bold"/>
                <a:cs typeface="Open Sans Bold"/>
                <a:sym typeface="Open Sans Bold"/>
              </a:rPr>
              <a:t>UALITY VS. PERFORMANCE TRADE-OFF</a:t>
            </a:r>
          </a:p>
        </p:txBody>
      </p:sp>
      <p:sp>
        <p:nvSpPr>
          <p:cNvPr name="TextBox 20" id="20"/>
          <p:cNvSpPr txBox="true"/>
          <p:nvPr/>
        </p:nvSpPr>
        <p:spPr>
          <a:xfrm rot="0">
            <a:off x="3221521" y="3510889"/>
            <a:ext cx="11520254" cy="497862"/>
          </a:xfrm>
          <a:prstGeom prst="rect">
            <a:avLst/>
          </a:prstGeom>
        </p:spPr>
        <p:txBody>
          <a:bodyPr anchor="t" rtlCol="false" tIns="0" lIns="0" bIns="0" rIns="0">
            <a:spAutoFit/>
          </a:bodyPr>
          <a:lstStyle/>
          <a:p>
            <a:pPr algn="ctr">
              <a:lnSpc>
                <a:spcPts val="4059"/>
              </a:lnSpc>
              <a:spcBef>
                <a:spcPct val="0"/>
              </a:spcBef>
            </a:pPr>
            <a:r>
              <a:rPr lang="en-US" b="true" sz="2899" spc="1441">
                <a:solidFill>
                  <a:srgbClr val="FFFFFF"/>
                </a:solidFill>
                <a:latin typeface="Open Sans Bold"/>
                <a:ea typeface="Open Sans Bold"/>
                <a:cs typeface="Open Sans Bold"/>
                <a:sym typeface="Open Sans Bold"/>
              </a:rPr>
              <a:t>WHY N</a:t>
            </a:r>
            <a:r>
              <a:rPr lang="en-US" b="true" sz="2899" spc="1441">
                <a:solidFill>
                  <a:srgbClr val="FFFFFF"/>
                </a:solidFill>
                <a:latin typeface="Open Sans Bold"/>
                <a:ea typeface="Open Sans Bold"/>
                <a:cs typeface="Open Sans Bold"/>
                <a:sym typeface="Open Sans Bold"/>
              </a:rPr>
              <a:t>OT JUST INCREASE N THEN?</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A022B"/>
        </a:solidFill>
      </p:bgPr>
    </p:bg>
    <p:spTree>
      <p:nvGrpSpPr>
        <p:cNvPr id="1" name=""/>
        <p:cNvGrpSpPr/>
        <p:nvPr/>
      </p:nvGrpSpPr>
      <p:grpSpPr>
        <a:xfrm>
          <a:off x="0" y="0"/>
          <a:ext cx="0" cy="0"/>
          <a:chOff x="0" y="0"/>
          <a:chExt cx="0" cy="0"/>
        </a:xfrm>
      </p:grpSpPr>
      <p:sp>
        <p:nvSpPr>
          <p:cNvPr name="Freeform 2" id="2"/>
          <p:cNvSpPr/>
          <p:nvPr/>
        </p:nvSpPr>
        <p:spPr>
          <a:xfrm flipH="false" flipV="false" rot="0">
            <a:off x="2072386" y="776482"/>
            <a:ext cx="5139297" cy="3793613"/>
          </a:xfrm>
          <a:custGeom>
            <a:avLst/>
            <a:gdLst/>
            <a:ahLst/>
            <a:cxnLst/>
            <a:rect r="r" b="b" t="t" l="l"/>
            <a:pathLst>
              <a:path h="3793613" w="5139297">
                <a:moveTo>
                  <a:pt x="0" y="0"/>
                </a:moveTo>
                <a:lnTo>
                  <a:pt x="5139297" y="0"/>
                </a:lnTo>
                <a:lnTo>
                  <a:pt x="5139297" y="3793613"/>
                </a:lnTo>
                <a:lnTo>
                  <a:pt x="0" y="3793613"/>
                </a:lnTo>
                <a:lnTo>
                  <a:pt x="0" y="0"/>
                </a:lnTo>
                <a:close/>
              </a:path>
            </a:pathLst>
          </a:custGeom>
          <a:blipFill>
            <a:blip r:embed="rId2"/>
            <a:stretch>
              <a:fillRect l="0" t="0" r="0" b="0"/>
            </a:stretch>
          </a:blipFill>
        </p:spPr>
      </p:sp>
      <p:sp>
        <p:nvSpPr>
          <p:cNvPr name="Freeform 3" id="3"/>
          <p:cNvSpPr/>
          <p:nvPr/>
        </p:nvSpPr>
        <p:spPr>
          <a:xfrm flipH="false" flipV="false" rot="0">
            <a:off x="11033427" y="774662"/>
            <a:ext cx="5040809" cy="3795432"/>
          </a:xfrm>
          <a:custGeom>
            <a:avLst/>
            <a:gdLst/>
            <a:ahLst/>
            <a:cxnLst/>
            <a:rect r="r" b="b" t="t" l="l"/>
            <a:pathLst>
              <a:path h="3795432" w="5040809">
                <a:moveTo>
                  <a:pt x="0" y="0"/>
                </a:moveTo>
                <a:lnTo>
                  <a:pt x="5040809" y="0"/>
                </a:lnTo>
                <a:lnTo>
                  <a:pt x="5040809" y="3795433"/>
                </a:lnTo>
                <a:lnTo>
                  <a:pt x="0" y="3795433"/>
                </a:lnTo>
                <a:lnTo>
                  <a:pt x="0" y="0"/>
                </a:lnTo>
                <a:close/>
              </a:path>
            </a:pathLst>
          </a:custGeom>
          <a:blipFill>
            <a:blip r:embed="rId3"/>
            <a:stretch>
              <a:fillRect l="0" t="0" r="0" b="0"/>
            </a:stretch>
          </a:blipFill>
        </p:spPr>
      </p:sp>
      <p:sp>
        <p:nvSpPr>
          <p:cNvPr name="Freeform 4" id="4"/>
          <p:cNvSpPr/>
          <p:nvPr/>
        </p:nvSpPr>
        <p:spPr>
          <a:xfrm flipH="false" flipV="false" rot="0">
            <a:off x="2072386" y="5587926"/>
            <a:ext cx="4942208" cy="3759954"/>
          </a:xfrm>
          <a:custGeom>
            <a:avLst/>
            <a:gdLst/>
            <a:ahLst/>
            <a:cxnLst/>
            <a:rect r="r" b="b" t="t" l="l"/>
            <a:pathLst>
              <a:path h="3759954" w="4942208">
                <a:moveTo>
                  <a:pt x="0" y="0"/>
                </a:moveTo>
                <a:lnTo>
                  <a:pt x="4942208" y="0"/>
                </a:lnTo>
                <a:lnTo>
                  <a:pt x="4942208" y="3759954"/>
                </a:lnTo>
                <a:lnTo>
                  <a:pt x="0" y="3759954"/>
                </a:lnTo>
                <a:lnTo>
                  <a:pt x="0" y="0"/>
                </a:lnTo>
                <a:close/>
              </a:path>
            </a:pathLst>
          </a:custGeom>
          <a:blipFill>
            <a:blip r:embed="rId4"/>
            <a:stretch>
              <a:fillRect l="0" t="0" r="0" b="0"/>
            </a:stretch>
          </a:blipFill>
        </p:spPr>
      </p:sp>
      <p:sp>
        <p:nvSpPr>
          <p:cNvPr name="Freeform 5" id="5"/>
          <p:cNvSpPr/>
          <p:nvPr/>
        </p:nvSpPr>
        <p:spPr>
          <a:xfrm flipH="false" flipV="false" rot="0">
            <a:off x="11262027" y="5640874"/>
            <a:ext cx="4812209" cy="3654058"/>
          </a:xfrm>
          <a:custGeom>
            <a:avLst/>
            <a:gdLst/>
            <a:ahLst/>
            <a:cxnLst/>
            <a:rect r="r" b="b" t="t" l="l"/>
            <a:pathLst>
              <a:path h="3654058" w="4812209">
                <a:moveTo>
                  <a:pt x="0" y="0"/>
                </a:moveTo>
                <a:lnTo>
                  <a:pt x="4812209" y="0"/>
                </a:lnTo>
                <a:lnTo>
                  <a:pt x="4812209" y="3654058"/>
                </a:lnTo>
                <a:lnTo>
                  <a:pt x="0" y="3654058"/>
                </a:lnTo>
                <a:lnTo>
                  <a:pt x="0" y="0"/>
                </a:lnTo>
                <a:close/>
              </a:path>
            </a:pathLst>
          </a:custGeom>
          <a:blipFill>
            <a:blip r:embed="rId5"/>
            <a:stretch>
              <a:fillRect l="0" t="0" r="0" b="0"/>
            </a:stretch>
          </a:blipFill>
        </p:spPr>
      </p:sp>
      <p:sp>
        <p:nvSpPr>
          <p:cNvPr name="TextBox 6" id="6"/>
          <p:cNvSpPr txBox="true"/>
          <p:nvPr/>
        </p:nvSpPr>
        <p:spPr>
          <a:xfrm rot="0">
            <a:off x="13357795" y="4980622"/>
            <a:ext cx="392073"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128</a:t>
            </a:r>
          </a:p>
        </p:txBody>
      </p:sp>
      <p:sp>
        <p:nvSpPr>
          <p:cNvPr name="TextBox 7" id="7"/>
          <p:cNvSpPr txBox="true"/>
          <p:nvPr/>
        </p:nvSpPr>
        <p:spPr>
          <a:xfrm rot="0">
            <a:off x="4119350" y="4846320"/>
            <a:ext cx="522684"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1024</a:t>
            </a:r>
          </a:p>
        </p:txBody>
      </p:sp>
      <p:sp>
        <p:nvSpPr>
          <p:cNvPr name="TextBox 8" id="8"/>
          <p:cNvSpPr txBox="true"/>
          <p:nvPr/>
        </p:nvSpPr>
        <p:spPr>
          <a:xfrm rot="0">
            <a:off x="4380692" y="9572625"/>
            <a:ext cx="261342"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32</a:t>
            </a:r>
          </a:p>
        </p:txBody>
      </p:sp>
      <p:sp>
        <p:nvSpPr>
          <p:cNvPr name="TextBox 9" id="9"/>
          <p:cNvSpPr txBox="true"/>
          <p:nvPr/>
        </p:nvSpPr>
        <p:spPr>
          <a:xfrm rot="0">
            <a:off x="13553832" y="9704507"/>
            <a:ext cx="130731"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8</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1A022B"/>
        </a:solidFill>
      </p:bgPr>
    </p:bg>
    <p:spTree>
      <p:nvGrpSpPr>
        <p:cNvPr id="1" name=""/>
        <p:cNvGrpSpPr/>
        <p:nvPr/>
      </p:nvGrpSpPr>
      <p:grpSpPr>
        <a:xfrm>
          <a:off x="0" y="0"/>
          <a:ext cx="0" cy="0"/>
          <a:chOff x="0" y="0"/>
          <a:chExt cx="0" cy="0"/>
        </a:xfrm>
      </p:grpSpPr>
      <p:sp>
        <p:nvSpPr>
          <p:cNvPr name="Freeform 2" id="2"/>
          <p:cNvSpPr/>
          <p:nvPr/>
        </p:nvSpPr>
        <p:spPr>
          <a:xfrm flipH="false" flipV="false" rot="0">
            <a:off x="8037183" y="563698"/>
            <a:ext cx="1742515" cy="310484"/>
          </a:xfrm>
          <a:custGeom>
            <a:avLst/>
            <a:gdLst/>
            <a:ahLst/>
            <a:cxnLst/>
            <a:rect r="r" b="b" t="t" l="l"/>
            <a:pathLst>
              <a:path h="310484" w="1742515">
                <a:moveTo>
                  <a:pt x="0" y="0"/>
                </a:moveTo>
                <a:lnTo>
                  <a:pt x="1742514" y="0"/>
                </a:lnTo>
                <a:lnTo>
                  <a:pt x="1742514" y="310484"/>
                </a:lnTo>
                <a:lnTo>
                  <a:pt x="0" y="3104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108190" y="488388"/>
            <a:ext cx="1924760" cy="671916"/>
          </a:xfrm>
          <a:custGeom>
            <a:avLst/>
            <a:gdLst/>
            <a:ahLst/>
            <a:cxnLst/>
            <a:rect r="r" b="b" t="t" l="l"/>
            <a:pathLst>
              <a:path h="671916" w="1924760">
                <a:moveTo>
                  <a:pt x="0" y="0"/>
                </a:moveTo>
                <a:lnTo>
                  <a:pt x="1924761" y="0"/>
                </a:lnTo>
                <a:lnTo>
                  <a:pt x="1924761" y="671917"/>
                </a:lnTo>
                <a:lnTo>
                  <a:pt x="0" y="67191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779970" y="874182"/>
            <a:ext cx="1924760" cy="671916"/>
          </a:xfrm>
          <a:custGeom>
            <a:avLst/>
            <a:gdLst/>
            <a:ahLst/>
            <a:cxnLst/>
            <a:rect r="r" b="b" t="t" l="l"/>
            <a:pathLst>
              <a:path h="671916" w="1924760">
                <a:moveTo>
                  <a:pt x="0" y="0"/>
                </a:moveTo>
                <a:lnTo>
                  <a:pt x="1924761" y="0"/>
                </a:lnTo>
                <a:lnTo>
                  <a:pt x="1924761" y="671916"/>
                </a:lnTo>
                <a:lnTo>
                  <a:pt x="0" y="67191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0" y="0"/>
            <a:ext cx="8908440" cy="6288311"/>
          </a:xfrm>
          <a:custGeom>
            <a:avLst/>
            <a:gdLst/>
            <a:ahLst/>
            <a:cxnLst/>
            <a:rect r="r" b="b" t="t" l="l"/>
            <a:pathLst>
              <a:path h="6288311" w="8908440">
                <a:moveTo>
                  <a:pt x="0" y="0"/>
                </a:moveTo>
                <a:lnTo>
                  <a:pt x="8908440" y="0"/>
                </a:lnTo>
                <a:lnTo>
                  <a:pt x="8908440" y="6288311"/>
                </a:lnTo>
                <a:lnTo>
                  <a:pt x="0" y="6288311"/>
                </a:lnTo>
                <a:lnTo>
                  <a:pt x="0" y="0"/>
                </a:lnTo>
                <a:close/>
              </a:path>
            </a:pathLst>
          </a:custGeom>
          <a:blipFill>
            <a:blip r:embed="rId6"/>
            <a:stretch>
              <a:fillRect l="0" t="0" r="0" b="0"/>
            </a:stretch>
          </a:blipFill>
        </p:spPr>
      </p:sp>
      <p:sp>
        <p:nvSpPr>
          <p:cNvPr name="Freeform 6" id="6"/>
          <p:cNvSpPr/>
          <p:nvPr/>
        </p:nvSpPr>
        <p:spPr>
          <a:xfrm flipH="false" flipV="false" rot="0">
            <a:off x="8908440" y="5573771"/>
            <a:ext cx="9379560" cy="4713229"/>
          </a:xfrm>
          <a:custGeom>
            <a:avLst/>
            <a:gdLst/>
            <a:ahLst/>
            <a:cxnLst/>
            <a:rect r="r" b="b" t="t" l="l"/>
            <a:pathLst>
              <a:path h="4713229" w="9379560">
                <a:moveTo>
                  <a:pt x="0" y="0"/>
                </a:moveTo>
                <a:lnTo>
                  <a:pt x="9379560" y="0"/>
                </a:lnTo>
                <a:lnTo>
                  <a:pt x="9379560" y="4713229"/>
                </a:lnTo>
                <a:lnTo>
                  <a:pt x="0" y="4713229"/>
                </a:lnTo>
                <a:lnTo>
                  <a:pt x="0" y="0"/>
                </a:lnTo>
                <a:close/>
              </a:path>
            </a:pathLst>
          </a:custGeom>
          <a:blipFill>
            <a:blip r:embed="rId7"/>
            <a:stretch>
              <a:fillRect l="0" t="0" r="0" b="0"/>
            </a:stretch>
          </a:blipFill>
        </p:spPr>
      </p:sp>
      <p:sp>
        <p:nvSpPr>
          <p:cNvPr name="TextBox 7" id="7"/>
          <p:cNvSpPr txBox="true"/>
          <p:nvPr/>
        </p:nvSpPr>
        <p:spPr>
          <a:xfrm rot="0">
            <a:off x="9144000" y="1887206"/>
            <a:ext cx="8774715" cy="2475798"/>
          </a:xfrm>
          <a:prstGeom prst="rect">
            <a:avLst/>
          </a:prstGeom>
        </p:spPr>
        <p:txBody>
          <a:bodyPr anchor="t" rtlCol="false" tIns="0" lIns="0" bIns="0" rIns="0">
            <a:spAutoFit/>
          </a:bodyPr>
          <a:lstStyle/>
          <a:p>
            <a:pPr algn="ctr">
              <a:lnSpc>
                <a:spcPts val="3294"/>
              </a:lnSpc>
              <a:spcBef>
                <a:spcPct val="0"/>
              </a:spcBef>
            </a:pPr>
            <a:r>
              <a:rPr lang="en-US" b="true" sz="2353">
                <a:solidFill>
                  <a:srgbClr val="FFFFFF"/>
                </a:solidFill>
                <a:latin typeface="Open Sans Bold"/>
                <a:ea typeface="Open Sans Bold"/>
                <a:cs typeface="Open Sans Bold"/>
                <a:sym typeface="Open Sans Bold"/>
              </a:rPr>
              <a:t>AS THE NUMBER </a:t>
            </a:r>
            <a:r>
              <a:rPr lang="en-US" b="true" sz="2353">
                <a:solidFill>
                  <a:srgbClr val="FFFFFF"/>
                </a:solidFill>
                <a:latin typeface="Open Sans Bold"/>
                <a:ea typeface="Open Sans Bold"/>
                <a:cs typeface="Open Sans Bold"/>
                <a:sym typeface="Open Sans Bold"/>
              </a:rPr>
              <a:t>OF SAMPLES PER PIXEL INCREASES, THE MEAN SQUARED ERROR DROPS STEADILY, SHOWING THAT THE IMAGE BECOMES LESS NOISY.</a:t>
            </a:r>
          </a:p>
          <a:p>
            <a:pPr algn="ctr">
              <a:lnSpc>
                <a:spcPts val="3294"/>
              </a:lnSpc>
              <a:spcBef>
                <a:spcPct val="0"/>
              </a:spcBef>
            </a:pPr>
            <a:r>
              <a:rPr lang="en-US" b="true" sz="2353">
                <a:solidFill>
                  <a:srgbClr val="FFFFFF"/>
                </a:solidFill>
                <a:latin typeface="Open Sans Bold"/>
                <a:ea typeface="Open Sans Bold"/>
                <a:cs typeface="Open Sans Bold"/>
                <a:sym typeface="Open Sans Bold"/>
              </a:rPr>
              <a:t> THIS DEMONSTRATES MONTE CARLO CONVERGENCE: MORE SAMPLES AVERAGE OUT RANDOMNESS, LEADING TO MORE ACCURATE AND STABLE RESULTS.</a:t>
            </a:r>
          </a:p>
        </p:txBody>
      </p:sp>
      <p:sp>
        <p:nvSpPr>
          <p:cNvPr name="TextBox 8" id="8"/>
          <p:cNvSpPr txBox="true"/>
          <p:nvPr/>
        </p:nvSpPr>
        <p:spPr>
          <a:xfrm rot="0">
            <a:off x="0" y="6881559"/>
            <a:ext cx="8908440" cy="2475798"/>
          </a:xfrm>
          <a:prstGeom prst="rect">
            <a:avLst/>
          </a:prstGeom>
        </p:spPr>
        <p:txBody>
          <a:bodyPr anchor="t" rtlCol="false" tIns="0" lIns="0" bIns="0" rIns="0">
            <a:spAutoFit/>
          </a:bodyPr>
          <a:lstStyle/>
          <a:p>
            <a:pPr algn="ctr">
              <a:lnSpc>
                <a:spcPts val="3294"/>
              </a:lnSpc>
              <a:spcBef>
                <a:spcPct val="0"/>
              </a:spcBef>
            </a:pPr>
            <a:r>
              <a:rPr lang="en-US" b="true" sz="2353">
                <a:solidFill>
                  <a:srgbClr val="FFFFFF"/>
                </a:solidFill>
                <a:latin typeface="Open Sans Bold"/>
                <a:ea typeface="Open Sans Bold"/>
                <a:cs typeface="Open Sans Bold"/>
                <a:sym typeface="Open Sans Bold"/>
              </a:rPr>
              <a:t>AS THE NUMBER </a:t>
            </a:r>
            <a:r>
              <a:rPr lang="en-US" b="true" sz="2353">
                <a:solidFill>
                  <a:srgbClr val="FFFFFF"/>
                </a:solidFill>
                <a:latin typeface="Open Sans Bold"/>
                <a:ea typeface="Open Sans Bold"/>
                <a:cs typeface="Open Sans Bold"/>
                <a:sym typeface="Open Sans Bold"/>
              </a:rPr>
              <a:t>OF SAMPLES PER PIXEL INCREASES, </a:t>
            </a:r>
          </a:p>
          <a:p>
            <a:pPr algn="ctr">
              <a:lnSpc>
                <a:spcPts val="3294"/>
              </a:lnSpc>
              <a:spcBef>
                <a:spcPct val="0"/>
              </a:spcBef>
            </a:pPr>
            <a:r>
              <a:rPr lang="en-US" b="true" sz="2353">
                <a:solidFill>
                  <a:srgbClr val="FFFFFF"/>
                </a:solidFill>
                <a:latin typeface="Open Sans Bold"/>
                <a:ea typeface="Open Sans Bold"/>
                <a:cs typeface="Open Sans Bold"/>
                <a:sym typeface="Open Sans Bold"/>
              </a:rPr>
              <a:t>PSNR  (PEAK SIGNAL-TO-NOISE RATIO)  RISES RAPIDLY, INDICATING IMPROVED IMAGE QUALITY.</a:t>
            </a:r>
          </a:p>
          <a:p>
            <a:pPr algn="ctr">
              <a:lnSpc>
                <a:spcPts val="3294"/>
              </a:lnSpc>
              <a:spcBef>
                <a:spcPct val="0"/>
              </a:spcBef>
            </a:pPr>
            <a:r>
              <a:rPr lang="en-US" b="true" sz="2353">
                <a:solidFill>
                  <a:srgbClr val="FFFFFF"/>
                </a:solidFill>
                <a:latin typeface="Open Sans Bold"/>
                <a:ea typeface="Open Sans Bold"/>
                <a:cs typeface="Open Sans Bold"/>
                <a:sym typeface="Open Sans Bold"/>
              </a:rPr>
              <a:t> AFTER A CERTAIN POINT, THE CURVE FLATTENS, SHOWING DIMINISHING RETURNS WHERE EXTRA SAMPLES ADD LITTLE VISIBLE IMPROVEMENT.</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1A022B"/>
        </a:solidFill>
      </p:bgPr>
    </p:bg>
    <p:spTree>
      <p:nvGrpSpPr>
        <p:cNvPr id="1" name=""/>
        <p:cNvGrpSpPr/>
        <p:nvPr/>
      </p:nvGrpSpPr>
      <p:grpSpPr>
        <a:xfrm>
          <a:off x="0" y="0"/>
          <a:ext cx="0" cy="0"/>
          <a:chOff x="0" y="0"/>
          <a:chExt cx="0" cy="0"/>
        </a:xfrm>
      </p:grpSpPr>
      <p:sp>
        <p:nvSpPr>
          <p:cNvPr name="Freeform 2" id="2"/>
          <p:cNvSpPr/>
          <p:nvPr/>
        </p:nvSpPr>
        <p:spPr>
          <a:xfrm flipH="false" flipV="false" rot="0">
            <a:off x="-1809750" y="9258300"/>
            <a:ext cx="7315200" cy="1103930"/>
          </a:xfrm>
          <a:custGeom>
            <a:avLst/>
            <a:gdLst/>
            <a:ahLst/>
            <a:cxnLst/>
            <a:rect r="r" b="b" t="t" l="l"/>
            <a:pathLst>
              <a:path h="1103930" w="7315200">
                <a:moveTo>
                  <a:pt x="0" y="0"/>
                </a:moveTo>
                <a:lnTo>
                  <a:pt x="7315200" y="0"/>
                </a:lnTo>
                <a:lnTo>
                  <a:pt x="7315200" y="1103930"/>
                </a:lnTo>
                <a:lnTo>
                  <a:pt x="0" y="11039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486400" y="9258300"/>
            <a:ext cx="7315200" cy="1103930"/>
          </a:xfrm>
          <a:custGeom>
            <a:avLst/>
            <a:gdLst/>
            <a:ahLst/>
            <a:cxnLst/>
            <a:rect r="r" b="b" t="t" l="l"/>
            <a:pathLst>
              <a:path h="1103930" w="7315200">
                <a:moveTo>
                  <a:pt x="0" y="0"/>
                </a:moveTo>
                <a:lnTo>
                  <a:pt x="7315200" y="0"/>
                </a:lnTo>
                <a:lnTo>
                  <a:pt x="7315200" y="1103930"/>
                </a:lnTo>
                <a:lnTo>
                  <a:pt x="0" y="11039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943837" y="1686910"/>
            <a:ext cx="3974971" cy="7752602"/>
          </a:xfrm>
          <a:custGeom>
            <a:avLst/>
            <a:gdLst/>
            <a:ahLst/>
            <a:cxnLst/>
            <a:rect r="r" b="b" t="t" l="l"/>
            <a:pathLst>
              <a:path h="7752602" w="3974971">
                <a:moveTo>
                  <a:pt x="0" y="0"/>
                </a:moveTo>
                <a:lnTo>
                  <a:pt x="3974970" y="0"/>
                </a:lnTo>
                <a:lnTo>
                  <a:pt x="3974970" y="7752602"/>
                </a:lnTo>
                <a:lnTo>
                  <a:pt x="0" y="775260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2782550" y="9258300"/>
            <a:ext cx="7315200" cy="1103930"/>
          </a:xfrm>
          <a:custGeom>
            <a:avLst/>
            <a:gdLst/>
            <a:ahLst/>
            <a:cxnLst/>
            <a:rect r="r" b="b" t="t" l="l"/>
            <a:pathLst>
              <a:path h="1103930" w="7315200">
                <a:moveTo>
                  <a:pt x="0" y="0"/>
                </a:moveTo>
                <a:lnTo>
                  <a:pt x="7315200" y="0"/>
                </a:lnTo>
                <a:lnTo>
                  <a:pt x="7315200" y="1103930"/>
                </a:lnTo>
                <a:lnTo>
                  <a:pt x="0" y="11039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7108190" y="488388"/>
            <a:ext cx="1924760" cy="671916"/>
          </a:xfrm>
          <a:custGeom>
            <a:avLst/>
            <a:gdLst/>
            <a:ahLst/>
            <a:cxnLst/>
            <a:rect r="r" b="b" t="t" l="l"/>
            <a:pathLst>
              <a:path h="671916" w="1924760">
                <a:moveTo>
                  <a:pt x="0" y="0"/>
                </a:moveTo>
                <a:lnTo>
                  <a:pt x="1924761" y="0"/>
                </a:lnTo>
                <a:lnTo>
                  <a:pt x="1924761" y="671917"/>
                </a:lnTo>
                <a:lnTo>
                  <a:pt x="0" y="67191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779970" y="692742"/>
            <a:ext cx="1924760" cy="671916"/>
          </a:xfrm>
          <a:custGeom>
            <a:avLst/>
            <a:gdLst/>
            <a:ahLst/>
            <a:cxnLst/>
            <a:rect r="r" b="b" t="t" l="l"/>
            <a:pathLst>
              <a:path h="671916" w="1924760">
                <a:moveTo>
                  <a:pt x="0" y="0"/>
                </a:moveTo>
                <a:lnTo>
                  <a:pt x="1924761" y="0"/>
                </a:lnTo>
                <a:lnTo>
                  <a:pt x="1924761" y="671916"/>
                </a:lnTo>
                <a:lnTo>
                  <a:pt x="0" y="67191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772930" y="1308774"/>
            <a:ext cx="12170907" cy="2034622"/>
          </a:xfrm>
          <a:prstGeom prst="rect">
            <a:avLst/>
          </a:prstGeom>
        </p:spPr>
        <p:txBody>
          <a:bodyPr anchor="t" rtlCol="false" tIns="0" lIns="0" bIns="0" rIns="0">
            <a:spAutoFit/>
          </a:bodyPr>
          <a:lstStyle/>
          <a:p>
            <a:pPr algn="l">
              <a:lnSpc>
                <a:spcPts val="5460"/>
              </a:lnSpc>
            </a:pPr>
            <a:r>
              <a:rPr lang="en-US" sz="3900">
                <a:solidFill>
                  <a:srgbClr val="FFFFFF"/>
                </a:solidFill>
                <a:latin typeface="Press Start 2P"/>
                <a:ea typeface="Press Start 2P"/>
                <a:cs typeface="Press Start 2P"/>
                <a:sym typeface="Press Start 2P"/>
              </a:rPr>
              <a:t>WE KEEP MENTIONING NOISE </a:t>
            </a:r>
          </a:p>
          <a:p>
            <a:pPr algn="l">
              <a:lnSpc>
                <a:spcPts val="5460"/>
              </a:lnSpc>
              <a:spcBef>
                <a:spcPct val="0"/>
              </a:spcBef>
            </a:pPr>
            <a:r>
              <a:rPr lang="en-US" sz="3900">
                <a:solidFill>
                  <a:srgbClr val="FFFFFF"/>
                </a:solidFill>
                <a:latin typeface="Press Start 2P"/>
                <a:ea typeface="Press Start 2P"/>
                <a:cs typeface="Press Start 2P"/>
                <a:sym typeface="Press Start 2P"/>
              </a:rPr>
              <a:t>WHERE DOES NOISE COME FROM?</a:t>
            </a:r>
          </a:p>
        </p:txBody>
      </p:sp>
      <p:sp>
        <p:nvSpPr>
          <p:cNvPr name="TextBox 9" id="9"/>
          <p:cNvSpPr txBox="true"/>
          <p:nvPr/>
        </p:nvSpPr>
        <p:spPr>
          <a:xfrm rot="0">
            <a:off x="4584274" y="3407829"/>
            <a:ext cx="9309951" cy="1819868"/>
          </a:xfrm>
          <a:prstGeom prst="rect">
            <a:avLst/>
          </a:prstGeom>
        </p:spPr>
        <p:txBody>
          <a:bodyPr anchor="t" rtlCol="false" tIns="0" lIns="0" bIns="0" rIns="0">
            <a:spAutoFit/>
          </a:bodyPr>
          <a:lstStyle/>
          <a:p>
            <a:pPr algn="l" marL="561337" indent="-280669" lvl="1">
              <a:lnSpc>
                <a:spcPts val="3639"/>
              </a:lnSpc>
              <a:buFont typeface="Arial"/>
              <a:buChar char="•"/>
            </a:pPr>
            <a:r>
              <a:rPr lang="en-US" b="true" sz="2599">
                <a:solidFill>
                  <a:srgbClr val="FFFFFF"/>
                </a:solidFill>
                <a:latin typeface="Open Sans Bold"/>
                <a:ea typeface="Open Sans Bold"/>
                <a:cs typeface="Open Sans Bold"/>
                <a:sym typeface="Open Sans Bold"/>
              </a:rPr>
              <a:t>M</a:t>
            </a:r>
            <a:r>
              <a:rPr lang="en-US" b="true" sz="2599">
                <a:solidFill>
                  <a:srgbClr val="FFFFFF"/>
                </a:solidFill>
                <a:latin typeface="Open Sans Bold"/>
                <a:ea typeface="Open Sans Bold"/>
                <a:cs typeface="Open Sans Bold"/>
                <a:sym typeface="Open Sans Bold"/>
              </a:rPr>
              <a:t>ONTE CARLO RENDERING USES RANDOM RAYS</a:t>
            </a:r>
          </a:p>
          <a:p>
            <a:pPr algn="l" marL="561337" indent="-280669" lvl="1">
              <a:lnSpc>
                <a:spcPts val="3639"/>
              </a:lnSpc>
              <a:buFont typeface="Arial"/>
              <a:buChar char="•"/>
            </a:pPr>
            <a:r>
              <a:rPr lang="en-US" b="true" sz="2599">
                <a:solidFill>
                  <a:srgbClr val="FFFFFF"/>
                </a:solidFill>
                <a:latin typeface="Open Sans Bold"/>
                <a:ea typeface="Open Sans Bold"/>
                <a:cs typeface="Open Sans Bold"/>
                <a:sym typeface="Open Sans Bold"/>
              </a:rPr>
              <a:t>EACH RAY IS A GUESS ABOUT HOW LIGHT BEHAVES</a:t>
            </a:r>
          </a:p>
          <a:p>
            <a:pPr algn="l" marL="561337" indent="-280669" lvl="1">
              <a:lnSpc>
                <a:spcPts val="3639"/>
              </a:lnSpc>
              <a:buFont typeface="Arial"/>
              <a:buChar char="•"/>
            </a:pPr>
            <a:r>
              <a:rPr lang="en-US" b="true" sz="2599">
                <a:solidFill>
                  <a:srgbClr val="FFFFFF"/>
                </a:solidFill>
                <a:latin typeface="Open Sans Bold"/>
                <a:ea typeface="Open Sans Bold"/>
                <a:cs typeface="Open Sans Bold"/>
                <a:sym typeface="Open Sans Bold"/>
              </a:rPr>
              <a:t>DIFFERENT GUESSES PRODUCE SLIGHTLY DIFFERENT RESULTS</a:t>
            </a:r>
          </a:p>
        </p:txBody>
      </p:sp>
      <p:sp>
        <p:nvSpPr>
          <p:cNvPr name="TextBox 10" id="10"/>
          <p:cNvSpPr txBox="true"/>
          <p:nvPr/>
        </p:nvSpPr>
        <p:spPr>
          <a:xfrm rot="0">
            <a:off x="1868180" y="5635804"/>
            <a:ext cx="6948358" cy="1270001"/>
          </a:xfrm>
          <a:prstGeom prst="rect">
            <a:avLst/>
          </a:prstGeom>
        </p:spPr>
        <p:txBody>
          <a:bodyPr anchor="t" rtlCol="false" tIns="0" lIns="0" bIns="0" rIns="0">
            <a:spAutoFit/>
          </a:bodyPr>
          <a:lstStyle/>
          <a:p>
            <a:pPr algn="ctr">
              <a:lnSpc>
                <a:spcPts val="3920"/>
              </a:lnSpc>
              <a:spcBef>
                <a:spcPct val="0"/>
              </a:spcBef>
            </a:pPr>
            <a:r>
              <a:rPr lang="en-US" b="true" sz="2800">
                <a:solidFill>
                  <a:srgbClr val="FFFFFF"/>
                </a:solidFill>
                <a:latin typeface="Open Sans Bold"/>
                <a:ea typeface="Open Sans Bold"/>
                <a:cs typeface="Open Sans Bold"/>
                <a:sym typeface="Open Sans Bold"/>
              </a:rPr>
              <a:t>WHAT WE SEE </a:t>
            </a:r>
            <a:r>
              <a:rPr lang="en-US" b="true" sz="2800">
                <a:solidFill>
                  <a:srgbClr val="FFFFFF"/>
                </a:solidFill>
                <a:latin typeface="Open Sans Bold"/>
                <a:ea typeface="Open Sans Bold"/>
                <a:cs typeface="Open Sans Bold"/>
                <a:sym typeface="Open Sans Bold"/>
              </a:rPr>
              <a:t>ON SCREEN</a:t>
            </a:r>
          </a:p>
          <a:p>
            <a:pPr algn="ctr">
              <a:lnSpc>
                <a:spcPts val="3080"/>
              </a:lnSpc>
            </a:pPr>
            <a:r>
              <a:rPr lang="en-US" b="true" sz="2200">
                <a:solidFill>
                  <a:srgbClr val="FFFFFF"/>
                </a:solidFill>
                <a:latin typeface="Open Sans Bold"/>
                <a:ea typeface="Open Sans Bold"/>
                <a:cs typeface="Open Sans Bold"/>
                <a:sym typeface="Open Sans Bold"/>
              </a:rPr>
              <a:t>WHEN GUESSES DISAGREE, PIXELS DON’T MATCH</a:t>
            </a:r>
          </a:p>
          <a:p>
            <a:pPr algn="ctr">
              <a:lnSpc>
                <a:spcPts val="3080"/>
              </a:lnSpc>
            </a:pPr>
            <a:r>
              <a:rPr lang="en-US" b="true" sz="2200">
                <a:solidFill>
                  <a:srgbClr val="FFFFFF"/>
                </a:solidFill>
                <a:latin typeface="Open Sans Bold"/>
                <a:ea typeface="Open Sans Bold"/>
                <a:cs typeface="Open Sans Bold"/>
                <a:sym typeface="Open Sans Bold"/>
              </a:rPr>
              <a:t>THIS DISAGREEMENT APPEARS AS GRAIN OR NOISE</a:t>
            </a:r>
          </a:p>
        </p:txBody>
      </p:sp>
      <p:sp>
        <p:nvSpPr>
          <p:cNvPr name="TextBox 11" id="11"/>
          <p:cNvSpPr txBox="true"/>
          <p:nvPr/>
        </p:nvSpPr>
        <p:spPr>
          <a:xfrm rot="0">
            <a:off x="5796973" y="7313911"/>
            <a:ext cx="9110718" cy="1944389"/>
          </a:xfrm>
          <a:prstGeom prst="rect">
            <a:avLst/>
          </a:prstGeom>
        </p:spPr>
        <p:txBody>
          <a:bodyPr anchor="t" rtlCol="false" tIns="0" lIns="0" bIns="0" rIns="0">
            <a:spAutoFit/>
          </a:bodyPr>
          <a:lstStyle/>
          <a:p>
            <a:pPr algn="ctr">
              <a:lnSpc>
                <a:spcPts val="3920"/>
              </a:lnSpc>
              <a:spcBef>
                <a:spcPct val="0"/>
              </a:spcBef>
            </a:pPr>
            <a:r>
              <a:rPr lang="en-US" b="true" sz="2800">
                <a:solidFill>
                  <a:srgbClr val="FFFFFF"/>
                </a:solidFill>
                <a:latin typeface="Open Sans Bold"/>
                <a:ea typeface="Open Sans Bold"/>
                <a:cs typeface="Open Sans Bold"/>
                <a:sym typeface="Open Sans Bold"/>
              </a:rPr>
              <a:t>THE REAL REAS</a:t>
            </a:r>
            <a:r>
              <a:rPr lang="en-US" b="true" sz="2800">
                <a:solidFill>
                  <a:srgbClr val="FFFFFF"/>
                </a:solidFill>
                <a:latin typeface="Open Sans Bold"/>
                <a:ea typeface="Open Sans Bold"/>
                <a:cs typeface="Open Sans Bold"/>
                <a:sym typeface="Open Sans Bold"/>
              </a:rPr>
              <a:t>ON</a:t>
            </a:r>
          </a:p>
          <a:p>
            <a:pPr algn="ctr">
              <a:lnSpc>
                <a:spcPts val="3080"/>
              </a:lnSpc>
            </a:pPr>
            <a:r>
              <a:rPr lang="en-US" b="true" sz="2200">
                <a:solidFill>
                  <a:srgbClr val="FFFFFF"/>
                </a:solidFill>
                <a:latin typeface="Open Sans Bold"/>
                <a:ea typeface="Open Sans Bold"/>
                <a:cs typeface="Open Sans Bold"/>
                <a:sym typeface="Open Sans Bold"/>
              </a:rPr>
              <a:t>THIS RANDOMNESS IS CALLED VARIANCE</a:t>
            </a:r>
          </a:p>
          <a:p>
            <a:pPr algn="ctr">
              <a:lnSpc>
                <a:spcPts val="3080"/>
              </a:lnSpc>
            </a:pPr>
            <a:r>
              <a:rPr lang="en-US" b="true" sz="2200">
                <a:solidFill>
                  <a:srgbClr val="FFFFFF"/>
                </a:solidFill>
                <a:latin typeface="Open Sans Bold"/>
                <a:ea typeface="Open Sans Bold"/>
                <a:cs typeface="Open Sans Bold"/>
                <a:sym typeface="Open Sans Bold"/>
              </a:rPr>
              <a:t>LOW SAMPLES → HIGH VARIANCE → NOISY IMAGE</a:t>
            </a:r>
          </a:p>
          <a:p>
            <a:pPr algn="ctr">
              <a:lnSpc>
                <a:spcPts val="3080"/>
              </a:lnSpc>
            </a:pPr>
            <a:r>
              <a:rPr lang="en-US" b="true" sz="2200">
                <a:solidFill>
                  <a:srgbClr val="FFFFFF"/>
                </a:solidFill>
                <a:latin typeface="Open Sans Bold"/>
                <a:ea typeface="Open Sans Bold"/>
                <a:cs typeface="Open Sans Bold"/>
                <a:sym typeface="Open Sans Bold"/>
              </a:rPr>
              <a:t>MORE SAMPLES LET THE GUESSES AVERAGE OUT, REDUCING NOISE</a:t>
            </a:r>
          </a:p>
          <a:p>
            <a:pPr algn="ctr">
              <a:lnSpc>
                <a:spcPts val="2240"/>
              </a:lnSpc>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1A022B"/>
        </a:solidFill>
      </p:bgPr>
    </p:bg>
    <p:spTree>
      <p:nvGrpSpPr>
        <p:cNvPr id="1" name=""/>
        <p:cNvGrpSpPr/>
        <p:nvPr/>
      </p:nvGrpSpPr>
      <p:grpSpPr>
        <a:xfrm>
          <a:off x="0" y="0"/>
          <a:ext cx="0" cy="0"/>
          <a:chOff x="0" y="0"/>
          <a:chExt cx="0" cy="0"/>
        </a:xfrm>
      </p:grpSpPr>
      <p:sp>
        <p:nvSpPr>
          <p:cNvPr name="Freeform 2" id="2"/>
          <p:cNvSpPr/>
          <p:nvPr/>
        </p:nvSpPr>
        <p:spPr>
          <a:xfrm flipH="false" flipV="false" rot="0">
            <a:off x="1371436" y="7587065"/>
            <a:ext cx="729142" cy="1822856"/>
          </a:xfrm>
          <a:custGeom>
            <a:avLst/>
            <a:gdLst/>
            <a:ahLst/>
            <a:cxnLst/>
            <a:rect r="r" b="b" t="t" l="l"/>
            <a:pathLst>
              <a:path h="1822856" w="729142">
                <a:moveTo>
                  <a:pt x="0" y="0"/>
                </a:moveTo>
                <a:lnTo>
                  <a:pt x="729143" y="0"/>
                </a:lnTo>
                <a:lnTo>
                  <a:pt x="729143" y="1822856"/>
                </a:lnTo>
                <a:lnTo>
                  <a:pt x="0" y="18228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809750" y="9258300"/>
            <a:ext cx="7315200" cy="1103930"/>
          </a:xfrm>
          <a:custGeom>
            <a:avLst/>
            <a:gdLst/>
            <a:ahLst/>
            <a:cxnLst/>
            <a:rect r="r" b="b" t="t" l="l"/>
            <a:pathLst>
              <a:path h="1103930" w="7315200">
                <a:moveTo>
                  <a:pt x="0" y="0"/>
                </a:moveTo>
                <a:lnTo>
                  <a:pt x="7315200" y="0"/>
                </a:lnTo>
                <a:lnTo>
                  <a:pt x="7315200" y="1103930"/>
                </a:lnTo>
                <a:lnTo>
                  <a:pt x="0" y="11039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6032622" y="8364246"/>
            <a:ext cx="2255378" cy="1045675"/>
          </a:xfrm>
          <a:custGeom>
            <a:avLst/>
            <a:gdLst/>
            <a:ahLst/>
            <a:cxnLst/>
            <a:rect r="r" b="b" t="t" l="l"/>
            <a:pathLst>
              <a:path h="1045675" w="2255378">
                <a:moveTo>
                  <a:pt x="0" y="0"/>
                </a:moveTo>
                <a:lnTo>
                  <a:pt x="2255378" y="0"/>
                </a:lnTo>
                <a:lnTo>
                  <a:pt x="2255378" y="1045675"/>
                </a:lnTo>
                <a:lnTo>
                  <a:pt x="0" y="104567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5486400" y="9258300"/>
            <a:ext cx="7315200" cy="1103930"/>
          </a:xfrm>
          <a:custGeom>
            <a:avLst/>
            <a:gdLst/>
            <a:ahLst/>
            <a:cxnLst/>
            <a:rect r="r" b="b" t="t" l="l"/>
            <a:pathLst>
              <a:path h="1103930" w="7315200">
                <a:moveTo>
                  <a:pt x="0" y="0"/>
                </a:moveTo>
                <a:lnTo>
                  <a:pt x="7315200" y="0"/>
                </a:lnTo>
                <a:lnTo>
                  <a:pt x="7315200" y="1103930"/>
                </a:lnTo>
                <a:lnTo>
                  <a:pt x="0" y="11039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2782550" y="9258300"/>
            <a:ext cx="7315200" cy="1103930"/>
          </a:xfrm>
          <a:custGeom>
            <a:avLst/>
            <a:gdLst/>
            <a:ahLst/>
            <a:cxnLst/>
            <a:rect r="r" b="b" t="t" l="l"/>
            <a:pathLst>
              <a:path h="1103930" w="7315200">
                <a:moveTo>
                  <a:pt x="0" y="0"/>
                </a:moveTo>
                <a:lnTo>
                  <a:pt x="7315200" y="0"/>
                </a:lnTo>
                <a:lnTo>
                  <a:pt x="7315200" y="1103930"/>
                </a:lnTo>
                <a:lnTo>
                  <a:pt x="0" y="11039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5486400" y="704759"/>
            <a:ext cx="1818033" cy="323941"/>
          </a:xfrm>
          <a:custGeom>
            <a:avLst/>
            <a:gdLst/>
            <a:ahLst/>
            <a:cxnLst/>
            <a:rect r="r" b="b" t="t" l="l"/>
            <a:pathLst>
              <a:path h="323941" w="1818033">
                <a:moveTo>
                  <a:pt x="0" y="0"/>
                </a:moveTo>
                <a:lnTo>
                  <a:pt x="1818033" y="0"/>
                </a:lnTo>
                <a:lnTo>
                  <a:pt x="1818033" y="323941"/>
                </a:lnTo>
                <a:lnTo>
                  <a:pt x="0" y="32394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88753" y="2054287"/>
            <a:ext cx="1924760" cy="671916"/>
          </a:xfrm>
          <a:custGeom>
            <a:avLst/>
            <a:gdLst/>
            <a:ahLst/>
            <a:cxnLst/>
            <a:rect r="r" b="b" t="t" l="l"/>
            <a:pathLst>
              <a:path h="671916" w="1924760">
                <a:moveTo>
                  <a:pt x="0" y="0"/>
                </a:moveTo>
                <a:lnTo>
                  <a:pt x="1924760" y="0"/>
                </a:lnTo>
                <a:lnTo>
                  <a:pt x="1924760" y="671917"/>
                </a:lnTo>
                <a:lnTo>
                  <a:pt x="0" y="67191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true" flipV="false" rot="0">
            <a:off x="16948915" y="4008751"/>
            <a:ext cx="1818033" cy="323941"/>
          </a:xfrm>
          <a:custGeom>
            <a:avLst/>
            <a:gdLst/>
            <a:ahLst/>
            <a:cxnLst/>
            <a:rect r="r" b="b" t="t" l="l"/>
            <a:pathLst>
              <a:path h="323941" w="1818033">
                <a:moveTo>
                  <a:pt x="1818034" y="0"/>
                </a:moveTo>
                <a:lnTo>
                  <a:pt x="0" y="0"/>
                </a:lnTo>
                <a:lnTo>
                  <a:pt x="0" y="323941"/>
                </a:lnTo>
                <a:lnTo>
                  <a:pt x="1818034" y="323941"/>
                </a:lnTo>
                <a:lnTo>
                  <a:pt x="1818034"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4736726" y="434050"/>
            <a:ext cx="1703424" cy="594650"/>
          </a:xfrm>
          <a:custGeom>
            <a:avLst/>
            <a:gdLst/>
            <a:ahLst/>
            <a:cxnLst/>
            <a:rect r="r" b="b" t="t" l="l"/>
            <a:pathLst>
              <a:path h="594650" w="1703424">
                <a:moveTo>
                  <a:pt x="0" y="0"/>
                </a:moveTo>
                <a:lnTo>
                  <a:pt x="1703424" y="0"/>
                </a:lnTo>
                <a:lnTo>
                  <a:pt x="1703424" y="594650"/>
                </a:lnTo>
                <a:lnTo>
                  <a:pt x="0" y="59465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1" id="11"/>
          <p:cNvSpPr txBox="true"/>
          <p:nvPr/>
        </p:nvSpPr>
        <p:spPr>
          <a:xfrm rot="0">
            <a:off x="1847850" y="1207867"/>
            <a:ext cx="12470904" cy="1597590"/>
          </a:xfrm>
          <a:prstGeom prst="rect">
            <a:avLst/>
          </a:prstGeom>
        </p:spPr>
        <p:txBody>
          <a:bodyPr anchor="t" rtlCol="false" tIns="0" lIns="0" bIns="0" rIns="0">
            <a:spAutoFit/>
          </a:bodyPr>
          <a:lstStyle/>
          <a:p>
            <a:pPr algn="l">
              <a:lnSpc>
                <a:spcPts val="6439"/>
              </a:lnSpc>
              <a:spcBef>
                <a:spcPct val="0"/>
              </a:spcBef>
            </a:pPr>
            <a:r>
              <a:rPr lang="en-US" sz="4599">
                <a:solidFill>
                  <a:srgbClr val="FFFFFF"/>
                </a:solidFill>
                <a:latin typeface="Press Start 2P"/>
                <a:ea typeface="Press Start 2P"/>
                <a:cs typeface="Press Start 2P"/>
                <a:sym typeface="Press Start 2P"/>
              </a:rPr>
              <a:t>CONVERGENCE IN MONTE CARLO</a:t>
            </a:r>
          </a:p>
        </p:txBody>
      </p:sp>
      <p:sp>
        <p:nvSpPr>
          <p:cNvPr name="TextBox 12" id="12"/>
          <p:cNvSpPr txBox="true"/>
          <p:nvPr/>
        </p:nvSpPr>
        <p:spPr>
          <a:xfrm rot="0">
            <a:off x="1405540" y="3527413"/>
            <a:ext cx="8199820" cy="481339"/>
          </a:xfrm>
          <a:prstGeom prst="rect">
            <a:avLst/>
          </a:prstGeom>
        </p:spPr>
        <p:txBody>
          <a:bodyPr anchor="t" rtlCol="false" tIns="0" lIns="0" bIns="0" rIns="0">
            <a:spAutoFit/>
          </a:bodyPr>
          <a:lstStyle/>
          <a:p>
            <a:pPr algn="ctr">
              <a:lnSpc>
                <a:spcPts val="3920"/>
              </a:lnSpc>
              <a:spcBef>
                <a:spcPct val="0"/>
              </a:spcBef>
            </a:pPr>
            <a:r>
              <a:rPr lang="en-US" b="true" sz="2800">
                <a:solidFill>
                  <a:srgbClr val="FFFFFF"/>
                </a:solidFill>
                <a:latin typeface="Open Sans Bold"/>
                <a:ea typeface="Open Sans Bold"/>
                <a:cs typeface="Open Sans Bold"/>
                <a:sym typeface="Open Sans Bold"/>
              </a:rPr>
              <a:t>EACH PIXEL COLOR STARTS AS A R</a:t>
            </a:r>
            <a:r>
              <a:rPr lang="en-US" b="true" sz="2800">
                <a:solidFill>
                  <a:srgbClr val="FFFFFF"/>
                </a:solidFill>
                <a:latin typeface="Open Sans Bold"/>
                <a:ea typeface="Open Sans Bold"/>
                <a:cs typeface="Open Sans Bold"/>
                <a:sym typeface="Open Sans Bold"/>
              </a:rPr>
              <a:t>OUGH GUESS</a:t>
            </a:r>
          </a:p>
        </p:txBody>
      </p:sp>
      <p:sp>
        <p:nvSpPr>
          <p:cNvPr name="TextBox 13" id="13"/>
          <p:cNvSpPr txBox="true"/>
          <p:nvPr/>
        </p:nvSpPr>
        <p:spPr>
          <a:xfrm rot="0">
            <a:off x="5965349" y="4275542"/>
            <a:ext cx="11892583" cy="481339"/>
          </a:xfrm>
          <a:prstGeom prst="rect">
            <a:avLst/>
          </a:prstGeom>
        </p:spPr>
        <p:txBody>
          <a:bodyPr anchor="t" rtlCol="false" tIns="0" lIns="0" bIns="0" rIns="0">
            <a:spAutoFit/>
          </a:bodyPr>
          <a:lstStyle/>
          <a:p>
            <a:pPr algn="ctr">
              <a:lnSpc>
                <a:spcPts val="3920"/>
              </a:lnSpc>
              <a:spcBef>
                <a:spcPct val="0"/>
              </a:spcBef>
            </a:pPr>
            <a:r>
              <a:rPr lang="en-US" b="true" sz="2800">
                <a:solidFill>
                  <a:srgbClr val="FFFFFF"/>
                </a:solidFill>
                <a:latin typeface="Open Sans Bold"/>
                <a:ea typeface="Open Sans Bold"/>
                <a:cs typeface="Open Sans Bold"/>
                <a:sym typeface="Open Sans Bold"/>
              </a:rPr>
              <a:t>THAT GUESS IS BASED ON A SMALL NUMBER OF RANDOM RAYS</a:t>
            </a:r>
          </a:p>
        </p:txBody>
      </p:sp>
      <p:sp>
        <p:nvSpPr>
          <p:cNvPr name="TextBox 14" id="14"/>
          <p:cNvSpPr txBox="true"/>
          <p:nvPr/>
        </p:nvSpPr>
        <p:spPr>
          <a:xfrm rot="0">
            <a:off x="1371436" y="5126132"/>
            <a:ext cx="12080206" cy="976649"/>
          </a:xfrm>
          <a:prstGeom prst="rect">
            <a:avLst/>
          </a:prstGeom>
        </p:spPr>
        <p:txBody>
          <a:bodyPr anchor="t" rtlCol="false" tIns="0" lIns="0" bIns="0" rIns="0">
            <a:spAutoFit/>
          </a:bodyPr>
          <a:lstStyle/>
          <a:p>
            <a:pPr algn="ctr">
              <a:lnSpc>
                <a:spcPts val="3920"/>
              </a:lnSpc>
            </a:pPr>
            <a:r>
              <a:rPr lang="en-US" sz="2800" b="true">
                <a:solidFill>
                  <a:srgbClr val="FFFFFF"/>
                </a:solidFill>
                <a:latin typeface="Open Sans Bold"/>
                <a:ea typeface="Open Sans Bold"/>
                <a:cs typeface="Open Sans Bold"/>
                <a:sym typeface="Open Sans Bold"/>
              </a:rPr>
              <a:t>Wit</a:t>
            </a:r>
            <a:r>
              <a:rPr lang="en-US" b="true" sz="2800">
                <a:solidFill>
                  <a:srgbClr val="FFFFFF"/>
                </a:solidFill>
                <a:latin typeface="Open Sans Bold"/>
                <a:ea typeface="Open Sans Bold"/>
                <a:cs typeface="Open Sans Bold"/>
                <a:sym typeface="Open Sans Bold"/>
              </a:rPr>
              <a:t>H FEW RAYS, THE RESULT CHANGES A LOT BETWEEN RENDERS</a:t>
            </a:r>
          </a:p>
          <a:p>
            <a:pPr algn="ctr">
              <a:lnSpc>
                <a:spcPts val="3920"/>
              </a:lnSpc>
              <a:spcBef>
                <a:spcPct val="0"/>
              </a:spcBef>
            </a:pPr>
            <a:r>
              <a:rPr lang="en-US" b="true" sz="2800">
                <a:solidFill>
                  <a:srgbClr val="FFFFFF"/>
                </a:solidFill>
                <a:latin typeface="Open Sans Bold"/>
                <a:ea typeface="Open Sans Bold"/>
                <a:cs typeface="Open Sans Bold"/>
                <a:sym typeface="Open Sans Bold"/>
              </a:rPr>
              <a:t>AS MORE RAYS ARE ADDED, THE AVERAGE CHANGES LESS AND LESS</a:t>
            </a:r>
          </a:p>
        </p:txBody>
      </p:sp>
      <p:sp>
        <p:nvSpPr>
          <p:cNvPr name="TextBox 15" id="15"/>
          <p:cNvSpPr txBox="true"/>
          <p:nvPr/>
        </p:nvSpPr>
        <p:spPr>
          <a:xfrm rot="0">
            <a:off x="5505450" y="6474256"/>
            <a:ext cx="11892583" cy="481339"/>
          </a:xfrm>
          <a:prstGeom prst="rect">
            <a:avLst/>
          </a:prstGeom>
        </p:spPr>
        <p:txBody>
          <a:bodyPr anchor="t" rtlCol="false" tIns="0" lIns="0" bIns="0" rIns="0">
            <a:spAutoFit/>
          </a:bodyPr>
          <a:lstStyle/>
          <a:p>
            <a:pPr algn="ctr">
              <a:lnSpc>
                <a:spcPts val="3920"/>
              </a:lnSpc>
              <a:spcBef>
                <a:spcPct val="0"/>
              </a:spcBef>
            </a:pPr>
            <a:r>
              <a:rPr lang="en-US" b="true" sz="2800">
                <a:solidFill>
                  <a:srgbClr val="FFFFFF"/>
                </a:solidFill>
                <a:latin typeface="Open Sans Bold"/>
                <a:ea typeface="Open Sans Bold"/>
                <a:cs typeface="Open Sans Bold"/>
                <a:sym typeface="Open Sans Bold"/>
              </a:rPr>
              <a:t>EVENTUALLY , ADDING NEW SAMPLES BARELY CHANGES THE IMAGE</a:t>
            </a:r>
          </a:p>
        </p:txBody>
      </p:sp>
      <p:sp>
        <p:nvSpPr>
          <p:cNvPr name="TextBox 16" id="16"/>
          <p:cNvSpPr txBox="true"/>
          <p:nvPr/>
        </p:nvSpPr>
        <p:spPr>
          <a:xfrm rot="0">
            <a:off x="2675168" y="7669969"/>
            <a:ext cx="13357454" cy="1144931"/>
          </a:xfrm>
          <a:prstGeom prst="rect">
            <a:avLst/>
          </a:prstGeom>
        </p:spPr>
        <p:txBody>
          <a:bodyPr anchor="t" rtlCol="false" tIns="0" lIns="0" bIns="0" rIns="0">
            <a:spAutoFit/>
          </a:bodyPr>
          <a:lstStyle/>
          <a:p>
            <a:pPr algn="ctr">
              <a:lnSpc>
                <a:spcPts val="4620"/>
              </a:lnSpc>
              <a:spcBef>
                <a:spcPct val="0"/>
              </a:spcBef>
            </a:pPr>
            <a:r>
              <a:rPr lang="en-US" b="true" sz="3300">
                <a:solidFill>
                  <a:srgbClr val="FFFFFF"/>
                </a:solidFill>
                <a:latin typeface="Open Sans Bold"/>
                <a:ea typeface="Open Sans Bold"/>
                <a:cs typeface="Open Sans Bold"/>
                <a:sym typeface="Open Sans Bold"/>
              </a:rPr>
              <a:t>WHEN RES</a:t>
            </a:r>
            <a:r>
              <a:rPr lang="en-US" b="true" sz="3300">
                <a:solidFill>
                  <a:srgbClr val="FFFFFF"/>
                </a:solidFill>
                <a:latin typeface="Open Sans Bold"/>
                <a:ea typeface="Open Sans Bold"/>
                <a:cs typeface="Open Sans Bold"/>
                <a:sym typeface="Open Sans Bold"/>
              </a:rPr>
              <a:t>ULTS STOP CHANGING AND SETTLE TO A FINAL VALUE,</a:t>
            </a:r>
          </a:p>
          <a:p>
            <a:pPr algn="ctr">
              <a:lnSpc>
                <a:spcPts val="4620"/>
              </a:lnSpc>
              <a:spcBef>
                <a:spcPct val="0"/>
              </a:spcBef>
            </a:pPr>
            <a:r>
              <a:rPr lang="en-US" b="true" sz="3300">
                <a:solidFill>
                  <a:srgbClr val="FFFFFF"/>
                </a:solidFill>
                <a:latin typeface="Open Sans Bold"/>
                <a:ea typeface="Open Sans Bold"/>
                <a:cs typeface="Open Sans Bold"/>
                <a:sym typeface="Open Sans Bold"/>
              </a:rPr>
              <a:t> THIS BEHAVIOR IS CALLED CONVERGENCE</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1A022B"/>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0524537" cy="5262268"/>
          </a:xfrm>
          <a:custGeom>
            <a:avLst/>
            <a:gdLst/>
            <a:ahLst/>
            <a:cxnLst/>
            <a:rect r="r" b="b" t="t" l="l"/>
            <a:pathLst>
              <a:path h="5262268" w="10524537">
                <a:moveTo>
                  <a:pt x="0" y="0"/>
                </a:moveTo>
                <a:lnTo>
                  <a:pt x="10524537" y="0"/>
                </a:lnTo>
                <a:lnTo>
                  <a:pt x="10524537" y="5262268"/>
                </a:lnTo>
                <a:lnTo>
                  <a:pt x="0" y="5262268"/>
                </a:lnTo>
                <a:lnTo>
                  <a:pt x="0" y="0"/>
                </a:lnTo>
                <a:close/>
              </a:path>
            </a:pathLst>
          </a:custGeom>
          <a:blipFill>
            <a:blip r:embed="rId2"/>
            <a:stretch>
              <a:fillRect l="0" t="0" r="0" b="0"/>
            </a:stretch>
          </a:blipFill>
        </p:spPr>
      </p:sp>
      <p:sp>
        <p:nvSpPr>
          <p:cNvPr name="Freeform 3" id="3"/>
          <p:cNvSpPr/>
          <p:nvPr/>
        </p:nvSpPr>
        <p:spPr>
          <a:xfrm flipH="false" flipV="false" rot="0">
            <a:off x="7748319" y="5262268"/>
            <a:ext cx="10539681" cy="5024732"/>
          </a:xfrm>
          <a:custGeom>
            <a:avLst/>
            <a:gdLst/>
            <a:ahLst/>
            <a:cxnLst/>
            <a:rect r="r" b="b" t="t" l="l"/>
            <a:pathLst>
              <a:path h="5024732" w="10539681">
                <a:moveTo>
                  <a:pt x="0" y="0"/>
                </a:moveTo>
                <a:lnTo>
                  <a:pt x="10539681" y="0"/>
                </a:lnTo>
                <a:lnTo>
                  <a:pt x="10539681" y="5024732"/>
                </a:lnTo>
                <a:lnTo>
                  <a:pt x="0" y="5024732"/>
                </a:lnTo>
                <a:lnTo>
                  <a:pt x="0" y="0"/>
                </a:lnTo>
                <a:close/>
              </a:path>
            </a:pathLst>
          </a:custGeom>
          <a:blipFill>
            <a:blip r:embed="rId3"/>
            <a:stretch>
              <a:fillRect l="0" t="0" r="0" b="0"/>
            </a:stretch>
          </a:blipFill>
        </p:spPr>
      </p:sp>
      <p:sp>
        <p:nvSpPr>
          <p:cNvPr name="TextBox 4" id="4"/>
          <p:cNvSpPr txBox="true"/>
          <p:nvPr/>
        </p:nvSpPr>
        <p:spPr>
          <a:xfrm rot="0">
            <a:off x="10937626" y="875959"/>
            <a:ext cx="7144892" cy="3322370"/>
          </a:xfrm>
          <a:prstGeom prst="rect">
            <a:avLst/>
          </a:prstGeom>
        </p:spPr>
        <p:txBody>
          <a:bodyPr anchor="t" rtlCol="false" tIns="0" lIns="0" bIns="0" rIns="0">
            <a:spAutoFit/>
          </a:bodyPr>
          <a:lstStyle/>
          <a:p>
            <a:pPr algn="ctr">
              <a:lnSpc>
                <a:spcPts val="3777"/>
              </a:lnSpc>
              <a:spcBef>
                <a:spcPct val="0"/>
              </a:spcBef>
            </a:pPr>
            <a:r>
              <a:rPr lang="en-US" b="true" sz="2698">
                <a:solidFill>
                  <a:srgbClr val="FFFFFF"/>
                </a:solidFill>
                <a:latin typeface="Open Sans Bold"/>
                <a:ea typeface="Open Sans Bold"/>
                <a:cs typeface="Open Sans Bold"/>
                <a:sym typeface="Open Sans Bold"/>
              </a:rPr>
              <a:t>AS N INCREASES, RMSE DECREASES, SH</a:t>
            </a:r>
            <a:r>
              <a:rPr lang="en-US" b="true" sz="2698">
                <a:solidFill>
                  <a:srgbClr val="FFFFFF"/>
                </a:solidFill>
                <a:latin typeface="Open Sans Bold"/>
                <a:ea typeface="Open Sans Bold"/>
                <a:cs typeface="Open Sans Bold"/>
                <a:sym typeface="Open Sans Bold"/>
              </a:rPr>
              <a:t>OWING THAT UNIFORM SAMPLING CONVERGES TOWARD THE CORRECT RESULT, WITH ERROR DROPPING PREDICTABLY AS MORE SAMPLES ARE TAKEN.</a:t>
            </a:r>
          </a:p>
          <a:p>
            <a:pPr algn="ctr">
              <a:lnSpc>
                <a:spcPts val="3777"/>
              </a:lnSpc>
              <a:spcBef>
                <a:spcPct val="0"/>
              </a:spcBef>
            </a:pPr>
          </a:p>
        </p:txBody>
      </p:sp>
      <p:sp>
        <p:nvSpPr>
          <p:cNvPr name="TextBox 5" id="5"/>
          <p:cNvSpPr txBox="true"/>
          <p:nvPr/>
        </p:nvSpPr>
        <p:spPr>
          <a:xfrm rot="0">
            <a:off x="343502" y="5805099"/>
            <a:ext cx="7071603" cy="3256666"/>
          </a:xfrm>
          <a:prstGeom prst="rect">
            <a:avLst/>
          </a:prstGeom>
        </p:spPr>
        <p:txBody>
          <a:bodyPr anchor="t" rtlCol="false" tIns="0" lIns="0" bIns="0" rIns="0">
            <a:spAutoFit/>
          </a:bodyPr>
          <a:lstStyle/>
          <a:p>
            <a:pPr algn="ctr">
              <a:lnSpc>
                <a:spcPts val="3738"/>
              </a:lnSpc>
              <a:spcBef>
                <a:spcPct val="0"/>
              </a:spcBef>
            </a:pPr>
            <a:r>
              <a:rPr lang="en-US" b="true" sz="2670">
                <a:solidFill>
                  <a:srgbClr val="FFFFFF"/>
                </a:solidFill>
                <a:latin typeface="Open Sans Bold"/>
                <a:ea typeface="Open Sans Bold"/>
                <a:cs typeface="Open Sans Bold"/>
                <a:sym typeface="Open Sans Bold"/>
              </a:rPr>
              <a:t>IMPORTANCE SAMPLING ACHIEVES HIGHER PSNR FOR THE SAME N (THE L</a:t>
            </a:r>
            <a:r>
              <a:rPr lang="en-US" b="true" sz="2670">
                <a:solidFill>
                  <a:srgbClr val="FFFFFF"/>
                </a:solidFill>
                <a:latin typeface="Open Sans Bold"/>
                <a:ea typeface="Open Sans Bold"/>
                <a:cs typeface="Open Sans Bold"/>
                <a:sym typeface="Open Sans Bold"/>
              </a:rPr>
              <a:t>INE IS ABOVE THE UNIFORM ONE), MEANING IT CONVERGES FASTER IN TERMS OF PER-SAMPLE EFFICIENCY. HOWEVER, SINCE THE LINES ARE PARALLEL, THE RATE OF CONVERGENCE IS THE SAME FOR BOTH</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1A022B"/>
        </a:solidFill>
      </p:bgPr>
    </p:bg>
    <p:spTree>
      <p:nvGrpSpPr>
        <p:cNvPr id="1" name=""/>
        <p:cNvGrpSpPr/>
        <p:nvPr/>
      </p:nvGrpSpPr>
      <p:grpSpPr>
        <a:xfrm>
          <a:off x="0" y="0"/>
          <a:ext cx="0" cy="0"/>
          <a:chOff x="0" y="0"/>
          <a:chExt cx="0" cy="0"/>
        </a:xfrm>
      </p:grpSpPr>
      <p:sp>
        <p:nvSpPr>
          <p:cNvPr name="Freeform 2" id="2"/>
          <p:cNvSpPr/>
          <p:nvPr/>
        </p:nvSpPr>
        <p:spPr>
          <a:xfrm flipH="false" flipV="false" rot="0">
            <a:off x="-1809750" y="9258300"/>
            <a:ext cx="7315200" cy="1103930"/>
          </a:xfrm>
          <a:custGeom>
            <a:avLst/>
            <a:gdLst/>
            <a:ahLst/>
            <a:cxnLst/>
            <a:rect r="r" b="b" t="t" l="l"/>
            <a:pathLst>
              <a:path h="1103930" w="7315200">
                <a:moveTo>
                  <a:pt x="0" y="0"/>
                </a:moveTo>
                <a:lnTo>
                  <a:pt x="7315200" y="0"/>
                </a:lnTo>
                <a:lnTo>
                  <a:pt x="7315200" y="1103930"/>
                </a:lnTo>
                <a:lnTo>
                  <a:pt x="0" y="11039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486400" y="9258300"/>
            <a:ext cx="7315200" cy="1103930"/>
          </a:xfrm>
          <a:custGeom>
            <a:avLst/>
            <a:gdLst/>
            <a:ahLst/>
            <a:cxnLst/>
            <a:rect r="r" b="b" t="t" l="l"/>
            <a:pathLst>
              <a:path h="1103930" w="7315200">
                <a:moveTo>
                  <a:pt x="0" y="0"/>
                </a:moveTo>
                <a:lnTo>
                  <a:pt x="7315200" y="0"/>
                </a:lnTo>
                <a:lnTo>
                  <a:pt x="7315200" y="1103930"/>
                </a:lnTo>
                <a:lnTo>
                  <a:pt x="0" y="11039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2782550" y="9258300"/>
            <a:ext cx="7315200" cy="1103930"/>
          </a:xfrm>
          <a:custGeom>
            <a:avLst/>
            <a:gdLst/>
            <a:ahLst/>
            <a:cxnLst/>
            <a:rect r="r" b="b" t="t" l="l"/>
            <a:pathLst>
              <a:path h="1103930" w="7315200">
                <a:moveTo>
                  <a:pt x="0" y="0"/>
                </a:moveTo>
                <a:lnTo>
                  <a:pt x="7315200" y="0"/>
                </a:lnTo>
                <a:lnTo>
                  <a:pt x="7315200" y="1103930"/>
                </a:lnTo>
                <a:lnTo>
                  <a:pt x="0" y="11039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553324" y="536978"/>
            <a:ext cx="4381715" cy="780742"/>
          </a:xfrm>
          <a:custGeom>
            <a:avLst/>
            <a:gdLst/>
            <a:ahLst/>
            <a:cxnLst/>
            <a:rect r="r" b="b" t="t" l="l"/>
            <a:pathLst>
              <a:path h="780742" w="4381715">
                <a:moveTo>
                  <a:pt x="0" y="0"/>
                </a:moveTo>
                <a:lnTo>
                  <a:pt x="4381715" y="0"/>
                </a:lnTo>
                <a:lnTo>
                  <a:pt x="4381715" y="780742"/>
                </a:lnTo>
                <a:lnTo>
                  <a:pt x="0" y="78074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false" rot="0">
            <a:off x="14459609" y="536978"/>
            <a:ext cx="4381715" cy="780742"/>
          </a:xfrm>
          <a:custGeom>
            <a:avLst/>
            <a:gdLst/>
            <a:ahLst/>
            <a:cxnLst/>
            <a:rect r="r" b="b" t="t" l="l"/>
            <a:pathLst>
              <a:path h="780742" w="4381715">
                <a:moveTo>
                  <a:pt x="4381715" y="0"/>
                </a:moveTo>
                <a:lnTo>
                  <a:pt x="0" y="0"/>
                </a:lnTo>
                <a:lnTo>
                  <a:pt x="0" y="780742"/>
                </a:lnTo>
                <a:lnTo>
                  <a:pt x="4381715" y="780742"/>
                </a:lnTo>
                <a:lnTo>
                  <a:pt x="4381715"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5059026" y="1222470"/>
            <a:ext cx="8858852" cy="1811075"/>
          </a:xfrm>
          <a:prstGeom prst="rect">
            <a:avLst/>
          </a:prstGeom>
        </p:spPr>
        <p:txBody>
          <a:bodyPr anchor="t" rtlCol="false" tIns="0" lIns="0" bIns="0" rIns="0">
            <a:spAutoFit/>
          </a:bodyPr>
          <a:lstStyle/>
          <a:p>
            <a:pPr algn="ctr">
              <a:lnSpc>
                <a:spcPts val="7280"/>
              </a:lnSpc>
              <a:spcBef>
                <a:spcPct val="0"/>
              </a:spcBef>
            </a:pPr>
            <a:r>
              <a:rPr lang="en-US" sz="5200">
                <a:solidFill>
                  <a:srgbClr val="FFFFFF"/>
                </a:solidFill>
                <a:latin typeface="Press Start 2P"/>
                <a:ea typeface="Press Start 2P"/>
                <a:cs typeface="Press Start 2P"/>
                <a:sym typeface="Press Start 2P"/>
              </a:rPr>
              <a:t>SAMPLING STRATEGIES</a:t>
            </a:r>
          </a:p>
        </p:txBody>
      </p:sp>
      <p:grpSp>
        <p:nvGrpSpPr>
          <p:cNvPr name="Group 8" id="8"/>
          <p:cNvGrpSpPr/>
          <p:nvPr/>
        </p:nvGrpSpPr>
        <p:grpSpPr>
          <a:xfrm rot="0">
            <a:off x="4524389" y="2175632"/>
            <a:ext cx="10195368" cy="4536939"/>
            <a:chOff x="0" y="0"/>
            <a:chExt cx="13593824" cy="6049252"/>
          </a:xfrm>
        </p:grpSpPr>
        <p:sp>
          <p:nvSpPr>
            <p:cNvPr name="TextBox 9" id="9"/>
            <p:cNvSpPr txBox="true"/>
            <p:nvPr/>
          </p:nvSpPr>
          <p:spPr>
            <a:xfrm rot="0">
              <a:off x="862024" y="2411442"/>
              <a:ext cx="4016821" cy="1036420"/>
            </a:xfrm>
            <a:prstGeom prst="rect">
              <a:avLst/>
            </a:prstGeom>
          </p:spPr>
          <p:txBody>
            <a:bodyPr anchor="t" rtlCol="false" tIns="0" lIns="0" bIns="0" rIns="0">
              <a:spAutoFit/>
            </a:bodyPr>
            <a:lstStyle/>
            <a:p>
              <a:pPr algn="l">
                <a:lnSpc>
                  <a:spcPts val="3220"/>
                </a:lnSpc>
                <a:spcBef>
                  <a:spcPct val="0"/>
                </a:spcBef>
              </a:pPr>
              <a:r>
                <a:rPr lang="en-US" sz="2300">
                  <a:solidFill>
                    <a:srgbClr val="FFFFFF"/>
                  </a:solidFill>
                  <a:latin typeface="Press Start 2P"/>
                  <a:ea typeface="Press Start 2P"/>
                  <a:cs typeface="Press Start 2P"/>
                  <a:sym typeface="Press Start 2P"/>
                </a:rPr>
                <a:t>Uniform Sampling</a:t>
              </a:r>
            </a:p>
          </p:txBody>
        </p:sp>
        <p:sp>
          <p:nvSpPr>
            <p:cNvPr name="TextBox 10" id="10"/>
            <p:cNvSpPr txBox="true"/>
            <p:nvPr/>
          </p:nvSpPr>
          <p:spPr>
            <a:xfrm rot="0">
              <a:off x="9148364" y="2411442"/>
              <a:ext cx="4445460" cy="1036420"/>
            </a:xfrm>
            <a:prstGeom prst="rect">
              <a:avLst/>
            </a:prstGeom>
          </p:spPr>
          <p:txBody>
            <a:bodyPr anchor="t" rtlCol="false" tIns="0" lIns="0" bIns="0" rIns="0">
              <a:spAutoFit/>
            </a:bodyPr>
            <a:lstStyle/>
            <a:p>
              <a:pPr algn="l">
                <a:lnSpc>
                  <a:spcPts val="3220"/>
                </a:lnSpc>
                <a:spcBef>
                  <a:spcPct val="0"/>
                </a:spcBef>
              </a:pPr>
              <a:r>
                <a:rPr lang="en-US" sz="2300">
                  <a:solidFill>
                    <a:srgbClr val="FFFFFF"/>
                  </a:solidFill>
                  <a:latin typeface="Press Start 2P"/>
                  <a:ea typeface="Press Start 2P"/>
                  <a:cs typeface="Press Start 2P"/>
                  <a:sym typeface="Press Start 2P"/>
                </a:rPr>
                <a:t>Importance Sampling</a:t>
              </a:r>
            </a:p>
          </p:txBody>
        </p:sp>
      </p:grpSp>
      <p:sp>
        <p:nvSpPr>
          <p:cNvPr name="Freeform 11" id="11"/>
          <p:cNvSpPr/>
          <p:nvPr/>
        </p:nvSpPr>
        <p:spPr>
          <a:xfrm flipH="false" flipV="false" rot="0">
            <a:off x="14951087" y="3660932"/>
            <a:ext cx="2978126" cy="1566340"/>
          </a:xfrm>
          <a:custGeom>
            <a:avLst/>
            <a:gdLst/>
            <a:ahLst/>
            <a:cxnLst/>
            <a:rect r="r" b="b" t="t" l="l"/>
            <a:pathLst>
              <a:path h="1566340" w="2978126">
                <a:moveTo>
                  <a:pt x="0" y="0"/>
                </a:moveTo>
                <a:lnTo>
                  <a:pt x="2978126" y="0"/>
                </a:lnTo>
                <a:lnTo>
                  <a:pt x="2978126" y="1566339"/>
                </a:lnTo>
                <a:lnTo>
                  <a:pt x="0" y="1566339"/>
                </a:lnTo>
                <a:lnTo>
                  <a:pt x="0" y="0"/>
                </a:lnTo>
                <a:close/>
              </a:path>
            </a:pathLst>
          </a:custGeom>
          <a:blipFill>
            <a:blip r:embed="rId6"/>
            <a:stretch>
              <a:fillRect l="-29197" t="0" r="-43558" b="0"/>
            </a:stretch>
          </a:blipFill>
        </p:spPr>
      </p:sp>
      <p:sp>
        <p:nvSpPr>
          <p:cNvPr name="Freeform 12" id="12"/>
          <p:cNvSpPr/>
          <p:nvPr/>
        </p:nvSpPr>
        <p:spPr>
          <a:xfrm flipH="false" flipV="false" rot="0">
            <a:off x="1391559" y="3575143"/>
            <a:ext cx="2925450" cy="1652128"/>
          </a:xfrm>
          <a:custGeom>
            <a:avLst/>
            <a:gdLst/>
            <a:ahLst/>
            <a:cxnLst/>
            <a:rect r="r" b="b" t="t" l="l"/>
            <a:pathLst>
              <a:path h="1652128" w="2925450">
                <a:moveTo>
                  <a:pt x="0" y="0"/>
                </a:moveTo>
                <a:lnTo>
                  <a:pt x="2925451" y="0"/>
                </a:lnTo>
                <a:lnTo>
                  <a:pt x="2925451" y="1652128"/>
                </a:lnTo>
                <a:lnTo>
                  <a:pt x="0" y="1652128"/>
                </a:lnTo>
                <a:lnTo>
                  <a:pt x="0" y="0"/>
                </a:lnTo>
                <a:close/>
              </a:path>
            </a:pathLst>
          </a:custGeom>
          <a:blipFill>
            <a:blip r:embed="rId7"/>
            <a:stretch>
              <a:fillRect l="-10002" t="0" r="-19236" b="0"/>
            </a:stretch>
          </a:blipFill>
        </p:spPr>
      </p:sp>
      <p:sp>
        <p:nvSpPr>
          <p:cNvPr name="TextBox 13" id="13"/>
          <p:cNvSpPr txBox="true"/>
          <p:nvPr/>
        </p:nvSpPr>
        <p:spPr>
          <a:xfrm rot="0">
            <a:off x="1637534" y="6013616"/>
            <a:ext cx="7506466" cy="2715871"/>
          </a:xfrm>
          <a:prstGeom prst="rect">
            <a:avLst/>
          </a:prstGeom>
        </p:spPr>
        <p:txBody>
          <a:bodyPr anchor="t" rtlCol="false" tIns="0" lIns="0" bIns="0" rIns="0">
            <a:spAutoFit/>
          </a:bodyPr>
          <a:lstStyle/>
          <a:p>
            <a:pPr algn="ctr">
              <a:lnSpc>
                <a:spcPts val="3079"/>
              </a:lnSpc>
              <a:spcBef>
                <a:spcPct val="0"/>
              </a:spcBef>
            </a:pPr>
            <a:r>
              <a:rPr lang="en-US" b="true" sz="2199">
                <a:solidFill>
                  <a:srgbClr val="FFFFFF"/>
                </a:solidFill>
                <a:latin typeface="Open Sans Bold"/>
                <a:ea typeface="Open Sans Bold"/>
                <a:cs typeface="Open Sans Bold"/>
                <a:sym typeface="Open Sans Bold"/>
              </a:rPr>
              <a:t>THINK </a:t>
            </a:r>
            <a:r>
              <a:rPr lang="en-US" b="true" sz="2199">
                <a:solidFill>
                  <a:srgbClr val="FFFFFF"/>
                </a:solidFill>
                <a:latin typeface="Open Sans Bold"/>
                <a:ea typeface="Open Sans Bold"/>
                <a:cs typeface="Open Sans Bold"/>
                <a:sym typeface="Open Sans Bold"/>
              </a:rPr>
              <a:t>OF THIS AS SPRAYING RAYS EVERYWHERE EQUALLY.</a:t>
            </a:r>
          </a:p>
          <a:p>
            <a:pPr algn="just" marL="474976" indent="-237488" lvl="1">
              <a:lnSpc>
                <a:spcPts val="3079"/>
              </a:lnSpc>
              <a:spcBef>
                <a:spcPct val="0"/>
              </a:spcBef>
              <a:buFont typeface="Arial"/>
              <a:buChar char="•"/>
            </a:pPr>
            <a:r>
              <a:rPr lang="en-US" b="true" sz="2199">
                <a:solidFill>
                  <a:srgbClr val="FFFFFF"/>
                </a:solidFill>
                <a:latin typeface="Open Sans Bold"/>
                <a:ea typeface="Open Sans Bold"/>
                <a:cs typeface="Open Sans Bold"/>
                <a:sym typeface="Open Sans Bold"/>
              </a:rPr>
              <a:t>RAYS ARE FIRED IN ALL DIRECTIONS </a:t>
            </a:r>
          </a:p>
          <a:p>
            <a:pPr algn="just" marL="474976" indent="-237488" lvl="1">
              <a:lnSpc>
                <a:spcPts val="3079"/>
              </a:lnSpc>
              <a:spcBef>
                <a:spcPct val="0"/>
              </a:spcBef>
              <a:buFont typeface="Arial"/>
              <a:buChar char="•"/>
            </a:pPr>
            <a:r>
              <a:rPr lang="en-US" b="true" sz="2199">
                <a:solidFill>
                  <a:srgbClr val="FFFFFF"/>
                </a:solidFill>
                <a:latin typeface="Open Sans Bold"/>
                <a:ea typeface="Open Sans Bold"/>
                <a:cs typeface="Open Sans Bold"/>
                <a:sym typeface="Open Sans Bold"/>
              </a:rPr>
              <a:t>SIMPLE AND UNBIASED</a:t>
            </a:r>
          </a:p>
          <a:p>
            <a:pPr algn="just" marL="474976" indent="-237488" lvl="1">
              <a:lnSpc>
                <a:spcPts val="3079"/>
              </a:lnSpc>
              <a:spcBef>
                <a:spcPct val="0"/>
              </a:spcBef>
              <a:buFont typeface="Arial"/>
              <a:buChar char="•"/>
            </a:pPr>
            <a:r>
              <a:rPr lang="en-US" b="true" sz="2199">
                <a:solidFill>
                  <a:srgbClr val="FFFFFF"/>
                </a:solidFill>
                <a:latin typeface="Open Sans Bold"/>
                <a:ea typeface="Open Sans Bold"/>
                <a:cs typeface="Open Sans Bold"/>
                <a:sym typeface="Open Sans Bold"/>
              </a:rPr>
              <a:t>BUT MANY RAYS MISS IMPORTANT LIGHT PATHS, WASTING EFFORT AND CREATING MORE NOISE</a:t>
            </a:r>
          </a:p>
          <a:p>
            <a:pPr algn="just">
              <a:lnSpc>
                <a:spcPts val="3079"/>
              </a:lnSpc>
              <a:spcBef>
                <a:spcPct val="0"/>
              </a:spcBef>
            </a:pPr>
          </a:p>
        </p:txBody>
      </p:sp>
      <p:sp>
        <p:nvSpPr>
          <p:cNvPr name="TextBox 14" id="14"/>
          <p:cNvSpPr txBox="true"/>
          <p:nvPr/>
        </p:nvSpPr>
        <p:spPr>
          <a:xfrm rot="0">
            <a:off x="9970331" y="6013616"/>
            <a:ext cx="7895095" cy="2325350"/>
          </a:xfrm>
          <a:prstGeom prst="rect">
            <a:avLst/>
          </a:prstGeom>
        </p:spPr>
        <p:txBody>
          <a:bodyPr anchor="t" rtlCol="false" tIns="0" lIns="0" bIns="0" rIns="0">
            <a:spAutoFit/>
          </a:bodyPr>
          <a:lstStyle/>
          <a:p>
            <a:pPr algn="ctr">
              <a:lnSpc>
                <a:spcPts val="3079"/>
              </a:lnSpc>
            </a:pPr>
            <a:r>
              <a:rPr lang="en-US" b="true" sz="2199">
                <a:solidFill>
                  <a:srgbClr val="FFFFFF"/>
                </a:solidFill>
                <a:latin typeface="Open Sans Bold"/>
                <a:ea typeface="Open Sans Bold"/>
                <a:cs typeface="Open Sans Bold"/>
                <a:sym typeface="Open Sans Bold"/>
              </a:rPr>
              <a:t>THIS IS AIMING WHERE THE LIGHT </a:t>
            </a:r>
          </a:p>
          <a:p>
            <a:pPr algn="ctr">
              <a:lnSpc>
                <a:spcPts val="3079"/>
              </a:lnSpc>
            </a:pPr>
            <a:r>
              <a:rPr lang="en-US" b="true" sz="2199">
                <a:solidFill>
                  <a:srgbClr val="FFFFFF"/>
                </a:solidFill>
                <a:latin typeface="Open Sans Bold"/>
                <a:ea typeface="Open Sans Bold"/>
                <a:cs typeface="Open Sans Bold"/>
                <a:sym typeface="Open Sans Bold"/>
              </a:rPr>
              <a:t>ACTUALLY MATTERS.</a:t>
            </a:r>
          </a:p>
          <a:p>
            <a:pPr algn="l" marL="474976" indent="-237488" lvl="1">
              <a:lnSpc>
                <a:spcPts val="3079"/>
              </a:lnSpc>
              <a:spcBef>
                <a:spcPct val="0"/>
              </a:spcBef>
              <a:buFont typeface="Arial"/>
              <a:buChar char="•"/>
            </a:pPr>
            <a:r>
              <a:rPr lang="en-US" b="true" sz="2199">
                <a:solidFill>
                  <a:srgbClr val="FFFFFF"/>
                </a:solidFill>
                <a:latin typeface="Open Sans Bold"/>
                <a:ea typeface="Open Sans Bold"/>
                <a:cs typeface="Open Sans Bold"/>
                <a:sym typeface="Open Sans Bold"/>
              </a:rPr>
              <a:t>Rays f</a:t>
            </a:r>
            <a:r>
              <a:rPr lang="en-US" b="true" sz="2199">
                <a:solidFill>
                  <a:srgbClr val="FFFFFF"/>
                </a:solidFill>
                <a:latin typeface="Open Sans Bold"/>
                <a:ea typeface="Open Sans Bold"/>
                <a:cs typeface="Open Sans Bold"/>
                <a:sym typeface="Open Sans Bold"/>
              </a:rPr>
              <a:t>OCUS ON DIRECTIONS WITH HIGHER LIGHT CONTRIBUTION</a:t>
            </a:r>
          </a:p>
          <a:p>
            <a:pPr algn="l" marL="474976" indent="-237488" lvl="1">
              <a:lnSpc>
                <a:spcPts val="3079"/>
              </a:lnSpc>
              <a:spcBef>
                <a:spcPct val="0"/>
              </a:spcBef>
              <a:buFont typeface="Arial"/>
              <a:buChar char="•"/>
            </a:pPr>
            <a:r>
              <a:rPr lang="en-US" b="true" sz="2199">
                <a:solidFill>
                  <a:srgbClr val="FFFFFF"/>
                </a:solidFill>
                <a:latin typeface="Open Sans Bold"/>
                <a:ea typeface="Open Sans Bold"/>
                <a:cs typeface="Open Sans Bold"/>
                <a:sym typeface="Open Sans Bold"/>
              </a:rPr>
              <a:t>EACH SAMPLE CARRIES MORE USEFUL INFORMATION</a:t>
            </a:r>
          </a:p>
          <a:p>
            <a:pPr algn="l" marL="474976" indent="-237488" lvl="1">
              <a:lnSpc>
                <a:spcPts val="3079"/>
              </a:lnSpc>
              <a:spcBef>
                <a:spcPct val="0"/>
              </a:spcBef>
              <a:buFont typeface="Arial"/>
              <a:buChar char="•"/>
            </a:pPr>
            <a:r>
              <a:rPr lang="en-US" b="true" sz="2199">
                <a:solidFill>
                  <a:srgbClr val="FFFFFF"/>
                </a:solidFill>
                <a:latin typeface="Open Sans Bold"/>
                <a:ea typeface="Open Sans Bold"/>
                <a:cs typeface="Open Sans Bold"/>
                <a:sym typeface="Open Sans Bold"/>
              </a:rPr>
              <a:t>LESS NOISE PER SAMPLE → CLEANER IMAGES FASTER</a:t>
            </a:r>
          </a:p>
        </p:txBody>
      </p:sp>
      <p:sp>
        <p:nvSpPr>
          <p:cNvPr name="TextBox 15" id="15"/>
          <p:cNvSpPr txBox="true"/>
          <p:nvPr/>
        </p:nvSpPr>
        <p:spPr>
          <a:xfrm rot="0">
            <a:off x="11289217" y="8635734"/>
            <a:ext cx="5970009" cy="297222"/>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SAME RAND</a:t>
            </a:r>
            <a:r>
              <a:rPr lang="en-US" b="true" sz="1799">
                <a:solidFill>
                  <a:srgbClr val="FFFFFF"/>
                </a:solidFill>
                <a:latin typeface="Open Sans Bold"/>
                <a:ea typeface="Open Sans Bold"/>
                <a:cs typeface="Open Sans Bold"/>
                <a:sym typeface="Open Sans Bold"/>
              </a:rPr>
              <a:t>OMNESS, BUT MUCH SMARTER USE OF IT.</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1A022B"/>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9626101" cy="4957442"/>
          </a:xfrm>
          <a:custGeom>
            <a:avLst/>
            <a:gdLst/>
            <a:ahLst/>
            <a:cxnLst/>
            <a:rect r="r" b="b" t="t" l="l"/>
            <a:pathLst>
              <a:path h="4957442" w="9626101">
                <a:moveTo>
                  <a:pt x="0" y="0"/>
                </a:moveTo>
                <a:lnTo>
                  <a:pt x="9626101" y="0"/>
                </a:lnTo>
                <a:lnTo>
                  <a:pt x="9626101" y="4957442"/>
                </a:lnTo>
                <a:lnTo>
                  <a:pt x="0" y="4957442"/>
                </a:lnTo>
                <a:lnTo>
                  <a:pt x="0" y="0"/>
                </a:lnTo>
                <a:close/>
              </a:path>
            </a:pathLst>
          </a:custGeom>
          <a:blipFill>
            <a:blip r:embed="rId2"/>
            <a:stretch>
              <a:fillRect l="0" t="0" r="0" b="0"/>
            </a:stretch>
          </a:blipFill>
        </p:spPr>
      </p:sp>
      <p:sp>
        <p:nvSpPr>
          <p:cNvPr name="Freeform 3" id="3"/>
          <p:cNvSpPr/>
          <p:nvPr/>
        </p:nvSpPr>
        <p:spPr>
          <a:xfrm flipH="false" flipV="false" rot="0">
            <a:off x="9144000" y="5570648"/>
            <a:ext cx="9144000" cy="4716352"/>
          </a:xfrm>
          <a:custGeom>
            <a:avLst/>
            <a:gdLst/>
            <a:ahLst/>
            <a:cxnLst/>
            <a:rect r="r" b="b" t="t" l="l"/>
            <a:pathLst>
              <a:path h="4716352" w="9144000">
                <a:moveTo>
                  <a:pt x="0" y="0"/>
                </a:moveTo>
                <a:lnTo>
                  <a:pt x="9144000" y="0"/>
                </a:lnTo>
                <a:lnTo>
                  <a:pt x="9144000" y="4716352"/>
                </a:lnTo>
                <a:lnTo>
                  <a:pt x="0" y="4716352"/>
                </a:lnTo>
                <a:lnTo>
                  <a:pt x="0" y="0"/>
                </a:lnTo>
                <a:close/>
              </a:path>
            </a:pathLst>
          </a:custGeom>
          <a:blipFill>
            <a:blip r:embed="rId3"/>
            <a:stretch>
              <a:fillRect l="0" t="0" r="-1540" b="0"/>
            </a:stretch>
          </a:blipFill>
        </p:spPr>
      </p:sp>
      <p:sp>
        <p:nvSpPr>
          <p:cNvPr name="TextBox 4" id="4"/>
          <p:cNvSpPr txBox="true"/>
          <p:nvPr/>
        </p:nvSpPr>
        <p:spPr>
          <a:xfrm rot="0">
            <a:off x="9626101" y="635358"/>
            <a:ext cx="8412314" cy="3639101"/>
          </a:xfrm>
          <a:prstGeom prst="rect">
            <a:avLst/>
          </a:prstGeom>
        </p:spPr>
        <p:txBody>
          <a:bodyPr anchor="t" rtlCol="false" tIns="0" lIns="0" bIns="0" rIns="0">
            <a:spAutoFit/>
          </a:bodyPr>
          <a:lstStyle/>
          <a:p>
            <a:pPr algn="ctr">
              <a:lnSpc>
                <a:spcPts val="3640"/>
              </a:lnSpc>
              <a:spcBef>
                <a:spcPct val="0"/>
              </a:spcBef>
            </a:pPr>
            <a:r>
              <a:rPr lang="en-US" sz="2600">
                <a:solidFill>
                  <a:srgbClr val="FFFFFF"/>
                </a:solidFill>
                <a:latin typeface="Press Start 2P"/>
                <a:ea typeface="Press Start 2P"/>
                <a:cs typeface="Press Start 2P"/>
                <a:sym typeface="Press Start 2P"/>
              </a:rPr>
              <a:t>THE EFFECT </a:t>
            </a:r>
            <a:r>
              <a:rPr lang="en-US" sz="2600">
                <a:solidFill>
                  <a:srgbClr val="FFFFFF"/>
                </a:solidFill>
                <a:latin typeface="Press Start 2P"/>
                <a:ea typeface="Press Start 2P"/>
                <a:cs typeface="Press Start 2P"/>
                <a:sym typeface="Press Start 2P"/>
              </a:rPr>
              <a:t>OF THE SAMPLING METHOD IS STATISTICALLY SIGNIFICANT (P=0.1280).</a:t>
            </a:r>
          </a:p>
          <a:p>
            <a:pPr algn="ctr">
              <a:lnSpc>
                <a:spcPts val="3640"/>
              </a:lnSpc>
              <a:spcBef>
                <a:spcPct val="0"/>
              </a:spcBef>
            </a:pPr>
            <a:r>
              <a:rPr lang="en-US" sz="2600">
                <a:solidFill>
                  <a:srgbClr val="FFFFFF"/>
                </a:solidFill>
                <a:latin typeface="Press Start 2P"/>
                <a:ea typeface="Press Start 2P"/>
                <a:cs typeface="Press Start 2P"/>
                <a:sym typeface="Press Start 2P"/>
              </a:rPr>
              <a:t>IMPORTANCE SAMPLING PROVIDES A MEAN ADVANTAGE OF 1.3198 DB OVER UNIFORM.</a:t>
            </a:r>
          </a:p>
        </p:txBody>
      </p:sp>
      <p:sp>
        <p:nvSpPr>
          <p:cNvPr name="TextBox 5" id="5"/>
          <p:cNvSpPr txBox="true"/>
          <p:nvPr/>
        </p:nvSpPr>
        <p:spPr>
          <a:xfrm rot="0">
            <a:off x="606894" y="5523023"/>
            <a:ext cx="8412314" cy="3639101"/>
          </a:xfrm>
          <a:prstGeom prst="rect">
            <a:avLst/>
          </a:prstGeom>
        </p:spPr>
        <p:txBody>
          <a:bodyPr anchor="t" rtlCol="false" tIns="0" lIns="0" bIns="0" rIns="0">
            <a:spAutoFit/>
          </a:bodyPr>
          <a:lstStyle/>
          <a:p>
            <a:pPr algn="ctr">
              <a:lnSpc>
                <a:spcPts val="3640"/>
              </a:lnSpc>
            </a:pPr>
          </a:p>
          <a:p>
            <a:pPr algn="ctr">
              <a:lnSpc>
                <a:spcPts val="3640"/>
              </a:lnSpc>
              <a:spcBef>
                <a:spcPct val="0"/>
              </a:spcBef>
            </a:pPr>
            <a:r>
              <a:rPr lang="en-US" sz="2600">
                <a:solidFill>
                  <a:srgbClr val="FFFFFF"/>
                </a:solidFill>
                <a:latin typeface="Press Start 2P"/>
                <a:ea typeface="Press Start 2P"/>
                <a:cs typeface="Press Start 2P"/>
                <a:sym typeface="Press Start 2P"/>
              </a:rPr>
              <a:t>And t</a:t>
            </a:r>
            <a:r>
              <a:rPr lang="en-US" sz="2600">
                <a:solidFill>
                  <a:srgbClr val="FFFFFF"/>
                </a:solidFill>
                <a:latin typeface="Press Start 2P"/>
                <a:ea typeface="Press Start 2P"/>
                <a:cs typeface="Press Start 2P"/>
                <a:sym typeface="Press Start 2P"/>
              </a:rPr>
              <a:t>HESE GRAPHS SH</a:t>
            </a:r>
            <a:r>
              <a:rPr lang="en-US" sz="2600">
                <a:solidFill>
                  <a:srgbClr val="FFFFFF"/>
                </a:solidFill>
                <a:latin typeface="Press Start 2P"/>
                <a:ea typeface="Press Start 2P"/>
                <a:cs typeface="Press Start 2P"/>
                <a:sym typeface="Press Start 2P"/>
              </a:rPr>
              <a:t>OW HOW DIFFERENT SAMPLING STRATEGIES REDUCE NOISE AT DIFFERENT RATES.</a:t>
            </a:r>
          </a:p>
          <a:p>
            <a:pPr algn="ctr">
              <a:lnSpc>
                <a:spcPts val="3640"/>
              </a:lnSpc>
              <a:spcBef>
                <a:spcPct val="0"/>
              </a:spcBef>
            </a:pPr>
            <a:r>
              <a:rPr lang="en-US" sz="2600">
                <a:solidFill>
                  <a:srgbClr val="FFFFFF"/>
                </a:solidFill>
                <a:latin typeface="Press Start 2P"/>
                <a:ea typeface="Press Start 2P"/>
                <a:cs typeface="Press Start 2P"/>
                <a:sym typeface="Press Start 2P"/>
              </a:rPr>
              <a:t>TO COMPARE DIFFERENT SAMPLING OR RENDERING METHODS</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1A022B"/>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9943958" cy="4636371"/>
          </a:xfrm>
          <a:custGeom>
            <a:avLst/>
            <a:gdLst/>
            <a:ahLst/>
            <a:cxnLst/>
            <a:rect r="r" b="b" t="t" l="l"/>
            <a:pathLst>
              <a:path h="4636371" w="9943958">
                <a:moveTo>
                  <a:pt x="0" y="0"/>
                </a:moveTo>
                <a:lnTo>
                  <a:pt x="9943958" y="0"/>
                </a:lnTo>
                <a:lnTo>
                  <a:pt x="9943958" y="4636371"/>
                </a:lnTo>
                <a:lnTo>
                  <a:pt x="0" y="4636371"/>
                </a:lnTo>
                <a:lnTo>
                  <a:pt x="0" y="0"/>
                </a:lnTo>
                <a:close/>
              </a:path>
            </a:pathLst>
          </a:custGeom>
          <a:blipFill>
            <a:blip r:embed="rId2"/>
            <a:stretch>
              <a:fillRect l="0" t="0" r="0" b="0"/>
            </a:stretch>
          </a:blipFill>
        </p:spPr>
      </p:sp>
      <p:sp>
        <p:nvSpPr>
          <p:cNvPr name="Freeform 3" id="3"/>
          <p:cNvSpPr/>
          <p:nvPr/>
        </p:nvSpPr>
        <p:spPr>
          <a:xfrm flipH="false" flipV="false" rot="0">
            <a:off x="5486400" y="9258300"/>
            <a:ext cx="7315200" cy="1103930"/>
          </a:xfrm>
          <a:custGeom>
            <a:avLst/>
            <a:gdLst/>
            <a:ahLst/>
            <a:cxnLst/>
            <a:rect r="r" b="b" t="t" l="l"/>
            <a:pathLst>
              <a:path h="1103930" w="7315200">
                <a:moveTo>
                  <a:pt x="0" y="0"/>
                </a:moveTo>
                <a:lnTo>
                  <a:pt x="7315200" y="0"/>
                </a:lnTo>
                <a:lnTo>
                  <a:pt x="7315200" y="1103930"/>
                </a:lnTo>
                <a:lnTo>
                  <a:pt x="0" y="110393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6986741" y="4636371"/>
            <a:ext cx="11301259" cy="5650629"/>
          </a:xfrm>
          <a:custGeom>
            <a:avLst/>
            <a:gdLst/>
            <a:ahLst/>
            <a:cxnLst/>
            <a:rect r="r" b="b" t="t" l="l"/>
            <a:pathLst>
              <a:path h="5650629" w="11301259">
                <a:moveTo>
                  <a:pt x="0" y="0"/>
                </a:moveTo>
                <a:lnTo>
                  <a:pt x="11301259" y="0"/>
                </a:lnTo>
                <a:lnTo>
                  <a:pt x="11301259" y="5650629"/>
                </a:lnTo>
                <a:lnTo>
                  <a:pt x="0" y="5650629"/>
                </a:lnTo>
                <a:lnTo>
                  <a:pt x="0" y="0"/>
                </a:lnTo>
                <a:close/>
              </a:path>
            </a:pathLst>
          </a:custGeom>
          <a:blipFill>
            <a:blip r:embed="rId5"/>
            <a:stretch>
              <a:fillRect l="0" t="0" r="0" b="0"/>
            </a:stretch>
          </a:blipFill>
        </p:spPr>
      </p:sp>
      <p:sp>
        <p:nvSpPr>
          <p:cNvPr name="Freeform 5" id="5"/>
          <p:cNvSpPr/>
          <p:nvPr/>
        </p:nvSpPr>
        <p:spPr>
          <a:xfrm flipH="false" flipV="false" rot="0">
            <a:off x="-1809750" y="9258300"/>
            <a:ext cx="7315200" cy="1103930"/>
          </a:xfrm>
          <a:custGeom>
            <a:avLst/>
            <a:gdLst/>
            <a:ahLst/>
            <a:cxnLst/>
            <a:rect r="r" b="b" t="t" l="l"/>
            <a:pathLst>
              <a:path h="1103930" w="7315200">
                <a:moveTo>
                  <a:pt x="0" y="0"/>
                </a:moveTo>
                <a:lnTo>
                  <a:pt x="7315200" y="0"/>
                </a:lnTo>
                <a:lnTo>
                  <a:pt x="7315200" y="1103930"/>
                </a:lnTo>
                <a:lnTo>
                  <a:pt x="0" y="110393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true" flipV="false" rot="0">
            <a:off x="14459609" y="536978"/>
            <a:ext cx="4381715" cy="780742"/>
          </a:xfrm>
          <a:custGeom>
            <a:avLst/>
            <a:gdLst/>
            <a:ahLst/>
            <a:cxnLst/>
            <a:rect r="r" b="b" t="t" l="l"/>
            <a:pathLst>
              <a:path h="780742" w="4381715">
                <a:moveTo>
                  <a:pt x="4381715" y="0"/>
                </a:moveTo>
                <a:lnTo>
                  <a:pt x="0" y="0"/>
                </a:lnTo>
                <a:lnTo>
                  <a:pt x="0" y="780742"/>
                </a:lnTo>
                <a:lnTo>
                  <a:pt x="4381715" y="780742"/>
                </a:lnTo>
                <a:lnTo>
                  <a:pt x="4381715"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440528" y="5735444"/>
            <a:ext cx="1924760" cy="671916"/>
          </a:xfrm>
          <a:custGeom>
            <a:avLst/>
            <a:gdLst/>
            <a:ahLst/>
            <a:cxnLst/>
            <a:rect r="r" b="b" t="t" l="l"/>
            <a:pathLst>
              <a:path h="671916" w="1924760">
                <a:moveTo>
                  <a:pt x="0" y="0"/>
                </a:moveTo>
                <a:lnTo>
                  <a:pt x="1924761" y="0"/>
                </a:lnTo>
                <a:lnTo>
                  <a:pt x="1924761" y="671916"/>
                </a:lnTo>
                <a:lnTo>
                  <a:pt x="0" y="67191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true" flipV="false" rot="0">
            <a:off x="12801600" y="3158844"/>
            <a:ext cx="1924760" cy="671916"/>
          </a:xfrm>
          <a:custGeom>
            <a:avLst/>
            <a:gdLst/>
            <a:ahLst/>
            <a:cxnLst/>
            <a:rect r="r" b="b" t="t" l="l"/>
            <a:pathLst>
              <a:path h="671916" w="1924760">
                <a:moveTo>
                  <a:pt x="1924760" y="0"/>
                </a:moveTo>
                <a:lnTo>
                  <a:pt x="0" y="0"/>
                </a:lnTo>
                <a:lnTo>
                  <a:pt x="0" y="671916"/>
                </a:lnTo>
                <a:lnTo>
                  <a:pt x="1924760" y="671916"/>
                </a:lnTo>
                <a:lnTo>
                  <a:pt x="192476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1A022B"/>
        </a:solidFill>
      </p:bgPr>
    </p:bg>
    <p:spTree>
      <p:nvGrpSpPr>
        <p:cNvPr id="1" name=""/>
        <p:cNvGrpSpPr/>
        <p:nvPr/>
      </p:nvGrpSpPr>
      <p:grpSpPr>
        <a:xfrm>
          <a:off x="0" y="0"/>
          <a:ext cx="0" cy="0"/>
          <a:chOff x="0" y="0"/>
          <a:chExt cx="0" cy="0"/>
        </a:xfrm>
      </p:grpSpPr>
      <p:sp>
        <p:nvSpPr>
          <p:cNvPr name="Freeform 2" id="2"/>
          <p:cNvSpPr/>
          <p:nvPr/>
        </p:nvSpPr>
        <p:spPr>
          <a:xfrm flipH="false" flipV="false" rot="0">
            <a:off x="4191035" y="5143500"/>
            <a:ext cx="8166147" cy="4836168"/>
          </a:xfrm>
          <a:custGeom>
            <a:avLst/>
            <a:gdLst/>
            <a:ahLst/>
            <a:cxnLst/>
            <a:rect r="r" b="b" t="t" l="l"/>
            <a:pathLst>
              <a:path h="4836168" w="8166147">
                <a:moveTo>
                  <a:pt x="0" y="0"/>
                </a:moveTo>
                <a:lnTo>
                  <a:pt x="8166147" y="0"/>
                </a:lnTo>
                <a:lnTo>
                  <a:pt x="8166147" y="4836168"/>
                </a:lnTo>
                <a:lnTo>
                  <a:pt x="0" y="4836168"/>
                </a:lnTo>
                <a:lnTo>
                  <a:pt x="0" y="0"/>
                </a:lnTo>
                <a:close/>
              </a:path>
            </a:pathLst>
          </a:custGeom>
          <a:blipFill>
            <a:blip r:embed="rId2"/>
            <a:stretch>
              <a:fillRect l="0" t="-205" r="0" b="-205"/>
            </a:stretch>
          </a:blipFill>
        </p:spPr>
      </p:sp>
      <p:sp>
        <p:nvSpPr>
          <p:cNvPr name="Freeform 3" id="3"/>
          <p:cNvSpPr/>
          <p:nvPr/>
        </p:nvSpPr>
        <p:spPr>
          <a:xfrm flipH="false" flipV="false" rot="0">
            <a:off x="10886494" y="206856"/>
            <a:ext cx="7204496" cy="4731311"/>
          </a:xfrm>
          <a:custGeom>
            <a:avLst/>
            <a:gdLst/>
            <a:ahLst/>
            <a:cxnLst/>
            <a:rect r="r" b="b" t="t" l="l"/>
            <a:pathLst>
              <a:path h="4731311" w="7204496">
                <a:moveTo>
                  <a:pt x="0" y="0"/>
                </a:moveTo>
                <a:lnTo>
                  <a:pt x="7204496" y="0"/>
                </a:lnTo>
                <a:lnTo>
                  <a:pt x="7204496" y="4731310"/>
                </a:lnTo>
                <a:lnTo>
                  <a:pt x="0" y="4731310"/>
                </a:lnTo>
                <a:lnTo>
                  <a:pt x="0" y="0"/>
                </a:lnTo>
                <a:close/>
              </a:path>
            </a:pathLst>
          </a:custGeom>
          <a:blipFill>
            <a:blip r:embed="rId3"/>
            <a:stretch>
              <a:fillRect l="0" t="0" r="0" b="0"/>
            </a:stretch>
          </a:blipFill>
        </p:spPr>
      </p:sp>
      <p:sp>
        <p:nvSpPr>
          <p:cNvPr name="Freeform 4" id="4"/>
          <p:cNvSpPr/>
          <p:nvPr/>
        </p:nvSpPr>
        <p:spPr>
          <a:xfrm flipH="false" flipV="false" rot="0">
            <a:off x="209820" y="206856"/>
            <a:ext cx="6354523" cy="4623929"/>
          </a:xfrm>
          <a:custGeom>
            <a:avLst/>
            <a:gdLst/>
            <a:ahLst/>
            <a:cxnLst/>
            <a:rect r="r" b="b" t="t" l="l"/>
            <a:pathLst>
              <a:path h="4623929" w="6354523">
                <a:moveTo>
                  <a:pt x="0" y="0"/>
                </a:moveTo>
                <a:lnTo>
                  <a:pt x="6354523" y="0"/>
                </a:lnTo>
                <a:lnTo>
                  <a:pt x="6354523" y="4623929"/>
                </a:lnTo>
                <a:lnTo>
                  <a:pt x="0" y="4623929"/>
                </a:lnTo>
                <a:lnTo>
                  <a:pt x="0" y="0"/>
                </a:lnTo>
                <a:close/>
              </a:path>
            </a:pathLst>
          </a:custGeom>
          <a:blipFill>
            <a:blip r:embed="rId4"/>
            <a:stretch>
              <a:fillRect l="0" t="0" r="0" b="0"/>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1A022B"/>
        </a:solidFill>
      </p:bgPr>
    </p:bg>
    <p:spTree>
      <p:nvGrpSpPr>
        <p:cNvPr id="1" name=""/>
        <p:cNvGrpSpPr/>
        <p:nvPr/>
      </p:nvGrpSpPr>
      <p:grpSpPr>
        <a:xfrm>
          <a:off x="0" y="0"/>
          <a:ext cx="0" cy="0"/>
          <a:chOff x="0" y="0"/>
          <a:chExt cx="0" cy="0"/>
        </a:xfrm>
      </p:grpSpPr>
      <p:sp>
        <p:nvSpPr>
          <p:cNvPr name="Freeform 2" id="2"/>
          <p:cNvSpPr/>
          <p:nvPr/>
        </p:nvSpPr>
        <p:spPr>
          <a:xfrm flipH="false" flipV="false" rot="0">
            <a:off x="-2189628" y="6474249"/>
            <a:ext cx="3882875" cy="4114800"/>
          </a:xfrm>
          <a:custGeom>
            <a:avLst/>
            <a:gdLst/>
            <a:ahLst/>
            <a:cxnLst/>
            <a:rect r="r" b="b" t="t" l="l"/>
            <a:pathLst>
              <a:path h="4114800" w="3882875">
                <a:moveTo>
                  <a:pt x="0" y="0"/>
                </a:moveTo>
                <a:lnTo>
                  <a:pt x="3882875" y="0"/>
                </a:lnTo>
                <a:lnTo>
                  <a:pt x="3882875"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739282" y="8246313"/>
            <a:ext cx="770749" cy="1926872"/>
          </a:xfrm>
          <a:custGeom>
            <a:avLst/>
            <a:gdLst/>
            <a:ahLst/>
            <a:cxnLst/>
            <a:rect r="r" b="b" t="t" l="l"/>
            <a:pathLst>
              <a:path h="1926872" w="770749">
                <a:moveTo>
                  <a:pt x="0" y="0"/>
                </a:moveTo>
                <a:lnTo>
                  <a:pt x="770748" y="0"/>
                </a:lnTo>
                <a:lnTo>
                  <a:pt x="770748" y="1926872"/>
                </a:lnTo>
                <a:lnTo>
                  <a:pt x="0" y="19268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3455372" y="7883393"/>
            <a:ext cx="770749" cy="1926872"/>
          </a:xfrm>
          <a:custGeom>
            <a:avLst/>
            <a:gdLst/>
            <a:ahLst/>
            <a:cxnLst/>
            <a:rect r="r" b="b" t="t" l="l"/>
            <a:pathLst>
              <a:path h="1926872" w="770749">
                <a:moveTo>
                  <a:pt x="0" y="0"/>
                </a:moveTo>
                <a:lnTo>
                  <a:pt x="770748" y="0"/>
                </a:lnTo>
                <a:lnTo>
                  <a:pt x="770748" y="1926872"/>
                </a:lnTo>
                <a:lnTo>
                  <a:pt x="0" y="19268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809750" y="9258300"/>
            <a:ext cx="7315200" cy="1103930"/>
          </a:xfrm>
          <a:custGeom>
            <a:avLst/>
            <a:gdLst/>
            <a:ahLst/>
            <a:cxnLst/>
            <a:rect r="r" b="b" t="t" l="l"/>
            <a:pathLst>
              <a:path h="1103930" w="7315200">
                <a:moveTo>
                  <a:pt x="0" y="0"/>
                </a:moveTo>
                <a:lnTo>
                  <a:pt x="7315200" y="0"/>
                </a:lnTo>
                <a:lnTo>
                  <a:pt x="7315200" y="1103930"/>
                </a:lnTo>
                <a:lnTo>
                  <a:pt x="0" y="110393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7576179" y="8091052"/>
            <a:ext cx="3135642" cy="1488005"/>
          </a:xfrm>
          <a:custGeom>
            <a:avLst/>
            <a:gdLst/>
            <a:ahLst/>
            <a:cxnLst/>
            <a:rect r="r" b="b" t="t" l="l"/>
            <a:pathLst>
              <a:path h="1488005" w="3135642">
                <a:moveTo>
                  <a:pt x="0" y="0"/>
                </a:moveTo>
                <a:lnTo>
                  <a:pt x="3135642" y="0"/>
                </a:lnTo>
                <a:lnTo>
                  <a:pt x="3135642" y="1488005"/>
                </a:lnTo>
                <a:lnTo>
                  <a:pt x="0" y="148800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4459609" y="3295769"/>
            <a:ext cx="4426032" cy="6356958"/>
          </a:xfrm>
          <a:custGeom>
            <a:avLst/>
            <a:gdLst/>
            <a:ahLst/>
            <a:cxnLst/>
            <a:rect r="r" b="b" t="t" l="l"/>
            <a:pathLst>
              <a:path h="6356958" w="4426032">
                <a:moveTo>
                  <a:pt x="0" y="0"/>
                </a:moveTo>
                <a:lnTo>
                  <a:pt x="4426032" y="0"/>
                </a:lnTo>
                <a:lnTo>
                  <a:pt x="4426032" y="6356959"/>
                </a:lnTo>
                <a:lnTo>
                  <a:pt x="0" y="6356959"/>
                </a:lnTo>
                <a:lnTo>
                  <a:pt x="0" y="0"/>
                </a:lnTo>
                <a:close/>
              </a:path>
            </a:pathLst>
          </a:custGeom>
          <a:blipFill>
            <a:blip r:embed="rId10"/>
            <a:stretch>
              <a:fillRect l="0" t="0" r="0" b="0"/>
            </a:stretch>
          </a:blipFill>
        </p:spPr>
      </p:sp>
      <p:sp>
        <p:nvSpPr>
          <p:cNvPr name="Freeform 8" id="8"/>
          <p:cNvSpPr/>
          <p:nvPr/>
        </p:nvSpPr>
        <p:spPr>
          <a:xfrm flipH="true" flipV="false" rot="0">
            <a:off x="12777970" y="8531649"/>
            <a:ext cx="770749" cy="1926872"/>
          </a:xfrm>
          <a:custGeom>
            <a:avLst/>
            <a:gdLst/>
            <a:ahLst/>
            <a:cxnLst/>
            <a:rect r="r" b="b" t="t" l="l"/>
            <a:pathLst>
              <a:path h="1926872" w="770749">
                <a:moveTo>
                  <a:pt x="770748" y="0"/>
                </a:moveTo>
                <a:lnTo>
                  <a:pt x="0" y="0"/>
                </a:lnTo>
                <a:lnTo>
                  <a:pt x="0" y="1926871"/>
                </a:lnTo>
                <a:lnTo>
                  <a:pt x="770748" y="1926871"/>
                </a:lnTo>
                <a:lnTo>
                  <a:pt x="77074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true" flipV="false" rot="0">
            <a:off x="11530971" y="8246313"/>
            <a:ext cx="770749" cy="1926872"/>
          </a:xfrm>
          <a:custGeom>
            <a:avLst/>
            <a:gdLst/>
            <a:ahLst/>
            <a:cxnLst/>
            <a:rect r="r" b="b" t="t" l="l"/>
            <a:pathLst>
              <a:path h="1926872" w="770749">
                <a:moveTo>
                  <a:pt x="770749" y="0"/>
                </a:moveTo>
                <a:lnTo>
                  <a:pt x="0" y="0"/>
                </a:lnTo>
                <a:lnTo>
                  <a:pt x="0" y="1926872"/>
                </a:lnTo>
                <a:lnTo>
                  <a:pt x="770749" y="1926872"/>
                </a:lnTo>
                <a:lnTo>
                  <a:pt x="770749"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5986280" y="7871619"/>
            <a:ext cx="770749" cy="1926872"/>
          </a:xfrm>
          <a:custGeom>
            <a:avLst/>
            <a:gdLst/>
            <a:ahLst/>
            <a:cxnLst/>
            <a:rect r="r" b="b" t="t" l="l"/>
            <a:pathLst>
              <a:path h="1926872" w="770749">
                <a:moveTo>
                  <a:pt x="0" y="0"/>
                </a:moveTo>
                <a:lnTo>
                  <a:pt x="770749" y="0"/>
                </a:lnTo>
                <a:lnTo>
                  <a:pt x="770749" y="1926871"/>
                </a:lnTo>
                <a:lnTo>
                  <a:pt x="0" y="19268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5486400" y="9258300"/>
            <a:ext cx="7315200" cy="1103930"/>
          </a:xfrm>
          <a:custGeom>
            <a:avLst/>
            <a:gdLst/>
            <a:ahLst/>
            <a:cxnLst/>
            <a:rect r="r" b="b" t="t" l="l"/>
            <a:pathLst>
              <a:path h="1103930" w="7315200">
                <a:moveTo>
                  <a:pt x="0" y="0"/>
                </a:moveTo>
                <a:lnTo>
                  <a:pt x="7315200" y="0"/>
                </a:lnTo>
                <a:lnTo>
                  <a:pt x="7315200" y="1103930"/>
                </a:lnTo>
                <a:lnTo>
                  <a:pt x="0" y="110393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0">
            <a:off x="12777970" y="9272152"/>
            <a:ext cx="7315200" cy="1103930"/>
          </a:xfrm>
          <a:custGeom>
            <a:avLst/>
            <a:gdLst/>
            <a:ahLst/>
            <a:cxnLst/>
            <a:rect r="r" b="b" t="t" l="l"/>
            <a:pathLst>
              <a:path h="1103930" w="7315200">
                <a:moveTo>
                  <a:pt x="0" y="0"/>
                </a:moveTo>
                <a:lnTo>
                  <a:pt x="7315200" y="0"/>
                </a:lnTo>
                <a:lnTo>
                  <a:pt x="7315200" y="1103931"/>
                </a:lnTo>
                <a:lnTo>
                  <a:pt x="0" y="110393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0">
            <a:off x="-553324" y="536978"/>
            <a:ext cx="4381715" cy="780742"/>
          </a:xfrm>
          <a:custGeom>
            <a:avLst/>
            <a:gdLst/>
            <a:ahLst/>
            <a:cxnLst/>
            <a:rect r="r" b="b" t="t" l="l"/>
            <a:pathLst>
              <a:path h="780742" w="4381715">
                <a:moveTo>
                  <a:pt x="0" y="0"/>
                </a:moveTo>
                <a:lnTo>
                  <a:pt x="4381715" y="0"/>
                </a:lnTo>
                <a:lnTo>
                  <a:pt x="4381715" y="780742"/>
                </a:lnTo>
                <a:lnTo>
                  <a:pt x="0" y="78074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4" id="14"/>
          <p:cNvSpPr/>
          <p:nvPr/>
        </p:nvSpPr>
        <p:spPr>
          <a:xfrm flipH="true" flipV="false" rot="0">
            <a:off x="14459609" y="536978"/>
            <a:ext cx="4381715" cy="780742"/>
          </a:xfrm>
          <a:custGeom>
            <a:avLst/>
            <a:gdLst/>
            <a:ahLst/>
            <a:cxnLst/>
            <a:rect r="r" b="b" t="t" l="l"/>
            <a:pathLst>
              <a:path h="780742" w="4381715">
                <a:moveTo>
                  <a:pt x="4381715" y="0"/>
                </a:moveTo>
                <a:lnTo>
                  <a:pt x="0" y="0"/>
                </a:lnTo>
                <a:lnTo>
                  <a:pt x="0" y="780742"/>
                </a:lnTo>
                <a:lnTo>
                  <a:pt x="4381715" y="780742"/>
                </a:lnTo>
                <a:lnTo>
                  <a:pt x="4381715"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5" id="15"/>
          <p:cNvSpPr/>
          <p:nvPr/>
        </p:nvSpPr>
        <p:spPr>
          <a:xfrm flipH="false" flipV="false" rot="0">
            <a:off x="1027747" y="3103938"/>
            <a:ext cx="1924760" cy="671916"/>
          </a:xfrm>
          <a:custGeom>
            <a:avLst/>
            <a:gdLst/>
            <a:ahLst/>
            <a:cxnLst/>
            <a:rect r="r" b="b" t="t" l="l"/>
            <a:pathLst>
              <a:path h="671916" w="1924760">
                <a:moveTo>
                  <a:pt x="0" y="0"/>
                </a:moveTo>
                <a:lnTo>
                  <a:pt x="1924760" y="0"/>
                </a:lnTo>
                <a:lnTo>
                  <a:pt x="1924760" y="671916"/>
                </a:lnTo>
                <a:lnTo>
                  <a:pt x="0" y="67191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6" id="16"/>
          <p:cNvSpPr/>
          <p:nvPr/>
        </p:nvSpPr>
        <p:spPr>
          <a:xfrm flipH="true" flipV="false" rot="0">
            <a:off x="15710245" y="2338103"/>
            <a:ext cx="1924760" cy="671916"/>
          </a:xfrm>
          <a:custGeom>
            <a:avLst/>
            <a:gdLst/>
            <a:ahLst/>
            <a:cxnLst/>
            <a:rect r="r" b="b" t="t" l="l"/>
            <a:pathLst>
              <a:path h="671916" w="1924760">
                <a:moveTo>
                  <a:pt x="1924760" y="0"/>
                </a:moveTo>
                <a:lnTo>
                  <a:pt x="0" y="0"/>
                </a:lnTo>
                <a:lnTo>
                  <a:pt x="0" y="671916"/>
                </a:lnTo>
                <a:lnTo>
                  <a:pt x="1924760" y="671916"/>
                </a:lnTo>
                <a:lnTo>
                  <a:pt x="192476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7" id="17"/>
          <p:cNvSpPr/>
          <p:nvPr/>
        </p:nvSpPr>
        <p:spPr>
          <a:xfrm flipH="false" flipV="false" rot="0">
            <a:off x="87781" y="1507785"/>
            <a:ext cx="3804693" cy="4916394"/>
          </a:xfrm>
          <a:custGeom>
            <a:avLst/>
            <a:gdLst/>
            <a:ahLst/>
            <a:cxnLst/>
            <a:rect r="r" b="b" t="t" l="l"/>
            <a:pathLst>
              <a:path h="4916394" w="3804693">
                <a:moveTo>
                  <a:pt x="0" y="0"/>
                </a:moveTo>
                <a:lnTo>
                  <a:pt x="3804692" y="0"/>
                </a:lnTo>
                <a:lnTo>
                  <a:pt x="3804692" y="4916394"/>
                </a:lnTo>
                <a:lnTo>
                  <a:pt x="0" y="4916394"/>
                </a:lnTo>
                <a:lnTo>
                  <a:pt x="0" y="0"/>
                </a:lnTo>
                <a:close/>
              </a:path>
            </a:pathLst>
          </a:custGeom>
          <a:blipFill>
            <a:blip r:embed="rId15"/>
            <a:stretch>
              <a:fillRect l="-9521" t="-7935" r="-8789" b="-12470"/>
            </a:stretch>
          </a:blipFill>
        </p:spPr>
      </p:sp>
      <p:sp>
        <p:nvSpPr>
          <p:cNvPr name="TextBox 18" id="18"/>
          <p:cNvSpPr txBox="true"/>
          <p:nvPr/>
        </p:nvSpPr>
        <p:spPr>
          <a:xfrm rot="0">
            <a:off x="4226120" y="1522526"/>
            <a:ext cx="9930133" cy="887123"/>
          </a:xfrm>
          <a:prstGeom prst="rect">
            <a:avLst/>
          </a:prstGeom>
        </p:spPr>
        <p:txBody>
          <a:bodyPr anchor="t" rtlCol="false" tIns="0" lIns="0" bIns="0" rIns="0">
            <a:spAutoFit/>
          </a:bodyPr>
          <a:lstStyle/>
          <a:p>
            <a:pPr algn="ctr">
              <a:lnSpc>
                <a:spcPts val="7280"/>
              </a:lnSpc>
              <a:spcBef>
                <a:spcPct val="0"/>
              </a:spcBef>
            </a:pPr>
            <a:r>
              <a:rPr lang="en-US" sz="5200">
                <a:solidFill>
                  <a:srgbClr val="FFFFFF"/>
                </a:solidFill>
                <a:latin typeface="Press Start 2P"/>
                <a:ea typeface="Press Start 2P"/>
                <a:cs typeface="Press Start 2P"/>
                <a:sym typeface="Press Start 2P"/>
              </a:rPr>
              <a:t>ADA LOVELACE</a:t>
            </a:r>
          </a:p>
        </p:txBody>
      </p:sp>
      <p:sp>
        <p:nvSpPr>
          <p:cNvPr name="TextBox 19" id="19"/>
          <p:cNvSpPr txBox="true"/>
          <p:nvPr/>
        </p:nvSpPr>
        <p:spPr>
          <a:xfrm rot="0">
            <a:off x="3979413" y="3124319"/>
            <a:ext cx="11882224" cy="2072624"/>
          </a:xfrm>
          <a:prstGeom prst="rect">
            <a:avLst/>
          </a:prstGeom>
        </p:spPr>
        <p:txBody>
          <a:bodyPr anchor="t" rtlCol="false" tIns="0" lIns="0" bIns="0" rIns="0">
            <a:spAutoFit/>
          </a:bodyPr>
          <a:lstStyle/>
          <a:p>
            <a:pPr algn="ctr">
              <a:lnSpc>
                <a:spcPts val="3352"/>
              </a:lnSpc>
              <a:spcBef>
                <a:spcPct val="0"/>
              </a:spcBef>
            </a:pPr>
            <a:r>
              <a:rPr lang="en-US" b="true" sz="2394">
                <a:solidFill>
                  <a:srgbClr val="FFFFFF"/>
                </a:solidFill>
                <a:latin typeface="Open Sans Bold"/>
                <a:ea typeface="Open Sans Bold"/>
                <a:cs typeface="Open Sans Bold"/>
                <a:sym typeface="Open Sans Bold"/>
              </a:rPr>
              <a:t>Our team name is inspired by NVIDIA’s Ada Lovelace GPU architecture, which powers modern RTX graphics cards (RTX 3000 and RTX 4000 series). This architecture is specifically designed to accelerate ray tracing, Monte Carlo sampling, and AI-based denoising—the exact core technologies studied in our project.</a:t>
            </a:r>
          </a:p>
        </p:txBody>
      </p:sp>
      <p:sp>
        <p:nvSpPr>
          <p:cNvPr name="TextBox 20" id="20"/>
          <p:cNvSpPr txBox="true"/>
          <p:nvPr/>
        </p:nvSpPr>
        <p:spPr>
          <a:xfrm rot="0">
            <a:off x="4226120" y="5292524"/>
            <a:ext cx="11388810" cy="2325349"/>
          </a:xfrm>
          <a:prstGeom prst="rect">
            <a:avLst/>
          </a:prstGeom>
        </p:spPr>
        <p:txBody>
          <a:bodyPr anchor="t" rtlCol="false" tIns="0" lIns="0" bIns="0" rIns="0">
            <a:spAutoFit/>
          </a:bodyPr>
          <a:lstStyle/>
          <a:p>
            <a:pPr algn="ctr">
              <a:lnSpc>
                <a:spcPts val="3079"/>
              </a:lnSpc>
            </a:pPr>
          </a:p>
          <a:p>
            <a:pPr algn="ctr">
              <a:lnSpc>
                <a:spcPts val="3079"/>
              </a:lnSpc>
              <a:spcBef>
                <a:spcPct val="0"/>
              </a:spcBef>
            </a:pPr>
            <a:r>
              <a:rPr lang="en-US" b="true" sz="2199">
                <a:solidFill>
                  <a:srgbClr val="FFFFFF"/>
                </a:solidFill>
                <a:latin typeface="Open Sans Bold"/>
                <a:ea typeface="Open Sans Bold"/>
                <a:cs typeface="Open Sans Bold"/>
                <a:sym typeface="Open Sans Bold"/>
              </a:rPr>
              <a:t>The architecture itself is named after Ada L</a:t>
            </a:r>
            <a:r>
              <a:rPr lang="en-US" b="true" sz="2199">
                <a:solidFill>
                  <a:srgbClr val="FFFFFF"/>
                </a:solidFill>
                <a:latin typeface="Open Sans Bold"/>
                <a:ea typeface="Open Sans Bold"/>
                <a:cs typeface="Open Sans Bold"/>
                <a:sym typeface="Open Sans Bold"/>
              </a:rPr>
              <a:t>OVELACE, THE 19TH-CENTURY MATHEMATICIAN WIDELY REGARDED AS THE FIRST COMPUTER PROGRAMMER. SHE ENVISIONED MACHINES CAPABLE OF PERFORMING COMPLEX CALCULATIONS LONG BEFORE MODERN COMPUTERS EXISTED.</a:t>
            </a:r>
          </a:p>
          <a:p>
            <a:pPr algn="ctr">
              <a:lnSpc>
                <a:spcPts val="3079"/>
              </a:lnSpc>
              <a:spcBef>
                <a:spcPct val="0"/>
              </a:spcBef>
            </a:pP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1A022B"/>
        </a:solidFill>
      </p:bgPr>
    </p:bg>
    <p:spTree>
      <p:nvGrpSpPr>
        <p:cNvPr id="1" name=""/>
        <p:cNvGrpSpPr/>
        <p:nvPr/>
      </p:nvGrpSpPr>
      <p:grpSpPr>
        <a:xfrm>
          <a:off x="0" y="0"/>
          <a:ext cx="0" cy="0"/>
          <a:chOff x="0" y="0"/>
          <a:chExt cx="0" cy="0"/>
        </a:xfrm>
      </p:grpSpPr>
      <p:sp>
        <p:nvSpPr>
          <p:cNvPr name="Freeform 2" id="2"/>
          <p:cNvSpPr/>
          <p:nvPr/>
        </p:nvSpPr>
        <p:spPr>
          <a:xfrm flipH="true" flipV="false" rot="0">
            <a:off x="15159818" y="3752757"/>
            <a:ext cx="2234633" cy="5586581"/>
          </a:xfrm>
          <a:custGeom>
            <a:avLst/>
            <a:gdLst/>
            <a:ahLst/>
            <a:cxnLst/>
            <a:rect r="r" b="b" t="t" l="l"/>
            <a:pathLst>
              <a:path h="5586581" w="2234633">
                <a:moveTo>
                  <a:pt x="2234633" y="0"/>
                </a:moveTo>
                <a:lnTo>
                  <a:pt x="0" y="0"/>
                </a:lnTo>
                <a:lnTo>
                  <a:pt x="0" y="5586582"/>
                </a:lnTo>
                <a:lnTo>
                  <a:pt x="2234633" y="5586582"/>
                </a:lnTo>
                <a:lnTo>
                  <a:pt x="2234633"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809750" y="9258300"/>
            <a:ext cx="21907500" cy="1103930"/>
            <a:chOff x="0" y="0"/>
            <a:chExt cx="29210000" cy="1471907"/>
          </a:xfrm>
        </p:grpSpPr>
        <p:sp>
          <p:nvSpPr>
            <p:cNvPr name="Freeform 4" id="4"/>
            <p:cNvSpPr/>
            <p:nvPr/>
          </p:nvSpPr>
          <p:spPr>
            <a:xfrm flipH="false" flipV="false" rot="0">
              <a:off x="0" y="0"/>
              <a:ext cx="9753600" cy="1471907"/>
            </a:xfrm>
            <a:custGeom>
              <a:avLst/>
              <a:gdLst/>
              <a:ahLst/>
              <a:cxnLst/>
              <a:rect r="r" b="b" t="t" l="l"/>
              <a:pathLst>
                <a:path h="1471907" w="9753600">
                  <a:moveTo>
                    <a:pt x="0" y="0"/>
                  </a:moveTo>
                  <a:lnTo>
                    <a:pt x="9753600" y="0"/>
                  </a:lnTo>
                  <a:lnTo>
                    <a:pt x="9753600" y="1471907"/>
                  </a:lnTo>
                  <a:lnTo>
                    <a:pt x="0" y="14719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9728200" y="0"/>
              <a:ext cx="9753600" cy="1471907"/>
            </a:xfrm>
            <a:custGeom>
              <a:avLst/>
              <a:gdLst/>
              <a:ahLst/>
              <a:cxnLst/>
              <a:rect r="r" b="b" t="t" l="l"/>
              <a:pathLst>
                <a:path h="1471907" w="9753600">
                  <a:moveTo>
                    <a:pt x="0" y="0"/>
                  </a:moveTo>
                  <a:lnTo>
                    <a:pt x="9753600" y="0"/>
                  </a:lnTo>
                  <a:lnTo>
                    <a:pt x="9753600" y="1471907"/>
                  </a:lnTo>
                  <a:lnTo>
                    <a:pt x="0" y="14719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9456400" y="0"/>
              <a:ext cx="9753600" cy="1471907"/>
            </a:xfrm>
            <a:custGeom>
              <a:avLst/>
              <a:gdLst/>
              <a:ahLst/>
              <a:cxnLst/>
              <a:rect r="r" b="b" t="t" l="l"/>
              <a:pathLst>
                <a:path h="1471907" w="9753600">
                  <a:moveTo>
                    <a:pt x="0" y="0"/>
                  </a:moveTo>
                  <a:lnTo>
                    <a:pt x="9753600" y="0"/>
                  </a:lnTo>
                  <a:lnTo>
                    <a:pt x="9753600" y="1471907"/>
                  </a:lnTo>
                  <a:lnTo>
                    <a:pt x="0" y="14719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Freeform 7" id="7"/>
          <p:cNvSpPr/>
          <p:nvPr/>
        </p:nvSpPr>
        <p:spPr>
          <a:xfrm flipH="false" flipV="false" rot="0">
            <a:off x="5472462" y="1546098"/>
            <a:ext cx="1044114" cy="1044114"/>
          </a:xfrm>
          <a:custGeom>
            <a:avLst/>
            <a:gdLst/>
            <a:ahLst/>
            <a:cxnLst/>
            <a:rect r="r" b="b" t="t" l="l"/>
            <a:pathLst>
              <a:path h="1044114" w="1044114">
                <a:moveTo>
                  <a:pt x="0" y="0"/>
                </a:moveTo>
                <a:lnTo>
                  <a:pt x="1044113" y="0"/>
                </a:lnTo>
                <a:lnTo>
                  <a:pt x="1044113" y="1044114"/>
                </a:lnTo>
                <a:lnTo>
                  <a:pt x="0" y="104411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6929423" y="1546098"/>
            <a:ext cx="1044114" cy="1044114"/>
          </a:xfrm>
          <a:custGeom>
            <a:avLst/>
            <a:gdLst/>
            <a:ahLst/>
            <a:cxnLst/>
            <a:rect r="r" b="b" t="t" l="l"/>
            <a:pathLst>
              <a:path h="1044114" w="1044114">
                <a:moveTo>
                  <a:pt x="0" y="0"/>
                </a:moveTo>
                <a:lnTo>
                  <a:pt x="1044113" y="0"/>
                </a:lnTo>
                <a:lnTo>
                  <a:pt x="1044113" y="1044114"/>
                </a:lnTo>
                <a:lnTo>
                  <a:pt x="0" y="104411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8386383" y="1546098"/>
            <a:ext cx="1044114" cy="1044114"/>
          </a:xfrm>
          <a:custGeom>
            <a:avLst/>
            <a:gdLst/>
            <a:ahLst/>
            <a:cxnLst/>
            <a:rect r="r" b="b" t="t" l="l"/>
            <a:pathLst>
              <a:path h="1044114" w="1044114">
                <a:moveTo>
                  <a:pt x="0" y="0"/>
                </a:moveTo>
                <a:lnTo>
                  <a:pt x="1044114" y="0"/>
                </a:lnTo>
                <a:lnTo>
                  <a:pt x="1044114" y="1044114"/>
                </a:lnTo>
                <a:lnTo>
                  <a:pt x="0" y="104411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9843344" y="1546098"/>
            <a:ext cx="1044114" cy="1044114"/>
          </a:xfrm>
          <a:custGeom>
            <a:avLst/>
            <a:gdLst/>
            <a:ahLst/>
            <a:cxnLst/>
            <a:rect r="r" b="b" t="t" l="l"/>
            <a:pathLst>
              <a:path h="1044114" w="1044114">
                <a:moveTo>
                  <a:pt x="0" y="0"/>
                </a:moveTo>
                <a:lnTo>
                  <a:pt x="1044114" y="0"/>
                </a:lnTo>
                <a:lnTo>
                  <a:pt x="1044114" y="1044114"/>
                </a:lnTo>
                <a:lnTo>
                  <a:pt x="0" y="104411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11300305" y="1546098"/>
            <a:ext cx="1044114" cy="1044114"/>
          </a:xfrm>
          <a:custGeom>
            <a:avLst/>
            <a:gdLst/>
            <a:ahLst/>
            <a:cxnLst/>
            <a:rect r="r" b="b" t="t" l="l"/>
            <a:pathLst>
              <a:path h="1044114" w="1044114">
                <a:moveTo>
                  <a:pt x="0" y="0"/>
                </a:moveTo>
                <a:lnTo>
                  <a:pt x="1044113" y="0"/>
                </a:lnTo>
                <a:lnTo>
                  <a:pt x="1044113" y="1044114"/>
                </a:lnTo>
                <a:lnTo>
                  <a:pt x="0" y="104411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0">
            <a:off x="8037183" y="563698"/>
            <a:ext cx="1742515" cy="310484"/>
          </a:xfrm>
          <a:custGeom>
            <a:avLst/>
            <a:gdLst/>
            <a:ahLst/>
            <a:cxnLst/>
            <a:rect r="r" b="b" t="t" l="l"/>
            <a:pathLst>
              <a:path h="310484" w="1742515">
                <a:moveTo>
                  <a:pt x="0" y="0"/>
                </a:moveTo>
                <a:lnTo>
                  <a:pt x="1742514" y="0"/>
                </a:lnTo>
                <a:lnTo>
                  <a:pt x="1742514" y="310484"/>
                </a:lnTo>
                <a:lnTo>
                  <a:pt x="0" y="31048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0">
            <a:off x="17108190" y="488388"/>
            <a:ext cx="1924760" cy="671916"/>
          </a:xfrm>
          <a:custGeom>
            <a:avLst/>
            <a:gdLst/>
            <a:ahLst/>
            <a:cxnLst/>
            <a:rect r="r" b="b" t="t" l="l"/>
            <a:pathLst>
              <a:path h="671916" w="1924760">
                <a:moveTo>
                  <a:pt x="0" y="0"/>
                </a:moveTo>
                <a:lnTo>
                  <a:pt x="1924761" y="0"/>
                </a:lnTo>
                <a:lnTo>
                  <a:pt x="1924761" y="671917"/>
                </a:lnTo>
                <a:lnTo>
                  <a:pt x="0" y="67191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false" flipV="false" rot="0">
            <a:off x="-779970" y="874182"/>
            <a:ext cx="1924760" cy="671916"/>
          </a:xfrm>
          <a:custGeom>
            <a:avLst/>
            <a:gdLst/>
            <a:ahLst/>
            <a:cxnLst/>
            <a:rect r="r" b="b" t="t" l="l"/>
            <a:pathLst>
              <a:path h="671916" w="1924760">
                <a:moveTo>
                  <a:pt x="0" y="0"/>
                </a:moveTo>
                <a:lnTo>
                  <a:pt x="1924761" y="0"/>
                </a:lnTo>
                <a:lnTo>
                  <a:pt x="1924761" y="671916"/>
                </a:lnTo>
                <a:lnTo>
                  <a:pt x="0" y="67191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5" id="15"/>
          <p:cNvSpPr txBox="true"/>
          <p:nvPr/>
        </p:nvSpPr>
        <p:spPr>
          <a:xfrm rot="0">
            <a:off x="1144791" y="3386720"/>
            <a:ext cx="13613435" cy="3824885"/>
          </a:xfrm>
          <a:prstGeom prst="rect">
            <a:avLst/>
          </a:prstGeom>
        </p:spPr>
        <p:txBody>
          <a:bodyPr anchor="t" rtlCol="false" tIns="0" lIns="0" bIns="0" rIns="0">
            <a:spAutoFit/>
          </a:bodyPr>
          <a:lstStyle/>
          <a:p>
            <a:pPr algn="ctr">
              <a:lnSpc>
                <a:spcPts val="3363"/>
              </a:lnSpc>
              <a:spcBef>
                <a:spcPct val="0"/>
              </a:spcBef>
            </a:pPr>
            <a:r>
              <a:rPr lang="en-US" sz="2402">
                <a:solidFill>
                  <a:srgbClr val="FFFFFF"/>
                </a:solidFill>
                <a:latin typeface="Press Start 2P"/>
                <a:ea typeface="Press Start 2P"/>
                <a:cs typeface="Press Start 2P"/>
                <a:sym typeface="Press Start 2P"/>
              </a:rPr>
              <a:t>M</a:t>
            </a:r>
            <a:r>
              <a:rPr lang="en-US" sz="2402">
                <a:solidFill>
                  <a:srgbClr val="FFFFFF"/>
                </a:solidFill>
                <a:latin typeface="Press Start 2P"/>
                <a:ea typeface="Press Start 2P"/>
                <a:cs typeface="Press Start 2P"/>
                <a:sym typeface="Press Start 2P"/>
              </a:rPr>
              <a:t>ONTE CARLO RENDERING DOESN’T REMOVE RANDOMNESS — IT USES PROBABILITY TO CONTROL IT.</a:t>
            </a:r>
          </a:p>
          <a:p>
            <a:pPr algn="ctr">
              <a:lnSpc>
                <a:spcPts val="3363"/>
              </a:lnSpc>
              <a:spcBef>
                <a:spcPct val="0"/>
              </a:spcBef>
            </a:pPr>
            <a:r>
              <a:rPr lang="en-US" sz="2402">
                <a:solidFill>
                  <a:srgbClr val="FFFFFF"/>
                </a:solidFill>
                <a:latin typeface="Press Start 2P"/>
                <a:ea typeface="Press Start 2P"/>
                <a:cs typeface="Press Start 2P"/>
                <a:sym typeface="Press Start 2P"/>
              </a:rPr>
              <a:t> MORE SAMPLES CALM THE NOISE, SMARTER SAMPLING BENDS THE ODDS TOWARD IMPORTANT LIGHT. WHEN PROBABILITY IS USED WISELY, RANDOMNESS TURNS INTO REALISM—AND THAT’S THE SECRET BEHIND FAST, BELIEVABLE GRAPHICS IN GAMES AND MUCH MORE. 🎮✨</a:t>
            </a:r>
          </a:p>
        </p:txBody>
      </p:sp>
      <p:sp>
        <p:nvSpPr>
          <p:cNvPr name="Freeform 16" id="16"/>
          <p:cNvSpPr/>
          <p:nvPr/>
        </p:nvSpPr>
        <p:spPr>
          <a:xfrm flipH="true" flipV="false" rot="0">
            <a:off x="6298651" y="7643166"/>
            <a:ext cx="1166293" cy="2167099"/>
          </a:xfrm>
          <a:custGeom>
            <a:avLst/>
            <a:gdLst/>
            <a:ahLst/>
            <a:cxnLst/>
            <a:rect r="r" b="b" t="t" l="l"/>
            <a:pathLst>
              <a:path h="2167099" w="1166293">
                <a:moveTo>
                  <a:pt x="1166293" y="0"/>
                </a:moveTo>
                <a:lnTo>
                  <a:pt x="0" y="0"/>
                </a:lnTo>
                <a:lnTo>
                  <a:pt x="0" y="2167099"/>
                </a:lnTo>
                <a:lnTo>
                  <a:pt x="1166293" y="2167099"/>
                </a:lnTo>
                <a:lnTo>
                  <a:pt x="1166293"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7" id="17"/>
          <p:cNvSpPr/>
          <p:nvPr/>
        </p:nvSpPr>
        <p:spPr>
          <a:xfrm flipH="false" flipV="false" rot="0">
            <a:off x="7675293" y="7974822"/>
            <a:ext cx="977791" cy="1835443"/>
          </a:xfrm>
          <a:custGeom>
            <a:avLst/>
            <a:gdLst/>
            <a:ahLst/>
            <a:cxnLst/>
            <a:rect r="r" b="b" t="t" l="l"/>
            <a:pathLst>
              <a:path h="1835443" w="977791">
                <a:moveTo>
                  <a:pt x="0" y="0"/>
                </a:moveTo>
                <a:lnTo>
                  <a:pt x="977790" y="0"/>
                </a:lnTo>
                <a:lnTo>
                  <a:pt x="977790" y="1835443"/>
                </a:lnTo>
                <a:lnTo>
                  <a:pt x="0" y="1835443"/>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8" id="18"/>
          <p:cNvSpPr/>
          <p:nvPr/>
        </p:nvSpPr>
        <p:spPr>
          <a:xfrm flipH="true" flipV="false" rot="0">
            <a:off x="11178125" y="7643166"/>
            <a:ext cx="1166293" cy="2167099"/>
          </a:xfrm>
          <a:custGeom>
            <a:avLst/>
            <a:gdLst/>
            <a:ahLst/>
            <a:cxnLst/>
            <a:rect r="r" b="b" t="t" l="l"/>
            <a:pathLst>
              <a:path h="2167099" w="1166293">
                <a:moveTo>
                  <a:pt x="1166293" y="0"/>
                </a:moveTo>
                <a:lnTo>
                  <a:pt x="0" y="0"/>
                </a:lnTo>
                <a:lnTo>
                  <a:pt x="0" y="2167099"/>
                </a:lnTo>
                <a:lnTo>
                  <a:pt x="1166293" y="2167099"/>
                </a:lnTo>
                <a:lnTo>
                  <a:pt x="1166293"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9" id="19"/>
          <p:cNvSpPr/>
          <p:nvPr/>
        </p:nvSpPr>
        <p:spPr>
          <a:xfrm flipH="false" flipV="false" rot="0">
            <a:off x="8757858" y="7974822"/>
            <a:ext cx="977791" cy="1835443"/>
          </a:xfrm>
          <a:custGeom>
            <a:avLst/>
            <a:gdLst/>
            <a:ahLst/>
            <a:cxnLst/>
            <a:rect r="r" b="b" t="t" l="l"/>
            <a:pathLst>
              <a:path h="1835443" w="977791">
                <a:moveTo>
                  <a:pt x="0" y="0"/>
                </a:moveTo>
                <a:lnTo>
                  <a:pt x="977791" y="0"/>
                </a:lnTo>
                <a:lnTo>
                  <a:pt x="977791" y="1835443"/>
                </a:lnTo>
                <a:lnTo>
                  <a:pt x="0" y="1835443"/>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20" id="20"/>
          <p:cNvSpPr/>
          <p:nvPr/>
        </p:nvSpPr>
        <p:spPr>
          <a:xfrm flipH="false" flipV="false" rot="0">
            <a:off x="9843344" y="7974822"/>
            <a:ext cx="977791" cy="1835443"/>
          </a:xfrm>
          <a:custGeom>
            <a:avLst/>
            <a:gdLst/>
            <a:ahLst/>
            <a:cxnLst/>
            <a:rect r="r" b="b" t="t" l="l"/>
            <a:pathLst>
              <a:path h="1835443" w="977791">
                <a:moveTo>
                  <a:pt x="0" y="0"/>
                </a:moveTo>
                <a:lnTo>
                  <a:pt x="977791" y="0"/>
                </a:lnTo>
                <a:lnTo>
                  <a:pt x="977791" y="1835443"/>
                </a:lnTo>
                <a:lnTo>
                  <a:pt x="0" y="1835443"/>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1A022B"/>
        </a:solidFill>
      </p:bgPr>
    </p:bg>
    <p:spTree>
      <p:nvGrpSpPr>
        <p:cNvPr id="1" name=""/>
        <p:cNvGrpSpPr/>
        <p:nvPr/>
      </p:nvGrpSpPr>
      <p:grpSpPr>
        <a:xfrm>
          <a:off x="0" y="0"/>
          <a:ext cx="0" cy="0"/>
          <a:chOff x="0" y="0"/>
          <a:chExt cx="0" cy="0"/>
        </a:xfrm>
      </p:grpSpPr>
      <p:sp>
        <p:nvSpPr>
          <p:cNvPr name="Freeform 2" id="2"/>
          <p:cNvSpPr/>
          <p:nvPr/>
        </p:nvSpPr>
        <p:spPr>
          <a:xfrm flipH="false" flipV="false" rot="0">
            <a:off x="-1809750" y="9258300"/>
            <a:ext cx="7315200" cy="1103930"/>
          </a:xfrm>
          <a:custGeom>
            <a:avLst/>
            <a:gdLst/>
            <a:ahLst/>
            <a:cxnLst/>
            <a:rect r="r" b="b" t="t" l="l"/>
            <a:pathLst>
              <a:path h="1103930" w="7315200">
                <a:moveTo>
                  <a:pt x="0" y="0"/>
                </a:moveTo>
                <a:lnTo>
                  <a:pt x="7315200" y="0"/>
                </a:lnTo>
                <a:lnTo>
                  <a:pt x="7315200" y="1103930"/>
                </a:lnTo>
                <a:lnTo>
                  <a:pt x="0" y="11039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9824445" y="7297589"/>
            <a:ext cx="1166293" cy="2167099"/>
          </a:xfrm>
          <a:custGeom>
            <a:avLst/>
            <a:gdLst/>
            <a:ahLst/>
            <a:cxnLst/>
            <a:rect r="r" b="b" t="t" l="l"/>
            <a:pathLst>
              <a:path h="2167099" w="1166293">
                <a:moveTo>
                  <a:pt x="1166293" y="0"/>
                </a:moveTo>
                <a:lnTo>
                  <a:pt x="0" y="0"/>
                </a:lnTo>
                <a:lnTo>
                  <a:pt x="0" y="2167099"/>
                </a:lnTo>
                <a:lnTo>
                  <a:pt x="1166293" y="2167099"/>
                </a:lnTo>
                <a:lnTo>
                  <a:pt x="1166293"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1364033" y="7629245"/>
            <a:ext cx="977791" cy="1835443"/>
          </a:xfrm>
          <a:custGeom>
            <a:avLst/>
            <a:gdLst/>
            <a:ahLst/>
            <a:cxnLst/>
            <a:rect r="r" b="b" t="t" l="l"/>
            <a:pathLst>
              <a:path h="1835443" w="977791">
                <a:moveTo>
                  <a:pt x="0" y="0"/>
                </a:moveTo>
                <a:lnTo>
                  <a:pt x="977791" y="0"/>
                </a:lnTo>
                <a:lnTo>
                  <a:pt x="977791" y="1835443"/>
                </a:lnTo>
                <a:lnTo>
                  <a:pt x="0" y="183544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5439757" y="7070552"/>
            <a:ext cx="1819543" cy="2394136"/>
          </a:xfrm>
          <a:custGeom>
            <a:avLst/>
            <a:gdLst/>
            <a:ahLst/>
            <a:cxnLst/>
            <a:rect r="r" b="b" t="t" l="l"/>
            <a:pathLst>
              <a:path h="2394136" w="1819543">
                <a:moveTo>
                  <a:pt x="0" y="0"/>
                </a:moveTo>
                <a:lnTo>
                  <a:pt x="1819543" y="0"/>
                </a:lnTo>
                <a:lnTo>
                  <a:pt x="1819543" y="2394136"/>
                </a:lnTo>
                <a:lnTo>
                  <a:pt x="0" y="239413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5486400" y="9258300"/>
            <a:ext cx="7315200" cy="1103930"/>
          </a:xfrm>
          <a:custGeom>
            <a:avLst/>
            <a:gdLst/>
            <a:ahLst/>
            <a:cxnLst/>
            <a:rect r="r" b="b" t="t" l="l"/>
            <a:pathLst>
              <a:path h="1103930" w="7315200">
                <a:moveTo>
                  <a:pt x="0" y="0"/>
                </a:moveTo>
                <a:lnTo>
                  <a:pt x="7315200" y="0"/>
                </a:lnTo>
                <a:lnTo>
                  <a:pt x="7315200" y="1103930"/>
                </a:lnTo>
                <a:lnTo>
                  <a:pt x="0" y="11039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2782550" y="9258300"/>
            <a:ext cx="7315200" cy="1103930"/>
          </a:xfrm>
          <a:custGeom>
            <a:avLst/>
            <a:gdLst/>
            <a:ahLst/>
            <a:cxnLst/>
            <a:rect r="r" b="b" t="t" l="l"/>
            <a:pathLst>
              <a:path h="1103930" w="7315200">
                <a:moveTo>
                  <a:pt x="0" y="0"/>
                </a:moveTo>
                <a:lnTo>
                  <a:pt x="7315200" y="0"/>
                </a:lnTo>
                <a:lnTo>
                  <a:pt x="7315200" y="1103930"/>
                </a:lnTo>
                <a:lnTo>
                  <a:pt x="0" y="11039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8" id="8"/>
          <p:cNvSpPr txBox="true"/>
          <p:nvPr/>
        </p:nvSpPr>
        <p:spPr>
          <a:xfrm rot="0">
            <a:off x="1729607" y="2147693"/>
            <a:ext cx="8055131" cy="887123"/>
          </a:xfrm>
          <a:prstGeom prst="rect">
            <a:avLst/>
          </a:prstGeom>
        </p:spPr>
        <p:txBody>
          <a:bodyPr anchor="t" rtlCol="false" tIns="0" lIns="0" bIns="0" rIns="0">
            <a:spAutoFit/>
          </a:bodyPr>
          <a:lstStyle/>
          <a:p>
            <a:pPr algn="l">
              <a:lnSpc>
                <a:spcPts val="7280"/>
              </a:lnSpc>
              <a:spcBef>
                <a:spcPct val="0"/>
              </a:spcBef>
            </a:pPr>
            <a:r>
              <a:rPr lang="en-US" sz="5200">
                <a:solidFill>
                  <a:srgbClr val="FFFFFF"/>
                </a:solidFill>
                <a:latin typeface="Press Start 2P"/>
                <a:ea typeface="Press Start 2P"/>
                <a:cs typeface="Press Start 2P"/>
                <a:sym typeface="Press Start 2P"/>
              </a:rPr>
              <a:t>DONE BY -&gt;</a:t>
            </a:r>
          </a:p>
        </p:txBody>
      </p:sp>
      <p:sp>
        <p:nvSpPr>
          <p:cNvPr name="Freeform 9" id="9"/>
          <p:cNvSpPr/>
          <p:nvPr/>
        </p:nvSpPr>
        <p:spPr>
          <a:xfrm flipH="false" flipV="false" rot="0">
            <a:off x="-417805" y="818270"/>
            <a:ext cx="2772796" cy="494062"/>
          </a:xfrm>
          <a:custGeom>
            <a:avLst/>
            <a:gdLst/>
            <a:ahLst/>
            <a:cxnLst/>
            <a:rect r="r" b="b" t="t" l="l"/>
            <a:pathLst>
              <a:path h="494062" w="2772796">
                <a:moveTo>
                  <a:pt x="0" y="0"/>
                </a:moveTo>
                <a:lnTo>
                  <a:pt x="2772796" y="0"/>
                </a:lnTo>
                <a:lnTo>
                  <a:pt x="2772796" y="494062"/>
                </a:lnTo>
                <a:lnTo>
                  <a:pt x="0" y="49406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16922379" y="692742"/>
            <a:ext cx="1924760" cy="671916"/>
          </a:xfrm>
          <a:custGeom>
            <a:avLst/>
            <a:gdLst/>
            <a:ahLst/>
            <a:cxnLst/>
            <a:rect r="r" b="b" t="t" l="l"/>
            <a:pathLst>
              <a:path h="671916" w="1924760">
                <a:moveTo>
                  <a:pt x="0" y="0"/>
                </a:moveTo>
                <a:lnTo>
                  <a:pt x="1924761" y="0"/>
                </a:lnTo>
                <a:lnTo>
                  <a:pt x="1924761" y="671916"/>
                </a:lnTo>
                <a:lnTo>
                  <a:pt x="0" y="67191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1" id="11"/>
          <p:cNvSpPr/>
          <p:nvPr/>
        </p:nvSpPr>
        <p:spPr>
          <a:xfrm flipH="true" flipV="false" rot="0">
            <a:off x="7832716" y="644363"/>
            <a:ext cx="1952021" cy="347815"/>
          </a:xfrm>
          <a:custGeom>
            <a:avLst/>
            <a:gdLst/>
            <a:ahLst/>
            <a:cxnLst/>
            <a:rect r="r" b="b" t="t" l="l"/>
            <a:pathLst>
              <a:path h="347815" w="1952021">
                <a:moveTo>
                  <a:pt x="1952021" y="0"/>
                </a:moveTo>
                <a:lnTo>
                  <a:pt x="0" y="0"/>
                </a:lnTo>
                <a:lnTo>
                  <a:pt x="0" y="347815"/>
                </a:lnTo>
                <a:lnTo>
                  <a:pt x="1952021" y="347815"/>
                </a:lnTo>
                <a:lnTo>
                  <a:pt x="1952021"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7946060" y="4306614"/>
            <a:ext cx="862667" cy="301149"/>
          </a:xfrm>
          <a:custGeom>
            <a:avLst/>
            <a:gdLst/>
            <a:ahLst/>
            <a:cxnLst/>
            <a:rect r="r" b="b" t="t" l="l"/>
            <a:pathLst>
              <a:path h="301149" w="862667">
                <a:moveTo>
                  <a:pt x="0" y="0"/>
                </a:moveTo>
                <a:lnTo>
                  <a:pt x="862667" y="0"/>
                </a:lnTo>
                <a:lnTo>
                  <a:pt x="862667" y="301149"/>
                </a:lnTo>
                <a:lnTo>
                  <a:pt x="0" y="30114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0">
            <a:off x="17152524" y="6279573"/>
            <a:ext cx="862667" cy="301149"/>
          </a:xfrm>
          <a:custGeom>
            <a:avLst/>
            <a:gdLst/>
            <a:ahLst/>
            <a:cxnLst/>
            <a:rect r="r" b="b" t="t" l="l"/>
            <a:pathLst>
              <a:path h="301149" w="862667">
                <a:moveTo>
                  <a:pt x="0" y="0"/>
                </a:moveTo>
                <a:lnTo>
                  <a:pt x="862667" y="0"/>
                </a:lnTo>
                <a:lnTo>
                  <a:pt x="862667" y="301149"/>
                </a:lnTo>
                <a:lnTo>
                  <a:pt x="0" y="30114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4" id="14"/>
          <p:cNvSpPr txBox="true"/>
          <p:nvPr/>
        </p:nvSpPr>
        <p:spPr>
          <a:xfrm rot="0">
            <a:off x="1837318" y="3593952"/>
            <a:ext cx="6108742" cy="3030617"/>
          </a:xfrm>
          <a:prstGeom prst="rect">
            <a:avLst/>
          </a:prstGeom>
        </p:spPr>
        <p:txBody>
          <a:bodyPr anchor="t" rtlCol="false" tIns="0" lIns="0" bIns="0" rIns="0">
            <a:spAutoFit/>
          </a:bodyPr>
          <a:lstStyle/>
          <a:p>
            <a:pPr algn="just">
              <a:lnSpc>
                <a:spcPts val="8251"/>
              </a:lnSpc>
            </a:pPr>
            <a:r>
              <a:rPr lang="en-US" sz="3700">
                <a:solidFill>
                  <a:srgbClr val="FFFFFF"/>
                </a:solidFill>
                <a:latin typeface="Press Start 2P"/>
                <a:ea typeface="Press Start 2P"/>
                <a:cs typeface="Press Start 2P"/>
                <a:sym typeface="Press Start 2P"/>
              </a:rPr>
              <a:t>HABIBA KHALED</a:t>
            </a:r>
          </a:p>
          <a:p>
            <a:pPr algn="just">
              <a:lnSpc>
                <a:spcPts val="8251"/>
              </a:lnSpc>
            </a:pPr>
            <a:r>
              <a:rPr lang="en-US" sz="3700">
                <a:solidFill>
                  <a:srgbClr val="FFFFFF"/>
                </a:solidFill>
                <a:latin typeface="Press Start 2P"/>
                <a:ea typeface="Press Start 2P"/>
                <a:cs typeface="Press Start 2P"/>
                <a:sym typeface="Press Start 2P"/>
              </a:rPr>
              <a:t>MARYAM REFAAT</a:t>
            </a:r>
          </a:p>
          <a:p>
            <a:pPr algn="just">
              <a:lnSpc>
                <a:spcPts val="8251"/>
              </a:lnSpc>
            </a:pPr>
            <a:r>
              <a:rPr lang="en-US" sz="3700">
                <a:solidFill>
                  <a:srgbClr val="FFFFFF"/>
                </a:solidFill>
                <a:latin typeface="Press Start 2P"/>
                <a:ea typeface="Press Start 2P"/>
                <a:cs typeface="Press Start 2P"/>
                <a:sym typeface="Press Start 2P"/>
              </a:rPr>
              <a:t>NANCY ASHRAF</a:t>
            </a:r>
          </a:p>
        </p:txBody>
      </p:sp>
      <p:sp>
        <p:nvSpPr>
          <p:cNvPr name="TextBox 15" id="15"/>
          <p:cNvSpPr txBox="true"/>
          <p:nvPr/>
        </p:nvSpPr>
        <p:spPr>
          <a:xfrm rot="0">
            <a:off x="9331015" y="3593952"/>
            <a:ext cx="7048534" cy="1982902"/>
          </a:xfrm>
          <a:prstGeom prst="rect">
            <a:avLst/>
          </a:prstGeom>
        </p:spPr>
        <p:txBody>
          <a:bodyPr anchor="t" rtlCol="false" tIns="0" lIns="0" bIns="0" rIns="0">
            <a:spAutoFit/>
          </a:bodyPr>
          <a:lstStyle/>
          <a:p>
            <a:pPr algn="just">
              <a:lnSpc>
                <a:spcPts val="8251"/>
              </a:lnSpc>
            </a:pPr>
            <a:r>
              <a:rPr lang="en-US" sz="3700">
                <a:solidFill>
                  <a:srgbClr val="FFFFFF"/>
                </a:solidFill>
                <a:latin typeface="Press Start 2P"/>
                <a:ea typeface="Press Start 2P"/>
                <a:cs typeface="Press Start 2P"/>
                <a:sym typeface="Press Start 2P"/>
              </a:rPr>
              <a:t>EBRAAM ASHRAF</a:t>
            </a:r>
          </a:p>
          <a:p>
            <a:pPr algn="just">
              <a:lnSpc>
                <a:spcPts val="8251"/>
              </a:lnSpc>
            </a:pPr>
            <a:r>
              <a:rPr lang="en-US" sz="3700">
                <a:solidFill>
                  <a:srgbClr val="FFFFFF"/>
                </a:solidFill>
                <a:latin typeface="Press Start 2P"/>
                <a:ea typeface="Press Start 2P"/>
                <a:cs typeface="Press Start 2P"/>
                <a:sym typeface="Press Start 2P"/>
              </a:rPr>
              <a:t>MUHAMMED KHALED</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1A022B"/>
        </a:solidFill>
      </p:bgPr>
    </p:bg>
    <p:spTree>
      <p:nvGrpSpPr>
        <p:cNvPr id="1" name=""/>
        <p:cNvGrpSpPr/>
        <p:nvPr/>
      </p:nvGrpSpPr>
      <p:grpSpPr>
        <a:xfrm>
          <a:off x="0" y="0"/>
          <a:ext cx="0" cy="0"/>
          <a:chOff x="0" y="0"/>
          <a:chExt cx="0" cy="0"/>
        </a:xfrm>
      </p:grpSpPr>
      <p:sp>
        <p:nvSpPr>
          <p:cNvPr name="Freeform 2" id="2"/>
          <p:cNvSpPr/>
          <p:nvPr/>
        </p:nvSpPr>
        <p:spPr>
          <a:xfrm flipH="false" flipV="false" rot="0">
            <a:off x="15433945" y="6887762"/>
            <a:ext cx="2012410" cy="2610438"/>
          </a:xfrm>
          <a:custGeom>
            <a:avLst/>
            <a:gdLst/>
            <a:ahLst/>
            <a:cxnLst/>
            <a:rect r="r" b="b" t="t" l="l"/>
            <a:pathLst>
              <a:path h="2610438" w="2012410">
                <a:moveTo>
                  <a:pt x="0" y="0"/>
                </a:moveTo>
                <a:lnTo>
                  <a:pt x="2012410" y="0"/>
                </a:lnTo>
                <a:lnTo>
                  <a:pt x="2012410" y="2610438"/>
                </a:lnTo>
                <a:lnTo>
                  <a:pt x="0" y="26104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841645" y="6887762"/>
            <a:ext cx="2012410" cy="2610438"/>
          </a:xfrm>
          <a:custGeom>
            <a:avLst/>
            <a:gdLst/>
            <a:ahLst/>
            <a:cxnLst/>
            <a:rect r="r" b="b" t="t" l="l"/>
            <a:pathLst>
              <a:path h="2610438" w="2012410">
                <a:moveTo>
                  <a:pt x="2012410" y="0"/>
                </a:moveTo>
                <a:lnTo>
                  <a:pt x="0" y="0"/>
                </a:lnTo>
                <a:lnTo>
                  <a:pt x="0" y="2610438"/>
                </a:lnTo>
                <a:lnTo>
                  <a:pt x="2012410" y="2610438"/>
                </a:lnTo>
                <a:lnTo>
                  <a:pt x="201241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3667125" y="2028167"/>
            <a:ext cx="10953750" cy="4581525"/>
          </a:xfrm>
          <a:prstGeom prst="rect">
            <a:avLst/>
          </a:prstGeom>
        </p:spPr>
        <p:txBody>
          <a:bodyPr anchor="t" rtlCol="false" tIns="0" lIns="0" bIns="0" rIns="0">
            <a:spAutoFit/>
          </a:bodyPr>
          <a:lstStyle/>
          <a:p>
            <a:pPr algn="ctr">
              <a:lnSpc>
                <a:spcPts val="18000"/>
              </a:lnSpc>
            </a:pPr>
            <a:r>
              <a:rPr lang="en-US" sz="15000">
                <a:solidFill>
                  <a:srgbClr val="FFFFFF"/>
                </a:solidFill>
                <a:latin typeface="Press Start 2P"/>
                <a:ea typeface="Press Start 2P"/>
                <a:cs typeface="Press Start 2P"/>
                <a:sym typeface="Press Start 2P"/>
              </a:rPr>
              <a:t>THANKYOU</a:t>
            </a:r>
          </a:p>
        </p:txBody>
      </p:sp>
      <p:sp>
        <p:nvSpPr>
          <p:cNvPr name="Freeform 5" id="5"/>
          <p:cNvSpPr/>
          <p:nvPr/>
        </p:nvSpPr>
        <p:spPr>
          <a:xfrm flipH="false" flipV="false" rot="0">
            <a:off x="13570600" y="8634285"/>
            <a:ext cx="1863345" cy="863914"/>
          </a:xfrm>
          <a:custGeom>
            <a:avLst/>
            <a:gdLst/>
            <a:ahLst/>
            <a:cxnLst/>
            <a:rect r="r" b="b" t="t" l="l"/>
            <a:pathLst>
              <a:path h="863914" w="1863345">
                <a:moveTo>
                  <a:pt x="0" y="0"/>
                </a:moveTo>
                <a:lnTo>
                  <a:pt x="1863345" y="0"/>
                </a:lnTo>
                <a:lnTo>
                  <a:pt x="1863345" y="863915"/>
                </a:lnTo>
                <a:lnTo>
                  <a:pt x="0" y="8639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false" rot="0">
            <a:off x="2854055" y="8634285"/>
            <a:ext cx="1863345" cy="863914"/>
          </a:xfrm>
          <a:custGeom>
            <a:avLst/>
            <a:gdLst/>
            <a:ahLst/>
            <a:cxnLst/>
            <a:rect r="r" b="b" t="t" l="l"/>
            <a:pathLst>
              <a:path h="863914" w="1863345">
                <a:moveTo>
                  <a:pt x="1863345" y="0"/>
                </a:moveTo>
                <a:lnTo>
                  <a:pt x="0" y="0"/>
                </a:lnTo>
                <a:lnTo>
                  <a:pt x="0" y="863915"/>
                </a:lnTo>
                <a:lnTo>
                  <a:pt x="1863345" y="863915"/>
                </a:lnTo>
                <a:lnTo>
                  <a:pt x="1863345"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5283697" y="7077534"/>
            <a:ext cx="7315200" cy="2420666"/>
          </a:xfrm>
          <a:custGeom>
            <a:avLst/>
            <a:gdLst/>
            <a:ahLst/>
            <a:cxnLst/>
            <a:rect r="r" b="b" t="t" l="l"/>
            <a:pathLst>
              <a:path h="2420666" w="7315200">
                <a:moveTo>
                  <a:pt x="0" y="0"/>
                </a:moveTo>
                <a:lnTo>
                  <a:pt x="7315200" y="0"/>
                </a:lnTo>
                <a:lnTo>
                  <a:pt x="7315200" y="2420666"/>
                </a:lnTo>
                <a:lnTo>
                  <a:pt x="0" y="24206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809750" y="9258300"/>
            <a:ext cx="7315200" cy="1103930"/>
          </a:xfrm>
          <a:custGeom>
            <a:avLst/>
            <a:gdLst/>
            <a:ahLst/>
            <a:cxnLst/>
            <a:rect r="r" b="b" t="t" l="l"/>
            <a:pathLst>
              <a:path h="1103930" w="7315200">
                <a:moveTo>
                  <a:pt x="0" y="0"/>
                </a:moveTo>
                <a:lnTo>
                  <a:pt x="7315200" y="0"/>
                </a:lnTo>
                <a:lnTo>
                  <a:pt x="7315200" y="1103930"/>
                </a:lnTo>
                <a:lnTo>
                  <a:pt x="0" y="110393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5486400" y="9258300"/>
            <a:ext cx="7315200" cy="1103930"/>
          </a:xfrm>
          <a:custGeom>
            <a:avLst/>
            <a:gdLst/>
            <a:ahLst/>
            <a:cxnLst/>
            <a:rect r="r" b="b" t="t" l="l"/>
            <a:pathLst>
              <a:path h="1103930" w="7315200">
                <a:moveTo>
                  <a:pt x="0" y="0"/>
                </a:moveTo>
                <a:lnTo>
                  <a:pt x="7315200" y="0"/>
                </a:lnTo>
                <a:lnTo>
                  <a:pt x="7315200" y="1103930"/>
                </a:lnTo>
                <a:lnTo>
                  <a:pt x="0" y="110393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2782550" y="9258300"/>
            <a:ext cx="7315200" cy="1103930"/>
          </a:xfrm>
          <a:custGeom>
            <a:avLst/>
            <a:gdLst/>
            <a:ahLst/>
            <a:cxnLst/>
            <a:rect r="r" b="b" t="t" l="l"/>
            <a:pathLst>
              <a:path h="1103930" w="7315200">
                <a:moveTo>
                  <a:pt x="0" y="0"/>
                </a:moveTo>
                <a:lnTo>
                  <a:pt x="7315200" y="0"/>
                </a:lnTo>
                <a:lnTo>
                  <a:pt x="7315200" y="1103930"/>
                </a:lnTo>
                <a:lnTo>
                  <a:pt x="0" y="110393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1030907" y="4760149"/>
            <a:ext cx="2359993" cy="823852"/>
          </a:xfrm>
          <a:custGeom>
            <a:avLst/>
            <a:gdLst/>
            <a:ahLst/>
            <a:cxnLst/>
            <a:rect r="r" b="b" t="t" l="l"/>
            <a:pathLst>
              <a:path h="823852" w="2359993">
                <a:moveTo>
                  <a:pt x="0" y="0"/>
                </a:moveTo>
                <a:lnTo>
                  <a:pt x="2359993" y="0"/>
                </a:lnTo>
                <a:lnTo>
                  <a:pt x="2359993" y="823852"/>
                </a:lnTo>
                <a:lnTo>
                  <a:pt x="0" y="82385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true" flipV="false" rot="0">
            <a:off x="14899307" y="4760149"/>
            <a:ext cx="2359993" cy="823852"/>
          </a:xfrm>
          <a:custGeom>
            <a:avLst/>
            <a:gdLst/>
            <a:ahLst/>
            <a:cxnLst/>
            <a:rect r="r" b="b" t="t" l="l"/>
            <a:pathLst>
              <a:path h="823852" w="2359993">
                <a:moveTo>
                  <a:pt x="2359993" y="0"/>
                </a:moveTo>
                <a:lnTo>
                  <a:pt x="0" y="0"/>
                </a:lnTo>
                <a:lnTo>
                  <a:pt x="0" y="823852"/>
                </a:lnTo>
                <a:lnTo>
                  <a:pt x="2359993" y="823852"/>
                </a:lnTo>
                <a:lnTo>
                  <a:pt x="2359993"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1190212" y="764718"/>
            <a:ext cx="4669492" cy="832019"/>
          </a:xfrm>
          <a:custGeom>
            <a:avLst/>
            <a:gdLst/>
            <a:ahLst/>
            <a:cxnLst/>
            <a:rect r="r" b="b" t="t" l="l"/>
            <a:pathLst>
              <a:path h="832019" w="4669492">
                <a:moveTo>
                  <a:pt x="0" y="0"/>
                </a:moveTo>
                <a:lnTo>
                  <a:pt x="4669491" y="0"/>
                </a:lnTo>
                <a:lnTo>
                  <a:pt x="4669491" y="832018"/>
                </a:lnTo>
                <a:lnTo>
                  <a:pt x="0" y="83201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true" flipV="false" rot="0">
            <a:off x="14808721" y="764718"/>
            <a:ext cx="4669492" cy="832019"/>
          </a:xfrm>
          <a:custGeom>
            <a:avLst/>
            <a:gdLst/>
            <a:ahLst/>
            <a:cxnLst/>
            <a:rect r="r" b="b" t="t" l="l"/>
            <a:pathLst>
              <a:path h="832019" w="4669492">
                <a:moveTo>
                  <a:pt x="4669491" y="0"/>
                </a:moveTo>
                <a:lnTo>
                  <a:pt x="0" y="0"/>
                </a:lnTo>
                <a:lnTo>
                  <a:pt x="0" y="832018"/>
                </a:lnTo>
                <a:lnTo>
                  <a:pt x="4669491" y="832018"/>
                </a:lnTo>
                <a:lnTo>
                  <a:pt x="4669491"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5" id="15"/>
          <p:cNvSpPr/>
          <p:nvPr/>
        </p:nvSpPr>
        <p:spPr>
          <a:xfrm flipH="false" flipV="false" rot="0">
            <a:off x="4653333" y="4798249"/>
            <a:ext cx="1126068" cy="1126068"/>
          </a:xfrm>
          <a:custGeom>
            <a:avLst/>
            <a:gdLst/>
            <a:ahLst/>
            <a:cxnLst/>
            <a:rect r="r" b="b" t="t" l="l"/>
            <a:pathLst>
              <a:path h="1126068" w="1126068">
                <a:moveTo>
                  <a:pt x="0" y="0"/>
                </a:moveTo>
                <a:lnTo>
                  <a:pt x="1126068" y="0"/>
                </a:lnTo>
                <a:lnTo>
                  <a:pt x="1126068" y="1126068"/>
                </a:lnTo>
                <a:lnTo>
                  <a:pt x="0" y="1126068"/>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6" id="16"/>
          <p:cNvSpPr/>
          <p:nvPr/>
        </p:nvSpPr>
        <p:spPr>
          <a:xfrm flipH="true" flipV="false" rot="0">
            <a:off x="12508599" y="4798249"/>
            <a:ext cx="1126068" cy="1126068"/>
          </a:xfrm>
          <a:custGeom>
            <a:avLst/>
            <a:gdLst/>
            <a:ahLst/>
            <a:cxnLst/>
            <a:rect r="r" b="b" t="t" l="l"/>
            <a:pathLst>
              <a:path h="1126068" w="1126068">
                <a:moveTo>
                  <a:pt x="1126068" y="0"/>
                </a:moveTo>
                <a:lnTo>
                  <a:pt x="0" y="0"/>
                </a:lnTo>
                <a:lnTo>
                  <a:pt x="0" y="1126068"/>
                </a:lnTo>
                <a:lnTo>
                  <a:pt x="1126068" y="1126068"/>
                </a:lnTo>
                <a:lnTo>
                  <a:pt x="1126068"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7" id="17"/>
          <p:cNvSpPr/>
          <p:nvPr/>
        </p:nvSpPr>
        <p:spPr>
          <a:xfrm flipH="false" flipV="false" rot="0">
            <a:off x="7537754" y="1012647"/>
            <a:ext cx="3212493" cy="584090"/>
          </a:xfrm>
          <a:custGeom>
            <a:avLst/>
            <a:gdLst/>
            <a:ahLst/>
            <a:cxnLst/>
            <a:rect r="r" b="b" t="t" l="l"/>
            <a:pathLst>
              <a:path h="584090" w="3212493">
                <a:moveTo>
                  <a:pt x="0" y="0"/>
                </a:moveTo>
                <a:lnTo>
                  <a:pt x="3212492" y="0"/>
                </a:lnTo>
                <a:lnTo>
                  <a:pt x="3212492" y="584089"/>
                </a:lnTo>
                <a:lnTo>
                  <a:pt x="0" y="58408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DAG8XCQgXxo</dc:identifier>
  <dcterms:modified xsi:type="dcterms:W3CDTF">2011-08-01T06:04:30Z</dcterms:modified>
  <cp:revision>1</cp:revision>
  <dc:title>Purple Green Pixel Illustration Game Presentation</dc:title>
</cp:coreProperties>
</file>